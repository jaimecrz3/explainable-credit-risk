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66" r:id="rId18"/>
    <p:sldId id="257" r:id="rId9"/>
    <p:sldId id="258" r:id="rId10"/>
    <p:sldId id="273" r:id="rId16"/>
    <p:sldId id="276" r:id="rId13"/>
    <p:sldId id="267" r:id="rId19"/>
    <p:sldId id="268" r:id="rId20"/>
    <p:sldId id="274" r:id="rId15"/>
    <p:sldId id="269" r:id="rId21"/>
    <p:sldId id="270" r:id="rId22"/>
    <p:sldId id="275" r:id="rId14"/>
    <p:sldId id="271" r:id="rId23"/>
    <p:sldId id="272" r:id="rId24"/>
    <p:sldId id="265" r:id="rId1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3.xml"/><Relationship Id="rId10" Type="http://schemas.openxmlformats.org/officeDocument/2006/relationships/slide" Target="slides/slide4.xml"/><Relationship Id="rId13" Type="http://schemas.openxmlformats.org/officeDocument/2006/relationships/slide" Target="slides/slide6.xml"/><Relationship Id="rId14" Type="http://schemas.openxmlformats.org/officeDocument/2006/relationships/slide" Target="slides/slide12.xml"/><Relationship Id="rId15" Type="http://schemas.openxmlformats.org/officeDocument/2006/relationships/slide" Target="slides/slide9.xml"/><Relationship Id="rId16" Type="http://schemas.openxmlformats.org/officeDocument/2006/relationships/slide" Target="slides/slide5.xml"/><Relationship Id="rId17" Type="http://schemas.openxmlformats.org/officeDocument/2006/relationships/slide" Target="slides/slide15.xml"/><Relationship Id="rId18" Type="http://schemas.openxmlformats.org/officeDocument/2006/relationships/slide" Target="slides/slide2.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10.xml"/><Relationship Id="rId22" Type="http://schemas.openxmlformats.org/officeDocument/2006/relationships/slide" Target="slides/slide11.xml"/><Relationship Id="rId23" Type="http://schemas.openxmlformats.org/officeDocument/2006/relationships/slide" Target="slides/slide13.xml"/><Relationship Id="rId24"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stacked"/>
        <c:ser>
          <c:idx val="0"/>
          <c:order val="0"/>
          <c:tx>
            <c:strRef>
              <c:f>Sheet1!$B$1</c:f>
              <c:strCache>
                <c:ptCount val="1"/>
                <c:pt idx="0">
                  <c:v>Late, September (PAY_0)</c:v>
                </c:pt>
              </c:strCache>
            </c:strRef>
          </c:tx>
          <c:spPr>
            <a:solidFill>
              <a:srgbClr val="24586B"/>
            </a:solidFill>
          </c:spPr>
          <c:cat>
            <c:strRef>
              <c:f>Sheet1!$A$2:$A$3</c:f>
              <c:strCache>
                <c:ptCount val="2"/>
                <c:pt idx="0">
                  <c:v>Original model</c:v>
                </c:pt>
                <c:pt idx="1">
                  <c:v>With a copy of PAY_0</c:v>
                </c:pt>
              </c:strCache>
            </c:strRef>
          </c:cat>
          <c:val>
            <c:numRef>
              <c:f>Sheet1!$B$2:$B$3</c:f>
              <c:numCache>
                <c:formatCode>General</c:formatCode>
                <c:ptCount val="2"/>
                <c:pt idx="0">
                  <c:v>1.6449</c:v>
                </c:pt>
                <c:pt idx="1">
                  <c:v>1.261</c:v>
                </c:pt>
              </c:numCache>
            </c:numRef>
          </c:val>
        </c:ser>
        <c:ser>
          <c:idx val="1"/>
          <c:order val="1"/>
          <c:tx>
            <c:strRef>
              <c:f>Sheet1!$C$1</c:f>
              <c:strCache>
                <c:ptCount val="1"/>
                <c:pt idx="0">
                  <c:v>Its exact copy</c:v>
                </c:pt>
              </c:strCache>
            </c:strRef>
          </c:tx>
          <c:spPr>
            <a:solidFill>
              <a:srgbClr val="8DB2BF"/>
            </a:solidFill>
          </c:spPr>
          <c:cat>
            <c:strRef>
              <c:f>Sheet1!$A$2:$A$3</c:f>
              <c:strCache>
                <c:ptCount val="2"/>
                <c:pt idx="0">
                  <c:v>Original model</c:v>
                </c:pt>
                <c:pt idx="1">
                  <c:v>With a copy of PAY_0</c:v>
                </c:pt>
              </c:strCache>
            </c:strRef>
          </c:cat>
          <c:val>
            <c:numRef>
              <c:f>Sheet1!$C$2:$C$3</c:f>
              <c:numCache>
                <c:formatCode>General</c:formatCode>
                <c:ptCount val="2"/>
                <c:pt idx="1">
                  <c:v>0.437</c:v>
                </c:pt>
              </c:numCache>
            </c:numRef>
          </c:val>
        </c:ser>
        <c:dLbls>
          <c:numFmt formatCode="+0.00" sourceLinked="0"/>
          <c:txPr>
            <a:bodyPr/>
            <a:lstStyle/>
            <a:p>
              <a:pPr>
                <a:defRPr sz="1400">
                  <a:solidFill>
                    <a:srgbClr val="FFFFFF"/>
                  </a:solidFill>
                </a:defRPr>
              </a:pPr>
            </a:p>
          </c:txPr>
          <c:dLblPos val="ctr"/>
          <c:showLegendKey val="0"/>
          <c:showVal val="1"/>
          <c:showCatName val="0"/>
          <c:showSerName val="0"/>
          <c:showPercent val="0"/>
          <c:showBubbleSize val="0"/>
          <c:showLeaderLines val="1"/>
        </c:dLbls>
        <c:gapWidth val="50"/>
        <c:overlap val="100"/>
        <c:axId val="-2068027336"/>
        <c:axId val="-2113994440"/>
      </c:barChart>
      <c:catAx>
        <c:axId val="-2068027336"/>
        <c:scaling>
          <c:orientation val="maxMin"/>
        </c:scaling>
        <c:delete val="0"/>
        <c:axPos val="l"/>
        <c:majorTickMark val="out"/>
        <c:minorTickMark val="none"/>
        <c:tickLblPos val="nextTo"/>
        <c:spPr>
          <a:ln>
            <a:solidFill>
              <a:srgbClr val="DDE2E5"/>
            </a:solidFill>
          </a:ln>
        </c:spPr>
        <c:txPr>
          <a:bodyPr/>
          <a:lstStyle/>
          <a:p>
            <a:pPr>
              <a:defRPr sz="1500"/>
            </a:pPr>
          </a:p>
        </c:txPr>
        <c:crossAx val="-2113994440"/>
        <c:crosses val="autoZero"/>
        <c:auto val="1"/>
        <c:lblAlgn val="ctr"/>
        <c:lblOffset val="100"/>
        <c:noMultiLvlLbl val="0"/>
      </c:catAx>
      <c:valAx>
        <c:axId val="-2113994440"/>
        <c:scaling>
          <c:max val="2.0"/>
          <c:min val="0.0"/>
        </c:scaling>
        <c:delete/>
        <c:axPos val="b"/>
        <c:majorTickMark val="out"/>
        <c:minorTickMark val="none"/>
        <c:tickLblPos val="nextTo"/>
        <c:crossAx val="-2068027336"/>
        <c:crosses val="autoZero"/>
      </c:valAx>
    </c:plotArea>
    <c:legend>
      <c:legendPos val="t"/>
      <c:overlay val="0"/>
      <c:txPr>
        <a:bodyPr/>
        <a:lstStyle/>
        <a:p>
          <a:pPr>
            <a:defRPr sz="1500"/>
          </a:pPr>
        </a:p>
      </c:txPr>
    </c:legend>
    <c:dispBlanksAs val="gap"/>
  </c:chart>
  <c:txPr>
    <a:bodyPr/>
    <a:lstStyle/>
    <a:p>
      <a:pPr>
        <a:defRPr sz="1500">
          <a:solidFill>
            <a:srgbClr val="20262D"/>
          </a:solidFill>
          <a:latin typeface="Aptos"/>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XGBoost</c:v>
                </c:pt>
              </c:strCache>
            </c:strRef>
          </c:tx>
          <c:spPr>
            <a:solidFill>
              <a:srgbClr val="8DB2BF"/>
            </a:solidFill>
          </c:spPr>
          <c:cat>
            <c:strRef>
              <c:f>Sheet1!$A$2:$A$6</c:f>
              <c:strCache>
                <c:ptCount val="5"/>
                <c:pt idx="0">
                  <c:v>Late, September</c:v>
                </c:pt>
                <c:pt idx="1">
                  <c:v>Late, August</c:v>
                </c:pt>
                <c:pt idx="2">
                  <c:v>Late, July</c:v>
                </c:pt>
                <c:pt idx="3">
                  <c:v>Late, June</c:v>
                </c:pt>
                <c:pt idx="4">
                  <c:v>Credit limit</c:v>
                </c:pt>
              </c:strCache>
            </c:strRef>
          </c:cat>
          <c:val>
            <c:numRef>
              <c:f>Sheet1!$B$2:$B$6</c:f>
              <c:numCache>
                <c:formatCode>General</c:formatCode>
                <c:ptCount val="5"/>
                <c:pt idx="0">
                  <c:v>100</c:v>
                </c:pt>
                <c:pt idx="1">
                  <c:v>100</c:v>
                </c:pt>
                <c:pt idx="2">
                  <c:v>100</c:v>
                </c:pt>
                <c:pt idx="3">
                  <c:v>95</c:v>
                </c:pt>
                <c:pt idx="4">
                  <c:v>5</c:v>
                </c:pt>
              </c:numCache>
            </c:numRef>
          </c:val>
        </c:ser>
        <c:ser>
          <c:idx val="1"/>
          <c:order val="1"/>
          <c:tx>
            <c:strRef>
              <c:f>Sheet1!$C$1</c:f>
              <c:strCache>
                <c:ptCount val="1"/>
                <c:pt idx="0">
                  <c:v>Neural network</c:v>
                </c:pt>
              </c:strCache>
            </c:strRef>
          </c:tx>
          <c:spPr>
            <a:solidFill>
              <a:srgbClr val="24586B"/>
            </a:solidFill>
          </c:spPr>
          <c:cat>
            <c:strRef>
              <c:f>Sheet1!$A$2:$A$6</c:f>
              <c:strCache>
                <c:ptCount val="5"/>
                <c:pt idx="0">
                  <c:v>Late, September</c:v>
                </c:pt>
                <c:pt idx="1">
                  <c:v>Late, August</c:v>
                </c:pt>
                <c:pt idx="2">
                  <c:v>Late, July</c:v>
                </c:pt>
                <c:pt idx="3">
                  <c:v>Late, June</c:v>
                </c:pt>
                <c:pt idx="4">
                  <c:v>Credit limit</c:v>
                </c:pt>
              </c:strCache>
            </c:strRef>
          </c:cat>
          <c:val>
            <c:numRef>
              <c:f>Sheet1!$C$2:$C$6</c:f>
              <c:numCache>
                <c:formatCode>General</c:formatCode>
                <c:ptCount val="5"/>
                <c:pt idx="0">
                  <c:v>100</c:v>
                </c:pt>
                <c:pt idx="1">
                  <c:v>60</c:v>
                </c:pt>
                <c:pt idx="2">
                  <c:v>100</c:v>
                </c:pt>
                <c:pt idx="3">
                  <c:v>100</c:v>
                </c:pt>
                <c:pt idx="4">
                  <c:v>40</c:v>
                </c:pt>
              </c:numCache>
            </c:numRef>
          </c:val>
        </c:ser>
        <c:dLbls>
          <c:numFmt formatCode="0&quot;%&quot;" sourceLinked="0"/>
          <c:txPr>
            <a:bodyPr/>
            <a:lstStyle/>
            <a:p>
              <a:pPr>
                <a:defRPr sz="1400">
                  <a:solidFill>
                    <a:srgbClr val="20262D"/>
                  </a:solidFill>
                </a:defRPr>
              </a:pPr>
            </a:p>
          </c:txPr>
          <c:dLblPos val="outEnd"/>
          <c:showLegendKey val="0"/>
          <c:showVal val="1"/>
          <c:showCatName val="0"/>
          <c:showSerName val="0"/>
          <c:showPercent val="0"/>
          <c:showBubbleSize val="0"/>
          <c:showLeaderLines val="1"/>
        </c:dLbls>
        <c:gapWidth val="60"/>
        <c:overlap val="-10"/>
        <c:axId val="-2068027336"/>
        <c:axId val="-2113994440"/>
      </c:barChart>
      <c:catAx>
        <c:axId val="-2068027336"/>
        <c:scaling>
          <c:orientation val="maxMin"/>
        </c:scaling>
        <c:delete val="0"/>
        <c:axPos val="l"/>
        <c:majorTickMark val="out"/>
        <c:minorTickMark val="none"/>
        <c:tickLblPos val="nextTo"/>
        <c:spPr>
          <a:ln>
            <a:solidFill>
              <a:srgbClr val="DDE2E5"/>
            </a:solidFill>
          </a:ln>
        </c:spPr>
        <c:txPr>
          <a:bodyPr/>
          <a:lstStyle/>
          <a:p>
            <a:pPr>
              <a:defRPr sz="1500"/>
            </a:pPr>
          </a:p>
        </c:txPr>
        <c:crossAx val="-2113994440"/>
        <c:crosses val="autoZero"/>
        <c:auto val="1"/>
        <c:lblAlgn val="ctr"/>
        <c:lblOffset val="100"/>
        <c:noMultiLvlLbl val="0"/>
      </c:catAx>
      <c:valAx>
        <c:axId val="-2113994440"/>
        <c:scaling>
          <c:max val="118.0"/>
          <c:min val="0.0"/>
        </c:scaling>
        <c:delete/>
        <c:axPos val="b"/>
        <c:majorTickMark val="out"/>
        <c:minorTickMark val="none"/>
        <c:tickLblPos val="nextTo"/>
        <c:crossAx val="-2068027336"/>
        <c:crosses val="autoZero"/>
      </c:valAx>
    </c:plotArea>
    <c:legend>
      <c:legendPos val="t"/>
      <c:overlay val="0"/>
      <c:txPr>
        <a:bodyPr/>
        <a:lstStyle/>
        <a:p>
          <a:pPr>
            <a:defRPr sz="1500"/>
          </a:pPr>
        </a:p>
      </c:txPr>
    </c:legend>
    <c:dispBlanksAs val="gap"/>
  </c:chart>
  <c:txPr>
    <a:bodyPr/>
    <a:lstStyle/>
    <a:p>
      <a:pPr>
        <a:defRPr sz="1500">
          <a:solidFill>
            <a:srgbClr val="20262D"/>
          </a:solidFill>
          <a:latin typeface="Aptos"/>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Imagine a credit analyst sees a high default-risk score. If the client asks why, repeating the score is not an answer. Explainability means tracing a prediction back to the inputs that drove it.</a:t>
            </a:r>
          </a:p>
          <a:p/>
          <a:p>
            <a:r>
              <a:t>Three groups need that. In the US, a declined client must get the specific reasons, even when the model is complex. In Canada, OSFI now asks model reviewers to assess how explainable a model is, AI included. And the EU AI Act treats credit scoring as high-risk.</a:t>
            </a:r>
          </a:p>
          <a:p/>
          <a:p>
            <a:r>
              <a:t>Source note — not spoken: US Regulation B, 12 CFR 1002.9(b)(2): the statement of reasons for adverse action must be specific and indicate the principal reason(s); CFPB Circular 2022-03 applies this to credit decisions based on complex algorithms (consumerfinance.gov). OSFI Guideline E-23 (2027), effective 1 May 2027: model definition includes AI/ML; model review scope includes evaluating the level of explainability of model workings, including AI/ML models (osfi-bsif.gc.ca). EU AI Act, Regulation (EU) 2024/1689, Annex III point 5(b): creditworthiness assessment and credit scoring of natural persons is high-risk; the AI Omnibus (in force 27 July 2026) defers Annex III obligations to 2 December 2027. Transparency (Art. 13) and human oversight (Art. 14) apply to high-risk systems. No claim is made that these rules apply to our models or data; they motivate why explanations matter.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Logistic regression is our transparent starting point: the model is its own explanation. PAY_0, the latest repayment status, has a coefficient of 0.661. A one-standard-deviation increase multiplies the odds of default by about 1.94, holding other inputs fixed. That fits intuition.</a:t>
            </a:r>
          </a:p>
          <a:p/>
          <a:p>
            <a:r>
              <a:t>But the largest coefficients belong to rare, undocumented education and marriage categories, and the monthly bills are highly correlated. Even in a transparent model, an easy-to-read number is not always an easy-to-trust explanation.</a:t>
            </a:r>
          </a:p>
          <a:p/>
          <a:p>
            <a:r>
              <a:t>Source note — not spoken: 01_logistic_regression.ipynb cell 39, saved coefficient/exp(coefficient) table: PAY_0 0.661/1.937; PAY_AMT1 -0.200/0.819; BILL_AMT1 -0.321/0.726; EDUCATION_5 -1.040/0.353; MARRIAGE_0 -0.995/0.370. Cell 43 bill correlations: 0.80–0.95 off-diagonal. The editable table transcribes selected original rows. Numeric and binary coefficients have different scales. Category exponentials are not odds ratios against an absent reference category. These associations are not causal.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one test applicant, we followed the calculation all the way: inputs times coefficients, plus the intercept, gives 0.9927, exactly the model’s output. The latest repayment status alone adds 4.717 to the log-odds, while some inputs pull the score down.</a:t>
            </a:r>
          </a:p>
          <a:p/>
          <a:p>
            <a:r>
              <a:t>That is a real advantage, with limits: this is an unusually risky case, and a contribution is not a cause. Now suppose the model is hundreds of interacting trees. What can we still explain?</a:t>
            </a:r>
          </a:p>
          <a:p/>
          <a:p>
            <a:r>
              <a:t>Source note — not spoken: 01_logistic_regression.ipynb cells 46, 48–49. Full original calculation: index 4387, probability 0.9927. Recorded local terms: PAY_0 4.717; PAY_2 0.548; PAY_3 0.488; SEX_1 -0.438; EDUCATION_2 0.288; PAY_4 0.275; BILL_AMT1 -0.269. The slide redraws these seven saved terms for readability; it is a selection, not the complete sum used to reconstruct probability. Original full local plot remains in cell 49. This intrinsic decomposition is not SHAP and uses a different case from the network. Prior verification reproduced the logistic outputs at recorded precision.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SHAP measures how much each input pushed one prediction up or down. It comes from game theory. Think of a group project that gets a grade. To split the credit fairly, you average what each teammate added over every order in which they could have joined. That’s the Shapley value. Here the features are the teammates and the risk is the grade. The key property: the pieces always add up exactly to the prediction.</a:t>
            </a:r>
          </a:p>
          <a:p/>
          <a:p>
            <a:r>
              <a:t>Applied to our case: client 24155 has a limit of 110,000 and was two months late on each of the last four bills. XGBoost gives a 70% chance of default, so the client is declined, and they did default. The average client starts at 17%. Being late in September alone takes the score to 52%. The earlier late months add the rest.</a:t>
            </a:r>
          </a:p>
          <a:p/>
          <a:p>
            <a:r>
              <a:t>Source note — not spoken: Concept slide from XAI_in_Finance_v4.pptx slide 4, restyled. The waterfall is the updated 05_xgboost_explainability.ipynb cell 6 (TreeSHAP, interventional, 100 background clients): base value −1.569 log-odds (17.2%); −1.569 + 1.645 = 0.076 (51.9%); f(x) = 0.847 (70.0%). The v4 waterfall and its 22% → 58% came from the earlier XGBoost run.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counterfactual is the smallest change that would flip the decision. It answers the client’s own question: what do I need to do? We used DiCE, which searches for changes until the risk drops below the 50% cut-off. On the picture, rewriting past payments would flip the decision, but it’s impossible. So we tell DiCE what the client can actually change.</a:t>
            </a:r>
          </a:p>
          <a:p/>
          <a:p>
            <a:r>
              <a:t>For client 24155 on XGBoost, getting current on September’s payment drops the risk from 70% to 30%. Paying on time plus about 35,000 gives 25%. Without limits, DiCE suggests becoming 29 years older: valid for the model, useless as advice.</a:t>
            </a:r>
          </a:p>
          <a:p/>
          <a:p>
            <a:r>
              <a:t>Source note — not spoken: Concept slide from XAI_in_Finance_v4.pptx slide 6, restyled; the picture is an illustration. Figures updated to 05_xgboost_explainability.ipynb: cell 25 (get current 0.296), cell 23 (PAY_0 → −1, PAY_AMT1 → 35,355: 0.246), cell 20 (AGE 29 → 58 with BILL_AMT1 → −145,764: 0.412). The v4 figures (24% for paying NT$41k, 43% for 8 months late in April, 69% after retraining) are not in the updated notebook.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LIME explains one prediction with a simple model that copies the black box only around that client. Four steps. It creates about 5,000 fake look-alikes by tweaking the client’s inputs. It asks the model to score each one. Closer look-alikes count more. Then it fits a straight line through them, and that line’s weights are the explanation. On the picture, the dashed line is that straight-line copy, valid only near the star.</a:t>
            </a:r>
          </a:p>
          <a:p/>
          <a:p>
            <a:r>
              <a:t>Its advantage: it only needs predictions, so it works on any model. Two catches: the sampling is random, and many fake clients are combinations no real customer would have.</a:t>
            </a:r>
          </a:p>
          <a:p/>
          <a:p>
            <a:r>
              <a:t>Source note — not spoken: Concept slide from XAI_in_Finance_v4.pptx slide 5, restyled; the picture is an illustration, not model output.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these are three different questions, not three versions of one answer. SHAP: how much did each input push this score? LIME: what simple rule copies the model here? Counterfactuals: what is the smallest change that flips the decision? In practice, SHAP fits decline reasons and model validation, counterfactuals fit advice to clients, and LIME fits quick exploration. Let's start with SHAP.</a:t>
            </a:r>
          </a:p>
          <a:p/>
          <a:p>
            <a:r>
              <a:t>Source note — not spoken: Table from XAI_in_Finance_v4.pptx slide 7, restyled to this deck.</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 not spoken: Summary of slides 3–10; figures as cited there.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 not spoken: Structure of slides 3–11. Opacity here means how much an explanation tool can see inside the model: logistic regression is read directly, TreeSHAP uses XGBoost's trees, and the network can only be probed through its inputs and outputs. Data: UCI Default of Credit Card Clients (Yeh &amp; Lien, 2009), 30,000 clients, 23 predictors, stratified 80/20 split, seed 42. The glass-box slides use test applicant 4387; the tool slides use client 24155.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 not spoken: XGBoost from 05_xgboost_explainability.ipynb cells 4 and 6: TreeSHAP, interventional, 100 background clients, additivity checked, P = 0.700, test AUC 0.7805. Network from NN_explainability.ipynb cells 28 and 42: Kernel SHAP, 100 background clients, logit link, P = 0.585, test AUC 0.771; five re-runs kept the same top 4, no value moved more than 0.015. The network's Late, August value is outside its top 10 (|SHAP| &lt; 0.022).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 not spoken: 05_xgboost_explainability.ipynb cell 10. Test AUC 0.78 with and without the copy; PAY_0 SHAP 1.645 → 1.261, the copy 0.437. −23% = 1.261 / 1.645 − 1. Monthly bill correlations of 0.80–0.95 are recorded in 01_logistic_regression.ipynb cell 43.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 not spoken: 05_xgboost_explainability.ipynb cell 13: LIME, 5,000 samples, seed 42; local prediction 0.36 vs XGBoost 0.70; R² = 0.29 (LIME's score). The four-step description follows the LIME procedure (Ribeiro et al., 2016). The network notebook did not record LIME fit quality.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 not spoken: XGBoost from 05_xgboost_explainability.ipynb cells 15 and 17 (mean pairwise top-4 agreement 3.90 of 4 over 20 seeds; SHAP–LIME top-4 overlap 4/4). Network from NN_explainability.ipynb cells 39 and 42 (3.49 of 4; SHAP–LIME 3/4; mean LIME weights PAY_2 0.029, LIMIT_BAL 0.026). 5,000 samples per run, top 4 by absolute weight.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 not spoken: XGBoost from 05_xgboost_explainability.ipynb cells 20 and 23 (DiCE random method, seed 42; probabilities 0.412, 0.417, 0.246). Network from NN_explainability.ipynb cells 45 and 47 (PAY_AMT4 134,508: 0.49; PAY_AMT2 791,971 + PAY_AMT4 291,999: 0.42; PAY_0 2 → 1: 0.39). Only network rows whose re-scored probability matches the displayed change are shown. Constrained search: PAY_0 and BILL_AMT1 may only fall, PAY_AMT1 may only rise (to the 99th percentile).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 not spoken: 05_xgboost_explainability.ipynb cells 25–26: what-ifs (0.296, 0.523, 0.736) and P(default) over September bills NT$0–2,000 in steps of 5; approved only for NT$320–525. Network what-ifs from NN_explainability.ipynb (get current 0.212; 8 months late in April 0.787). The group's earlier slide gave XGBoost 0.43 for the April change; the updated notebook gives 0.736.</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3" name="TextBox 2"/>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a:t>
            </a:r>
          </a:p>
        </p:txBody>
      </p:sp>
      <p:sp>
        <p:nvSpPr>
          <p:cNvPr id="4" name="TextBox 3"/>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01</a:t>
            </a:r>
          </a:p>
        </p:txBody>
      </p:sp>
      <p:sp>
        <p:nvSpPr>
          <p:cNvPr id="5" name="TextBox 4"/>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THE PROBLEM</a:t>
            </a:r>
          </a:p>
        </p:txBody>
      </p:sp>
      <p:sp>
        <p:nvSpPr>
          <p:cNvPr id="6" name="TextBox 5"/>
          <p:cNvSpPr txBox="1"/>
          <p:nvPr/>
        </p:nvSpPr>
        <p:spPr>
          <a:xfrm>
            <a:off x="640080" y="868680"/>
            <a:ext cx="10881360" cy="1371600"/>
          </a:xfrm>
          <a:prstGeom prst="rect">
            <a:avLst/>
          </a:prstGeom>
          <a:noFill/>
        </p:spPr>
        <p:txBody>
          <a:bodyPr wrap="square" lIns="0" rIns="0" tIns="0" bIns="0">
            <a:spAutoFit/>
          </a:bodyPr>
          <a:lstStyle/>
          <a:p>
            <a:pPr>
              <a:spcAft>
                <a:spcPts val="0"/>
              </a:spcAft>
              <a:defRPr sz="4300" b="1">
                <a:solidFill>
                  <a:srgbClr val="20262D"/>
                </a:solidFill>
                <a:latin typeface="Georgia"/>
              </a:defRPr>
            </a:pPr>
            <a:r>
              <a:rPr sz="4300" b="1">
                <a:solidFill>
                  <a:srgbClr val="20262D"/>
                </a:solidFill>
                <a:latin typeface="Georgia"/>
              </a:rPr>
              <a:t>The model flags risk.</a:t>
            </a:r>
          </a:p>
          <a:p>
            <a:pPr>
              <a:spcAft>
                <a:spcPts val="0"/>
              </a:spcAft>
              <a:defRPr sz="4300" b="1">
                <a:solidFill>
                  <a:srgbClr val="20262D"/>
                </a:solidFill>
                <a:latin typeface="Georgia"/>
              </a:defRPr>
            </a:pPr>
            <a:r>
              <a:rPr sz="4300" b="1">
                <a:solidFill>
                  <a:srgbClr val="20262D"/>
                </a:solidFill>
                <a:latin typeface="Georgia"/>
              </a:rPr>
              <a:t>Can we explain why?</a:t>
            </a:r>
          </a:p>
        </p:txBody>
      </p:sp>
      <p:sp>
        <p:nvSpPr>
          <p:cNvPr id="7" name="TextBox 6"/>
          <p:cNvSpPr txBox="1"/>
          <p:nvPr/>
        </p:nvSpPr>
        <p:spPr>
          <a:xfrm>
            <a:off x="685800" y="2423160"/>
            <a:ext cx="10515600" cy="640080"/>
          </a:xfrm>
          <a:prstGeom prst="rect">
            <a:avLst/>
          </a:prstGeom>
          <a:noFill/>
        </p:spPr>
        <p:txBody>
          <a:bodyPr wrap="square" lIns="0" rIns="0" tIns="0" bIns="0">
            <a:spAutoFit/>
          </a:bodyPr>
          <a:lstStyle/>
          <a:p>
            <a:pPr>
              <a:spcAft>
                <a:spcPts val="0"/>
              </a:spcAft>
              <a:defRPr sz="2200" b="0">
                <a:solidFill>
                  <a:srgbClr val="24586B"/>
                </a:solidFill>
                <a:latin typeface="Aptos"/>
              </a:defRPr>
            </a:pPr>
            <a:r>
              <a:rPr sz="2200" b="0">
                <a:solidFill>
                  <a:srgbClr val="24586B"/>
                </a:solidFill>
                <a:latin typeface="Aptos"/>
              </a:rPr>
              <a:t>Explainability means tracing a model’s prediction back to the inputs that drove it, in terms a person can check and challenge.</a:t>
            </a:r>
          </a:p>
        </p:txBody>
      </p:sp>
      <p:sp>
        <p:nvSpPr>
          <p:cNvPr id="8" name="Rectangle 7"/>
          <p:cNvSpPr/>
          <p:nvPr/>
        </p:nvSpPr>
        <p:spPr>
          <a:xfrm>
            <a:off x="685800" y="3383280"/>
            <a:ext cx="10789920" cy="10972"/>
          </a:xfrm>
          <a:prstGeom prst="rect">
            <a:avLst/>
          </a:prstGeom>
          <a:solidFill>
            <a:srgbClr val="DDE2E5"/>
          </a:solidFill>
          <a:ln>
            <a:noFill/>
          </a:ln>
          <a:effectLst/>
        </p:spPr>
        <p:txBody>
          <a:bodyPr rtlCol="0" anchor="ctr"/>
          <a:lstStyle/>
          <a:p>
            <a:pPr algn="ctr"/>
          </a:p>
        </p:txBody>
      </p:sp>
      <p:sp>
        <p:nvSpPr>
          <p:cNvPr id="9" name="TextBox 8"/>
          <p:cNvSpPr txBox="1"/>
          <p:nvPr/>
        </p:nvSpPr>
        <p:spPr>
          <a:xfrm>
            <a:off x="685800" y="3602736"/>
            <a:ext cx="10789920" cy="228600"/>
          </a:xfrm>
          <a:prstGeom prst="rect">
            <a:avLst/>
          </a:prstGeom>
          <a:noFill/>
        </p:spPr>
        <p:txBody>
          <a:bodyPr wrap="square" lIns="0" rIns="0" tIns="0" bIns="0">
            <a:spAutoFit/>
          </a:bodyPr>
          <a:lstStyle/>
          <a:p>
            <a:pPr>
              <a:spcAft>
                <a:spcPts val="0"/>
              </a:spcAft>
              <a:defRPr sz="1300" b="1">
                <a:solidFill>
                  <a:srgbClr val="5B6570"/>
                </a:solidFill>
                <a:latin typeface="Aptos"/>
              </a:defRPr>
            </a:pPr>
            <a:r>
              <a:rPr sz="1300" b="1">
                <a:solidFill>
                  <a:srgbClr val="5B6570"/>
                </a:solidFill>
                <a:latin typeface="Aptos"/>
              </a:rPr>
              <a:t>WHO NEEDS THE EXPLANATION</a:t>
            </a:r>
          </a:p>
        </p:txBody>
      </p:sp>
      <p:sp>
        <p:nvSpPr>
          <p:cNvPr id="10" name="TextBox 9"/>
          <p:cNvSpPr txBox="1"/>
          <p:nvPr/>
        </p:nvSpPr>
        <p:spPr>
          <a:xfrm>
            <a:off x="685800" y="4005072"/>
            <a:ext cx="3337560" cy="457200"/>
          </a:xfrm>
          <a:prstGeom prst="rect">
            <a:avLst/>
          </a:prstGeom>
          <a:noFill/>
        </p:spPr>
        <p:txBody>
          <a:bodyPr wrap="square" lIns="0" rIns="0" tIns="0" bIns="0">
            <a:spAutoFit/>
          </a:bodyPr>
          <a:lstStyle/>
          <a:p>
            <a:pPr>
              <a:spcAft>
                <a:spcPts val="0"/>
              </a:spcAft>
              <a:defRPr sz="2400" b="1">
                <a:solidFill>
                  <a:srgbClr val="20262D"/>
                </a:solidFill>
                <a:latin typeface="Georgia"/>
              </a:defRPr>
            </a:pPr>
            <a:r>
              <a:rPr sz="2400" b="1">
                <a:solidFill>
                  <a:srgbClr val="20262D"/>
                </a:solidFill>
                <a:latin typeface="Georgia"/>
              </a:rPr>
              <a:t>The client</a:t>
            </a:r>
          </a:p>
        </p:txBody>
      </p:sp>
      <p:sp>
        <p:nvSpPr>
          <p:cNvPr id="11" name="TextBox 10"/>
          <p:cNvSpPr txBox="1"/>
          <p:nvPr/>
        </p:nvSpPr>
        <p:spPr>
          <a:xfrm>
            <a:off x="685800" y="4535424"/>
            <a:ext cx="3337560" cy="1097280"/>
          </a:xfrm>
          <a:prstGeom prst="rect">
            <a:avLst/>
          </a:prstGeom>
          <a:noFill/>
        </p:spPr>
        <p:txBody>
          <a:bodyPr wrap="square" lIns="0" rIns="0" tIns="0" bIns="0">
            <a:spAutoFit/>
          </a:bodyPr>
          <a:lstStyle/>
          <a:p>
            <a:pPr>
              <a:spcAft>
                <a:spcPts val="0"/>
              </a:spcAft>
              <a:defRPr sz="1800" b="0">
                <a:solidFill>
                  <a:srgbClr val="5B6570"/>
                </a:solidFill>
                <a:latin typeface="Aptos"/>
              </a:defRPr>
            </a:pPr>
            <a:r>
              <a:rPr sz="1800" b="0">
                <a:solidFill>
                  <a:srgbClr val="5B6570"/>
                </a:solidFill>
                <a:latin typeface="Aptos"/>
              </a:rPr>
              <a:t>A declined applicant must be given the specific reasons, with no exception for complex models.</a:t>
            </a:r>
          </a:p>
        </p:txBody>
      </p:sp>
      <p:sp>
        <p:nvSpPr>
          <p:cNvPr id="12" name="TextBox 11"/>
          <p:cNvSpPr txBox="1"/>
          <p:nvPr/>
        </p:nvSpPr>
        <p:spPr>
          <a:xfrm>
            <a:off x="685800" y="5879592"/>
            <a:ext cx="3337560" cy="228600"/>
          </a:xfrm>
          <a:prstGeom prst="rect">
            <a:avLst/>
          </a:prstGeom>
          <a:noFill/>
        </p:spPr>
        <p:txBody>
          <a:bodyPr wrap="square" lIns="0" rIns="0" tIns="0" bIns="0">
            <a:spAutoFit/>
          </a:bodyPr>
          <a:lstStyle/>
          <a:p>
            <a:pPr>
              <a:spcAft>
                <a:spcPts val="0"/>
              </a:spcAft>
              <a:defRPr sz="1400" b="1">
                <a:solidFill>
                  <a:srgbClr val="24586B"/>
                </a:solidFill>
                <a:latin typeface="Aptos"/>
              </a:defRPr>
            </a:pPr>
            <a:r>
              <a:rPr sz="1400" b="1">
                <a:solidFill>
                  <a:srgbClr val="24586B"/>
                </a:solidFill>
                <a:latin typeface="Aptos"/>
              </a:rPr>
              <a:t>US · Regulation B</a:t>
            </a:r>
          </a:p>
        </p:txBody>
      </p:sp>
      <p:sp>
        <p:nvSpPr>
          <p:cNvPr id="13" name="TextBox 12"/>
          <p:cNvSpPr txBox="1"/>
          <p:nvPr/>
        </p:nvSpPr>
        <p:spPr>
          <a:xfrm>
            <a:off x="4434840" y="4005072"/>
            <a:ext cx="3337560" cy="457200"/>
          </a:xfrm>
          <a:prstGeom prst="rect">
            <a:avLst/>
          </a:prstGeom>
          <a:noFill/>
        </p:spPr>
        <p:txBody>
          <a:bodyPr wrap="square" lIns="0" rIns="0" tIns="0" bIns="0">
            <a:spAutoFit/>
          </a:bodyPr>
          <a:lstStyle/>
          <a:p>
            <a:pPr>
              <a:spcAft>
                <a:spcPts val="0"/>
              </a:spcAft>
              <a:defRPr sz="2400" b="1">
                <a:solidFill>
                  <a:srgbClr val="20262D"/>
                </a:solidFill>
                <a:latin typeface="Georgia"/>
              </a:defRPr>
            </a:pPr>
            <a:r>
              <a:rPr sz="2400" b="1">
                <a:solidFill>
                  <a:srgbClr val="20262D"/>
                </a:solidFill>
                <a:latin typeface="Georgia"/>
              </a:rPr>
              <a:t>The bank</a:t>
            </a:r>
          </a:p>
        </p:txBody>
      </p:sp>
      <p:sp>
        <p:nvSpPr>
          <p:cNvPr id="14" name="TextBox 13"/>
          <p:cNvSpPr txBox="1"/>
          <p:nvPr/>
        </p:nvSpPr>
        <p:spPr>
          <a:xfrm>
            <a:off x="4434840" y="4535424"/>
            <a:ext cx="3337560" cy="1097280"/>
          </a:xfrm>
          <a:prstGeom prst="rect">
            <a:avLst/>
          </a:prstGeom>
          <a:noFill/>
        </p:spPr>
        <p:txBody>
          <a:bodyPr wrap="square" lIns="0" rIns="0" tIns="0" bIns="0">
            <a:spAutoFit/>
          </a:bodyPr>
          <a:lstStyle/>
          <a:p>
            <a:pPr>
              <a:spcAft>
                <a:spcPts val="0"/>
              </a:spcAft>
              <a:defRPr sz="1800" b="0">
                <a:solidFill>
                  <a:srgbClr val="5B6570"/>
                </a:solidFill>
                <a:latin typeface="Aptos"/>
              </a:defRPr>
            </a:pPr>
            <a:r>
              <a:rPr sz="1800" b="0">
                <a:solidFill>
                  <a:srgbClr val="5B6570"/>
                </a:solidFill>
                <a:latin typeface="Aptos"/>
              </a:rPr>
              <a:t>Independent model review must assess how explainable each model is, AI and ML included.</a:t>
            </a:r>
          </a:p>
        </p:txBody>
      </p:sp>
      <p:sp>
        <p:nvSpPr>
          <p:cNvPr id="15" name="TextBox 14"/>
          <p:cNvSpPr txBox="1"/>
          <p:nvPr/>
        </p:nvSpPr>
        <p:spPr>
          <a:xfrm>
            <a:off x="4434840" y="5879592"/>
            <a:ext cx="3337560" cy="228600"/>
          </a:xfrm>
          <a:prstGeom prst="rect">
            <a:avLst/>
          </a:prstGeom>
          <a:noFill/>
        </p:spPr>
        <p:txBody>
          <a:bodyPr wrap="square" lIns="0" rIns="0" tIns="0" bIns="0">
            <a:spAutoFit/>
          </a:bodyPr>
          <a:lstStyle/>
          <a:p>
            <a:pPr>
              <a:spcAft>
                <a:spcPts val="0"/>
              </a:spcAft>
              <a:defRPr sz="1400" b="1">
                <a:solidFill>
                  <a:srgbClr val="24586B"/>
                </a:solidFill>
                <a:latin typeface="Aptos"/>
              </a:defRPr>
            </a:pPr>
            <a:r>
              <a:rPr sz="1400" b="1">
                <a:solidFill>
                  <a:srgbClr val="24586B"/>
                </a:solidFill>
                <a:latin typeface="Aptos"/>
              </a:rPr>
              <a:t>Canada · OSFI E-23, from May 2027</a:t>
            </a:r>
          </a:p>
        </p:txBody>
      </p:sp>
      <p:sp>
        <p:nvSpPr>
          <p:cNvPr id="16" name="TextBox 15"/>
          <p:cNvSpPr txBox="1"/>
          <p:nvPr/>
        </p:nvSpPr>
        <p:spPr>
          <a:xfrm>
            <a:off x="8183879" y="4005072"/>
            <a:ext cx="3337560" cy="457200"/>
          </a:xfrm>
          <a:prstGeom prst="rect">
            <a:avLst/>
          </a:prstGeom>
          <a:noFill/>
        </p:spPr>
        <p:txBody>
          <a:bodyPr wrap="square" lIns="0" rIns="0" tIns="0" bIns="0">
            <a:spAutoFit/>
          </a:bodyPr>
          <a:lstStyle/>
          <a:p>
            <a:pPr>
              <a:spcAft>
                <a:spcPts val="0"/>
              </a:spcAft>
              <a:defRPr sz="2400" b="1">
                <a:solidFill>
                  <a:srgbClr val="20262D"/>
                </a:solidFill>
                <a:latin typeface="Georgia"/>
              </a:defRPr>
            </a:pPr>
            <a:r>
              <a:rPr sz="2400" b="1">
                <a:solidFill>
                  <a:srgbClr val="20262D"/>
                </a:solidFill>
                <a:latin typeface="Georgia"/>
              </a:rPr>
              <a:t>The regulator</a:t>
            </a:r>
          </a:p>
        </p:txBody>
      </p:sp>
      <p:sp>
        <p:nvSpPr>
          <p:cNvPr id="17" name="TextBox 16"/>
          <p:cNvSpPr txBox="1"/>
          <p:nvPr/>
        </p:nvSpPr>
        <p:spPr>
          <a:xfrm>
            <a:off x="8183879" y="4535424"/>
            <a:ext cx="3337560" cy="1097280"/>
          </a:xfrm>
          <a:prstGeom prst="rect">
            <a:avLst/>
          </a:prstGeom>
          <a:noFill/>
        </p:spPr>
        <p:txBody>
          <a:bodyPr wrap="square" lIns="0" rIns="0" tIns="0" bIns="0">
            <a:spAutoFit/>
          </a:bodyPr>
          <a:lstStyle/>
          <a:p>
            <a:pPr>
              <a:spcAft>
                <a:spcPts val="0"/>
              </a:spcAft>
              <a:defRPr sz="1800" b="0">
                <a:solidFill>
                  <a:srgbClr val="5B6570"/>
                </a:solidFill>
                <a:latin typeface="Aptos"/>
              </a:defRPr>
            </a:pPr>
            <a:r>
              <a:rPr sz="1800" b="0">
                <a:solidFill>
                  <a:srgbClr val="5B6570"/>
                </a:solidFill>
                <a:latin typeface="Aptos"/>
              </a:rPr>
              <a:t>Credit scoring is a high-risk AI use: it needs transparency and human oversight.</a:t>
            </a:r>
          </a:p>
        </p:txBody>
      </p:sp>
      <p:sp>
        <p:nvSpPr>
          <p:cNvPr id="18" name="TextBox 17"/>
          <p:cNvSpPr txBox="1"/>
          <p:nvPr/>
        </p:nvSpPr>
        <p:spPr>
          <a:xfrm>
            <a:off x="8183879" y="5879592"/>
            <a:ext cx="3337560" cy="228600"/>
          </a:xfrm>
          <a:prstGeom prst="rect">
            <a:avLst/>
          </a:prstGeom>
          <a:noFill/>
        </p:spPr>
        <p:txBody>
          <a:bodyPr wrap="square" lIns="0" rIns="0" tIns="0" bIns="0">
            <a:spAutoFit/>
          </a:bodyPr>
          <a:lstStyle/>
          <a:p>
            <a:pPr>
              <a:spcAft>
                <a:spcPts val="0"/>
              </a:spcAft>
              <a:defRPr sz="1400" b="1">
                <a:solidFill>
                  <a:srgbClr val="24586B"/>
                </a:solidFill>
                <a:latin typeface="Aptos"/>
              </a:defRPr>
            </a:pPr>
            <a:r>
              <a:rPr sz="1400" b="1">
                <a:solidFill>
                  <a:srgbClr val="24586B"/>
                </a:solidFill>
                <a:latin typeface="Aptos"/>
              </a:rPr>
              <a:t>EU · AI Act, from Dec 2027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OUR APPROACH</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Three tools, tested as the model gets more opaque</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02</a:t>
            </a:r>
          </a:p>
        </p:txBody>
      </p:sp>
      <p:sp>
        <p:nvSpPr>
          <p:cNvPr id="6" name="TextBox 5"/>
          <p:cNvSpPr txBox="1"/>
          <p:nvPr/>
        </p:nvSpPr>
        <p:spPr>
          <a:xfrm>
            <a:off x="594360" y="1298448"/>
            <a:ext cx="10972800" cy="320040"/>
          </a:xfrm>
          <a:prstGeom prst="rect">
            <a:avLst/>
          </a:prstGeom>
          <a:noFill/>
        </p:spPr>
        <p:txBody>
          <a:bodyPr wrap="square" lIns="0" rIns="0" tIns="0" bIns="0">
            <a:spAutoFit/>
          </a:bodyPr>
          <a:lstStyle/>
          <a:p>
            <a:pPr>
              <a:spcAft>
                <a:spcPts val="0"/>
              </a:spcAft>
              <a:defRPr sz="1700" b="0">
                <a:solidFill>
                  <a:srgbClr val="24586B"/>
                </a:solidFill>
                <a:latin typeface="Aptos"/>
              </a:defRPr>
            </a:pPr>
            <a:r>
              <a:rPr sz="1700" b="0">
                <a:solidFill>
                  <a:srgbClr val="24586B"/>
                </a:solidFill>
                <a:latin typeface="Aptos"/>
              </a:rPr>
              <a:t>30,000 credit-card clients · 23 inputs · the three tools all explain one declined client, 24155</a:t>
            </a:r>
          </a:p>
        </p:txBody>
      </p:sp>
      <p:sp>
        <p:nvSpPr>
          <p:cNvPr id="7" name="TextBox 6"/>
          <p:cNvSpPr txBox="1"/>
          <p:nvPr/>
        </p:nvSpPr>
        <p:spPr>
          <a:xfrm>
            <a:off x="594360" y="1856231"/>
            <a:ext cx="1371600" cy="228600"/>
          </a:xfrm>
          <a:prstGeom prst="rect">
            <a:avLst/>
          </a:prstGeom>
          <a:noFill/>
        </p:spPr>
        <p:txBody>
          <a:bodyPr wrap="square" lIns="0" rIns="0" tIns="0" bIns="0">
            <a:spAutoFit/>
          </a:bodyPr>
          <a:lstStyle/>
          <a:p>
            <a:pPr>
              <a:spcAft>
                <a:spcPts val="0"/>
              </a:spcAft>
              <a:defRPr sz="1400" b="1">
                <a:solidFill>
                  <a:srgbClr val="5B6570"/>
                </a:solidFill>
                <a:latin typeface="Aptos"/>
              </a:defRPr>
            </a:pPr>
            <a:r>
              <a:rPr sz="1400" b="1">
                <a:solidFill>
                  <a:srgbClr val="5B6570"/>
                </a:solidFill>
                <a:latin typeface="Aptos"/>
              </a:rPr>
              <a:t>Transparent</a:t>
            </a:r>
          </a:p>
        </p:txBody>
      </p:sp>
      <p:sp>
        <p:nvSpPr>
          <p:cNvPr id="8" name="TextBox 7"/>
          <p:cNvSpPr txBox="1"/>
          <p:nvPr/>
        </p:nvSpPr>
        <p:spPr>
          <a:xfrm>
            <a:off x="10195560" y="1856231"/>
            <a:ext cx="1371600" cy="228600"/>
          </a:xfrm>
          <a:prstGeom prst="rect">
            <a:avLst/>
          </a:prstGeom>
          <a:noFill/>
        </p:spPr>
        <p:txBody>
          <a:bodyPr wrap="square" lIns="0" rIns="0" tIns="0" bIns="0">
            <a:spAutoFit/>
          </a:bodyPr>
          <a:lstStyle/>
          <a:p>
            <a:pPr algn="r">
              <a:spcAft>
                <a:spcPts val="0"/>
              </a:spcAft>
              <a:defRPr sz="1400" b="1">
                <a:solidFill>
                  <a:srgbClr val="5B6570"/>
                </a:solidFill>
                <a:latin typeface="Aptos"/>
              </a:defRPr>
            </a:pPr>
            <a:r>
              <a:rPr sz="1400" b="1">
                <a:solidFill>
                  <a:srgbClr val="5B6570"/>
                </a:solidFill>
                <a:latin typeface="Aptos"/>
              </a:rPr>
              <a:t>Opaque</a:t>
            </a:r>
          </a:p>
        </p:txBody>
      </p:sp>
      <p:cxnSp>
        <p:nvCxnSpPr>
          <p:cNvPr id="9" name="Connector 8"/>
          <p:cNvCxnSpPr/>
          <p:nvPr/>
        </p:nvCxnSpPr>
        <p:spPr>
          <a:xfrm>
            <a:off x="1965960" y="1965960"/>
            <a:ext cx="8183880" cy="0"/>
          </a:xfrm>
          <a:prstGeom prst="line">
            <a:avLst/>
          </a:prstGeom>
          <a:ln w="19050">
            <a:solidFill>
              <a:srgbClr val="5B6570"/>
            </a:solidFill>
            <a:tailEnd type="triangle"/>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594360" y="2212848"/>
            <a:ext cx="3535680" cy="420624"/>
          </a:xfrm>
          <a:prstGeom prst="rect">
            <a:avLst/>
          </a:prstGeom>
          <a:solidFill>
            <a:srgbClr val="E6EEF1"/>
          </a:solidFill>
          <a:ln>
            <a:noFill/>
          </a:ln>
          <a:effectLst/>
        </p:spPr>
        <p:txBody>
          <a:bodyPr rtlCol="0" anchor="ctr" tIns="0" bIns="0"/>
          <a:lstStyle/>
          <a:p>
            <a:pPr algn="ctr">
              <a:defRPr sz="1600" b="1">
                <a:solidFill>
                  <a:srgbClr val="20262D"/>
                </a:solidFill>
                <a:latin typeface="Aptos"/>
              </a:defRPr>
            </a:pPr>
            <a:r>
              <a:rPr sz="1600" b="1">
                <a:solidFill>
                  <a:srgbClr val="20262D"/>
                </a:solidFill>
                <a:latin typeface="Aptos"/>
              </a:rPr>
              <a:t>Logistic regression</a:t>
            </a:r>
          </a:p>
        </p:txBody>
      </p:sp>
      <p:sp>
        <p:nvSpPr>
          <p:cNvPr id="11" name="TextBox 10"/>
          <p:cNvSpPr txBox="1"/>
          <p:nvPr/>
        </p:nvSpPr>
        <p:spPr>
          <a:xfrm>
            <a:off x="594360" y="2724912"/>
            <a:ext cx="3535680" cy="228600"/>
          </a:xfrm>
          <a:prstGeom prst="rect">
            <a:avLst/>
          </a:prstGeom>
          <a:noFill/>
        </p:spPr>
        <p:txBody>
          <a:bodyPr wrap="square" lIns="0" rIns="0" tIns="0" bIns="0">
            <a:spAutoFit/>
          </a:bodyPr>
          <a:lstStyle/>
          <a:p>
            <a:pPr algn="ctr">
              <a:spcAft>
                <a:spcPts val="0"/>
              </a:spcAft>
              <a:defRPr sz="1400" b="0">
                <a:solidFill>
                  <a:srgbClr val="5B6570"/>
                </a:solidFill>
                <a:latin typeface="Aptos"/>
              </a:defRPr>
            </a:pPr>
            <a:r>
              <a:rPr sz="1400" b="0">
                <a:solidFill>
                  <a:srgbClr val="5B6570"/>
                </a:solidFill>
                <a:latin typeface="Aptos"/>
              </a:rPr>
              <a:t>Read it directly</a:t>
            </a:r>
          </a:p>
        </p:txBody>
      </p:sp>
      <p:sp>
        <p:nvSpPr>
          <p:cNvPr id="12" name="Rectangle 11"/>
          <p:cNvSpPr/>
          <p:nvPr/>
        </p:nvSpPr>
        <p:spPr>
          <a:xfrm>
            <a:off x="4312920" y="2212848"/>
            <a:ext cx="3535680" cy="420624"/>
          </a:xfrm>
          <a:prstGeom prst="rect">
            <a:avLst/>
          </a:prstGeom>
          <a:solidFill>
            <a:srgbClr val="4E7F91"/>
          </a:solidFill>
          <a:ln>
            <a:noFill/>
          </a:ln>
          <a:effectLst/>
        </p:spPr>
        <p:txBody>
          <a:bodyPr rtlCol="0" anchor="ctr" tIns="0" bIns="0"/>
          <a:lstStyle/>
          <a:p>
            <a:pPr algn="ctr">
              <a:defRPr sz="1600" b="1">
                <a:solidFill>
                  <a:srgbClr val="FFFFFF"/>
                </a:solidFill>
                <a:latin typeface="Aptos"/>
              </a:defRPr>
            </a:pPr>
            <a:r>
              <a:rPr sz="1600" b="1">
                <a:solidFill>
                  <a:srgbClr val="FFFFFF"/>
                </a:solidFill>
                <a:latin typeface="Aptos"/>
              </a:rPr>
              <a:t>XGBoost</a:t>
            </a:r>
          </a:p>
        </p:txBody>
      </p:sp>
      <p:sp>
        <p:nvSpPr>
          <p:cNvPr id="13" name="TextBox 12"/>
          <p:cNvSpPr txBox="1"/>
          <p:nvPr/>
        </p:nvSpPr>
        <p:spPr>
          <a:xfrm>
            <a:off x="4312920" y="2724912"/>
            <a:ext cx="3535680" cy="228600"/>
          </a:xfrm>
          <a:prstGeom prst="rect">
            <a:avLst/>
          </a:prstGeom>
          <a:noFill/>
        </p:spPr>
        <p:txBody>
          <a:bodyPr wrap="square" lIns="0" rIns="0" tIns="0" bIns="0">
            <a:spAutoFit/>
          </a:bodyPr>
          <a:lstStyle/>
          <a:p>
            <a:pPr algn="ctr">
              <a:spcAft>
                <a:spcPts val="0"/>
              </a:spcAft>
              <a:defRPr sz="1400" b="0">
                <a:solidFill>
                  <a:srgbClr val="5B6570"/>
                </a:solidFill>
                <a:latin typeface="Aptos"/>
              </a:defRPr>
            </a:pPr>
            <a:r>
              <a:rPr sz="1400" b="0">
                <a:solidFill>
                  <a:srgbClr val="5B6570"/>
                </a:solidFill>
                <a:latin typeface="Aptos"/>
              </a:rPr>
              <a:t>Tools can use its trees</a:t>
            </a:r>
          </a:p>
        </p:txBody>
      </p:sp>
      <p:sp>
        <p:nvSpPr>
          <p:cNvPr id="14" name="Rectangle 13"/>
          <p:cNvSpPr/>
          <p:nvPr/>
        </p:nvSpPr>
        <p:spPr>
          <a:xfrm>
            <a:off x="8031480" y="2212848"/>
            <a:ext cx="3535680" cy="420624"/>
          </a:xfrm>
          <a:prstGeom prst="rect">
            <a:avLst/>
          </a:prstGeom>
          <a:solidFill>
            <a:srgbClr val="24586B"/>
          </a:solidFill>
          <a:ln>
            <a:noFill/>
          </a:ln>
          <a:effectLst/>
        </p:spPr>
        <p:txBody>
          <a:bodyPr rtlCol="0" anchor="ctr" tIns="0" bIns="0"/>
          <a:lstStyle/>
          <a:p>
            <a:pPr algn="ctr">
              <a:defRPr sz="1600" b="1">
                <a:solidFill>
                  <a:srgbClr val="FFFFFF"/>
                </a:solidFill>
                <a:latin typeface="Aptos"/>
              </a:defRPr>
            </a:pPr>
            <a:r>
              <a:rPr sz="1600" b="1">
                <a:solidFill>
                  <a:srgbClr val="FFFFFF"/>
                </a:solidFill>
                <a:latin typeface="Aptos"/>
              </a:rPr>
              <a:t>Neural network</a:t>
            </a:r>
          </a:p>
        </p:txBody>
      </p:sp>
      <p:sp>
        <p:nvSpPr>
          <p:cNvPr id="15" name="TextBox 14"/>
          <p:cNvSpPr txBox="1"/>
          <p:nvPr/>
        </p:nvSpPr>
        <p:spPr>
          <a:xfrm>
            <a:off x="8031480" y="2724912"/>
            <a:ext cx="3535680" cy="228600"/>
          </a:xfrm>
          <a:prstGeom prst="rect">
            <a:avLst/>
          </a:prstGeom>
          <a:noFill/>
        </p:spPr>
        <p:txBody>
          <a:bodyPr wrap="square" lIns="0" rIns="0" tIns="0" bIns="0">
            <a:spAutoFit/>
          </a:bodyPr>
          <a:lstStyle/>
          <a:p>
            <a:pPr algn="ctr">
              <a:spcAft>
                <a:spcPts val="0"/>
              </a:spcAft>
              <a:defRPr sz="1400" b="0">
                <a:solidFill>
                  <a:srgbClr val="5B6570"/>
                </a:solidFill>
                <a:latin typeface="Aptos"/>
              </a:defRPr>
            </a:pPr>
            <a:r>
              <a:rPr sz="1400" b="0">
                <a:solidFill>
                  <a:srgbClr val="5B6570"/>
                </a:solidFill>
                <a:latin typeface="Aptos"/>
              </a:rPr>
              <a:t>Tools can only probe it from outside</a:t>
            </a:r>
          </a:p>
        </p:txBody>
      </p:sp>
      <p:sp>
        <p:nvSpPr>
          <p:cNvPr id="16" name="TextBox 15"/>
          <p:cNvSpPr txBox="1"/>
          <p:nvPr/>
        </p:nvSpPr>
        <p:spPr>
          <a:xfrm>
            <a:off x="594360" y="3246120"/>
            <a:ext cx="2606040" cy="365760"/>
          </a:xfrm>
          <a:prstGeom prst="rect">
            <a:avLst/>
          </a:prstGeom>
          <a:noFill/>
        </p:spPr>
        <p:txBody>
          <a:bodyPr wrap="square" lIns="0" rIns="0" tIns="0" bIns="0">
            <a:spAutoFit/>
          </a:bodyPr>
          <a:lstStyle/>
          <a:p>
            <a:pPr>
              <a:spcAft>
                <a:spcPts val="0"/>
              </a:spcAft>
              <a:defRPr sz="2400" b="1">
                <a:solidFill>
                  <a:srgbClr val="24586B"/>
                </a:solidFill>
                <a:latin typeface="Georgia"/>
              </a:defRPr>
            </a:pPr>
            <a:r>
              <a:rPr sz="2400" b="1">
                <a:solidFill>
                  <a:srgbClr val="24586B"/>
                </a:solidFill>
                <a:latin typeface="Georgia"/>
              </a:rPr>
              <a:t>01</a:t>
            </a:r>
          </a:p>
        </p:txBody>
      </p:sp>
      <p:sp>
        <p:nvSpPr>
          <p:cNvPr id="17" name="TextBox 16"/>
          <p:cNvSpPr txBox="1"/>
          <p:nvPr/>
        </p:nvSpPr>
        <p:spPr>
          <a:xfrm>
            <a:off x="594360" y="3657600"/>
            <a:ext cx="2606040" cy="274320"/>
          </a:xfrm>
          <a:prstGeom prst="rect">
            <a:avLst/>
          </a:prstGeom>
          <a:noFill/>
        </p:spPr>
        <p:txBody>
          <a:bodyPr wrap="square" lIns="0" rIns="0" tIns="0" bIns="0">
            <a:spAutoFit/>
          </a:bodyPr>
          <a:lstStyle/>
          <a:p>
            <a:pPr>
              <a:spcAft>
                <a:spcPts val="0"/>
              </a:spcAft>
              <a:defRPr sz="1700" b="1">
                <a:solidFill>
                  <a:srgbClr val="20262D"/>
                </a:solidFill>
                <a:latin typeface="Georgia"/>
              </a:defRPr>
            </a:pPr>
            <a:r>
              <a:rPr sz="1700" b="1">
                <a:solidFill>
                  <a:srgbClr val="20262D"/>
                </a:solidFill>
                <a:latin typeface="Georgia"/>
              </a:rPr>
              <a:t>The glass box</a:t>
            </a:r>
          </a:p>
        </p:txBody>
      </p:sp>
      <p:sp>
        <p:nvSpPr>
          <p:cNvPr id="18" name="TextBox 17"/>
          <p:cNvSpPr txBox="1"/>
          <p:nvPr/>
        </p:nvSpPr>
        <p:spPr>
          <a:xfrm>
            <a:off x="594360" y="4005072"/>
            <a:ext cx="2606040" cy="54864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Can we read the calculation?</a:t>
            </a:r>
          </a:p>
        </p:txBody>
      </p:sp>
      <p:sp>
        <p:nvSpPr>
          <p:cNvPr id="19" name="Rectangle 18"/>
          <p:cNvSpPr/>
          <p:nvPr/>
        </p:nvSpPr>
        <p:spPr>
          <a:xfrm>
            <a:off x="594360" y="4645152"/>
            <a:ext cx="2606040" cy="10972"/>
          </a:xfrm>
          <a:prstGeom prst="rect">
            <a:avLst/>
          </a:prstGeom>
          <a:solidFill>
            <a:srgbClr val="DDE2E5"/>
          </a:solidFill>
          <a:ln>
            <a:noFill/>
          </a:ln>
          <a:effectLst/>
        </p:spPr>
        <p:txBody>
          <a:bodyPr rtlCol="0" anchor="ctr"/>
          <a:lstStyle/>
          <a:p>
            <a:pPr algn="ctr"/>
          </a:p>
        </p:txBody>
      </p:sp>
      <p:sp>
        <p:nvSpPr>
          <p:cNvPr id="20" name="TextBox 19"/>
          <p:cNvSpPr txBox="1"/>
          <p:nvPr/>
        </p:nvSpPr>
        <p:spPr>
          <a:xfrm>
            <a:off x="594360" y="4754880"/>
            <a:ext cx="2606040" cy="457200"/>
          </a:xfrm>
          <a:prstGeom prst="rect">
            <a:avLst/>
          </a:prstGeom>
          <a:noFill/>
        </p:spPr>
        <p:txBody>
          <a:bodyPr wrap="square" lIns="0" rIns="0" tIns="0" bIns="0">
            <a:spAutoFit/>
          </a:bodyPr>
          <a:lstStyle/>
          <a:p>
            <a:pPr>
              <a:spcAft>
                <a:spcPts val="0"/>
              </a:spcAft>
              <a:defRPr sz="1500" b="1">
                <a:solidFill>
                  <a:srgbClr val="24586B"/>
                </a:solidFill>
                <a:latin typeface="Aptos"/>
              </a:defRPr>
            </a:pPr>
            <a:r>
              <a:rPr sz="1500" b="1">
                <a:solidFill>
                  <a:srgbClr val="24586B"/>
                </a:solidFill>
                <a:latin typeface="Aptos"/>
              </a:rPr>
              <a:t>Coefficients: no tool needed</a:t>
            </a:r>
          </a:p>
        </p:txBody>
      </p:sp>
      <p:sp>
        <p:nvSpPr>
          <p:cNvPr id="21" name="TextBox 20"/>
          <p:cNvSpPr txBox="1"/>
          <p:nvPr/>
        </p:nvSpPr>
        <p:spPr>
          <a:xfrm>
            <a:off x="3383280" y="3246120"/>
            <a:ext cx="2606040" cy="365760"/>
          </a:xfrm>
          <a:prstGeom prst="rect">
            <a:avLst/>
          </a:prstGeom>
          <a:noFill/>
        </p:spPr>
        <p:txBody>
          <a:bodyPr wrap="square" lIns="0" rIns="0" tIns="0" bIns="0">
            <a:spAutoFit/>
          </a:bodyPr>
          <a:lstStyle/>
          <a:p>
            <a:pPr>
              <a:spcAft>
                <a:spcPts val="0"/>
              </a:spcAft>
              <a:defRPr sz="2400" b="1">
                <a:solidFill>
                  <a:srgbClr val="24586B"/>
                </a:solidFill>
                <a:latin typeface="Georgia"/>
              </a:defRPr>
            </a:pPr>
            <a:r>
              <a:rPr sz="2400" b="1">
                <a:solidFill>
                  <a:srgbClr val="24586B"/>
                </a:solidFill>
                <a:latin typeface="Georgia"/>
              </a:rPr>
              <a:t>02</a:t>
            </a:r>
          </a:p>
        </p:txBody>
      </p:sp>
      <p:sp>
        <p:nvSpPr>
          <p:cNvPr id="22" name="TextBox 21"/>
          <p:cNvSpPr txBox="1"/>
          <p:nvPr/>
        </p:nvSpPr>
        <p:spPr>
          <a:xfrm>
            <a:off x="3383280" y="3657600"/>
            <a:ext cx="2606040" cy="274320"/>
          </a:xfrm>
          <a:prstGeom prst="rect">
            <a:avLst/>
          </a:prstGeom>
          <a:noFill/>
        </p:spPr>
        <p:txBody>
          <a:bodyPr wrap="square" lIns="0" rIns="0" tIns="0" bIns="0">
            <a:spAutoFit/>
          </a:bodyPr>
          <a:lstStyle/>
          <a:p>
            <a:pPr>
              <a:spcAft>
                <a:spcPts val="0"/>
              </a:spcAft>
              <a:defRPr sz="1700" b="1">
                <a:solidFill>
                  <a:srgbClr val="20262D"/>
                </a:solidFill>
                <a:latin typeface="Georgia"/>
              </a:defRPr>
            </a:pPr>
            <a:r>
              <a:rPr sz="1700" b="1">
                <a:solidFill>
                  <a:srgbClr val="20262D"/>
                </a:solidFill>
                <a:latin typeface="Georgia"/>
              </a:rPr>
              <a:t>SHAP</a:t>
            </a:r>
          </a:p>
        </p:txBody>
      </p:sp>
      <p:sp>
        <p:nvSpPr>
          <p:cNvPr id="23" name="TextBox 22"/>
          <p:cNvSpPr txBox="1"/>
          <p:nvPr/>
        </p:nvSpPr>
        <p:spPr>
          <a:xfrm>
            <a:off x="3383280" y="4005072"/>
            <a:ext cx="2606040" cy="54864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How much did each input push the score?</a:t>
            </a:r>
          </a:p>
        </p:txBody>
      </p:sp>
      <p:sp>
        <p:nvSpPr>
          <p:cNvPr id="24" name="Rectangle 23"/>
          <p:cNvSpPr/>
          <p:nvPr/>
        </p:nvSpPr>
        <p:spPr>
          <a:xfrm>
            <a:off x="3383280" y="4645152"/>
            <a:ext cx="2606040" cy="10972"/>
          </a:xfrm>
          <a:prstGeom prst="rect">
            <a:avLst/>
          </a:prstGeom>
          <a:solidFill>
            <a:srgbClr val="DDE2E5"/>
          </a:solidFill>
          <a:ln>
            <a:noFill/>
          </a:ln>
          <a:effectLst/>
        </p:spPr>
        <p:txBody>
          <a:bodyPr rtlCol="0" anchor="ctr"/>
          <a:lstStyle/>
          <a:p>
            <a:pPr algn="ctr"/>
          </a:p>
        </p:txBody>
      </p:sp>
      <p:sp>
        <p:nvSpPr>
          <p:cNvPr id="25" name="TextBox 24"/>
          <p:cNvSpPr txBox="1"/>
          <p:nvPr/>
        </p:nvSpPr>
        <p:spPr>
          <a:xfrm>
            <a:off x="3383280" y="4754880"/>
            <a:ext cx="2606040" cy="457200"/>
          </a:xfrm>
          <a:prstGeom prst="rect">
            <a:avLst/>
          </a:prstGeom>
          <a:noFill/>
        </p:spPr>
        <p:txBody>
          <a:bodyPr wrap="square" lIns="0" rIns="0" tIns="0" bIns="0">
            <a:spAutoFit/>
          </a:bodyPr>
          <a:lstStyle/>
          <a:p>
            <a:pPr>
              <a:spcAft>
                <a:spcPts val="0"/>
              </a:spcAft>
              <a:defRPr sz="1500" b="1">
                <a:solidFill>
                  <a:srgbClr val="24586B"/>
                </a:solidFill>
                <a:latin typeface="Aptos"/>
              </a:defRPr>
            </a:pPr>
            <a:r>
              <a:rPr sz="1500" b="1">
                <a:solidFill>
                  <a:srgbClr val="24586B"/>
                </a:solidFill>
                <a:latin typeface="Aptos"/>
              </a:rPr>
              <a:t>Exact on XGBoost, estimated on the network</a:t>
            </a:r>
          </a:p>
        </p:txBody>
      </p:sp>
      <p:sp>
        <p:nvSpPr>
          <p:cNvPr id="26" name="TextBox 25"/>
          <p:cNvSpPr txBox="1"/>
          <p:nvPr/>
        </p:nvSpPr>
        <p:spPr>
          <a:xfrm>
            <a:off x="6172200" y="3246120"/>
            <a:ext cx="2606040" cy="365760"/>
          </a:xfrm>
          <a:prstGeom prst="rect">
            <a:avLst/>
          </a:prstGeom>
          <a:noFill/>
        </p:spPr>
        <p:txBody>
          <a:bodyPr wrap="square" lIns="0" rIns="0" tIns="0" bIns="0">
            <a:spAutoFit/>
          </a:bodyPr>
          <a:lstStyle/>
          <a:p>
            <a:pPr>
              <a:spcAft>
                <a:spcPts val="0"/>
              </a:spcAft>
              <a:defRPr sz="2400" b="1">
                <a:solidFill>
                  <a:srgbClr val="24586B"/>
                </a:solidFill>
                <a:latin typeface="Georgia"/>
              </a:defRPr>
            </a:pPr>
            <a:r>
              <a:rPr sz="2400" b="1">
                <a:solidFill>
                  <a:srgbClr val="24586B"/>
                </a:solidFill>
                <a:latin typeface="Georgia"/>
              </a:rPr>
              <a:t>03</a:t>
            </a:r>
          </a:p>
        </p:txBody>
      </p:sp>
      <p:sp>
        <p:nvSpPr>
          <p:cNvPr id="27" name="TextBox 26"/>
          <p:cNvSpPr txBox="1"/>
          <p:nvPr/>
        </p:nvSpPr>
        <p:spPr>
          <a:xfrm>
            <a:off x="6172200" y="3657600"/>
            <a:ext cx="2606040" cy="274320"/>
          </a:xfrm>
          <a:prstGeom prst="rect">
            <a:avLst/>
          </a:prstGeom>
          <a:noFill/>
        </p:spPr>
        <p:txBody>
          <a:bodyPr wrap="square" lIns="0" rIns="0" tIns="0" bIns="0">
            <a:spAutoFit/>
          </a:bodyPr>
          <a:lstStyle/>
          <a:p>
            <a:pPr>
              <a:spcAft>
                <a:spcPts val="0"/>
              </a:spcAft>
              <a:defRPr sz="1700" b="1">
                <a:solidFill>
                  <a:srgbClr val="20262D"/>
                </a:solidFill>
                <a:latin typeface="Georgia"/>
              </a:defRPr>
            </a:pPr>
            <a:r>
              <a:rPr sz="1700" b="1">
                <a:solidFill>
                  <a:srgbClr val="20262D"/>
                </a:solidFill>
                <a:latin typeface="Georgia"/>
              </a:rPr>
              <a:t>LIME</a:t>
            </a:r>
          </a:p>
        </p:txBody>
      </p:sp>
      <p:sp>
        <p:nvSpPr>
          <p:cNvPr id="28" name="TextBox 27"/>
          <p:cNvSpPr txBox="1"/>
          <p:nvPr/>
        </p:nvSpPr>
        <p:spPr>
          <a:xfrm>
            <a:off x="6172200" y="4005072"/>
            <a:ext cx="2606040" cy="54864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What simple model mimics it nearby?</a:t>
            </a:r>
          </a:p>
        </p:txBody>
      </p:sp>
      <p:sp>
        <p:nvSpPr>
          <p:cNvPr id="29" name="Rectangle 28"/>
          <p:cNvSpPr/>
          <p:nvPr/>
        </p:nvSpPr>
        <p:spPr>
          <a:xfrm>
            <a:off x="6172200" y="4645152"/>
            <a:ext cx="2606040" cy="10972"/>
          </a:xfrm>
          <a:prstGeom prst="rect">
            <a:avLst/>
          </a:prstGeom>
          <a:solidFill>
            <a:srgbClr val="DDE2E5"/>
          </a:solidFill>
          <a:ln>
            <a:noFill/>
          </a:ln>
          <a:effectLst/>
        </p:spPr>
        <p:txBody>
          <a:bodyPr rtlCol="0" anchor="ctr"/>
          <a:lstStyle/>
          <a:p>
            <a:pPr algn="ctr"/>
          </a:p>
        </p:txBody>
      </p:sp>
      <p:sp>
        <p:nvSpPr>
          <p:cNvPr id="30" name="TextBox 29"/>
          <p:cNvSpPr txBox="1"/>
          <p:nvPr/>
        </p:nvSpPr>
        <p:spPr>
          <a:xfrm>
            <a:off x="6172200" y="4754880"/>
            <a:ext cx="2606040" cy="457200"/>
          </a:xfrm>
          <a:prstGeom prst="rect">
            <a:avLst/>
          </a:prstGeom>
          <a:noFill/>
        </p:spPr>
        <p:txBody>
          <a:bodyPr wrap="square" lIns="0" rIns="0" tIns="0" bIns="0">
            <a:spAutoFit/>
          </a:bodyPr>
          <a:lstStyle/>
          <a:p>
            <a:pPr>
              <a:spcAft>
                <a:spcPts val="0"/>
              </a:spcAft>
              <a:defRPr sz="1500" b="1">
                <a:solidFill>
                  <a:srgbClr val="24586B"/>
                </a:solidFill>
                <a:latin typeface="Aptos"/>
              </a:defRPr>
            </a:pPr>
            <a:r>
              <a:rPr sz="1500" b="1">
                <a:solidFill>
                  <a:srgbClr val="24586B"/>
                </a:solidFill>
                <a:latin typeface="Aptos"/>
              </a:rPr>
              <a:t>Fit quality and 20 re-runs</a:t>
            </a:r>
          </a:p>
        </p:txBody>
      </p:sp>
      <p:sp>
        <p:nvSpPr>
          <p:cNvPr id="31" name="TextBox 30"/>
          <p:cNvSpPr txBox="1"/>
          <p:nvPr/>
        </p:nvSpPr>
        <p:spPr>
          <a:xfrm>
            <a:off x="8961120" y="3246120"/>
            <a:ext cx="2606040" cy="365760"/>
          </a:xfrm>
          <a:prstGeom prst="rect">
            <a:avLst/>
          </a:prstGeom>
          <a:noFill/>
        </p:spPr>
        <p:txBody>
          <a:bodyPr wrap="square" lIns="0" rIns="0" tIns="0" bIns="0">
            <a:spAutoFit/>
          </a:bodyPr>
          <a:lstStyle/>
          <a:p>
            <a:pPr>
              <a:spcAft>
                <a:spcPts val="0"/>
              </a:spcAft>
              <a:defRPr sz="2400" b="1">
                <a:solidFill>
                  <a:srgbClr val="24586B"/>
                </a:solidFill>
                <a:latin typeface="Georgia"/>
              </a:defRPr>
            </a:pPr>
            <a:r>
              <a:rPr sz="2400" b="1">
                <a:solidFill>
                  <a:srgbClr val="24586B"/>
                </a:solidFill>
                <a:latin typeface="Georgia"/>
              </a:rPr>
              <a:t>04</a:t>
            </a:r>
          </a:p>
        </p:txBody>
      </p:sp>
      <p:sp>
        <p:nvSpPr>
          <p:cNvPr id="32" name="TextBox 31"/>
          <p:cNvSpPr txBox="1"/>
          <p:nvPr/>
        </p:nvSpPr>
        <p:spPr>
          <a:xfrm>
            <a:off x="8961120" y="3657600"/>
            <a:ext cx="2606040" cy="274320"/>
          </a:xfrm>
          <a:prstGeom prst="rect">
            <a:avLst/>
          </a:prstGeom>
          <a:noFill/>
        </p:spPr>
        <p:txBody>
          <a:bodyPr wrap="square" lIns="0" rIns="0" tIns="0" bIns="0">
            <a:spAutoFit/>
          </a:bodyPr>
          <a:lstStyle/>
          <a:p>
            <a:pPr>
              <a:spcAft>
                <a:spcPts val="0"/>
              </a:spcAft>
              <a:defRPr sz="1700" b="1">
                <a:solidFill>
                  <a:srgbClr val="20262D"/>
                </a:solidFill>
                <a:latin typeface="Georgia"/>
              </a:defRPr>
            </a:pPr>
            <a:r>
              <a:rPr sz="1700" b="1">
                <a:solidFill>
                  <a:srgbClr val="20262D"/>
                </a:solidFill>
                <a:latin typeface="Georgia"/>
              </a:rPr>
              <a:t>Counterfactuals</a:t>
            </a:r>
          </a:p>
        </p:txBody>
      </p:sp>
      <p:sp>
        <p:nvSpPr>
          <p:cNvPr id="33" name="TextBox 32"/>
          <p:cNvSpPr txBox="1"/>
          <p:nvPr/>
        </p:nvSpPr>
        <p:spPr>
          <a:xfrm>
            <a:off x="8961120" y="4005072"/>
            <a:ext cx="2606040" cy="54864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What would flip the decision?</a:t>
            </a:r>
          </a:p>
        </p:txBody>
      </p:sp>
      <p:sp>
        <p:nvSpPr>
          <p:cNvPr id="34" name="Rectangle 33"/>
          <p:cNvSpPr/>
          <p:nvPr/>
        </p:nvSpPr>
        <p:spPr>
          <a:xfrm>
            <a:off x="8961120" y="4645152"/>
            <a:ext cx="2606040" cy="10972"/>
          </a:xfrm>
          <a:prstGeom prst="rect">
            <a:avLst/>
          </a:prstGeom>
          <a:solidFill>
            <a:srgbClr val="DDE2E5"/>
          </a:solidFill>
          <a:ln>
            <a:noFill/>
          </a:ln>
          <a:effectLst/>
        </p:spPr>
        <p:txBody>
          <a:bodyPr rtlCol="0" anchor="ctr"/>
          <a:lstStyle/>
          <a:p>
            <a:pPr algn="ctr"/>
          </a:p>
        </p:txBody>
      </p:sp>
      <p:sp>
        <p:nvSpPr>
          <p:cNvPr id="35" name="TextBox 34"/>
          <p:cNvSpPr txBox="1"/>
          <p:nvPr/>
        </p:nvSpPr>
        <p:spPr>
          <a:xfrm>
            <a:off x="8961120" y="4754880"/>
            <a:ext cx="2606040" cy="457200"/>
          </a:xfrm>
          <a:prstGeom prst="rect">
            <a:avLst/>
          </a:prstGeom>
          <a:noFill/>
        </p:spPr>
        <p:txBody>
          <a:bodyPr wrap="square" lIns="0" rIns="0" tIns="0" bIns="0">
            <a:spAutoFit/>
          </a:bodyPr>
          <a:lstStyle/>
          <a:p>
            <a:pPr>
              <a:spcAft>
                <a:spcPts val="0"/>
              </a:spcAft>
              <a:defRPr sz="1500" b="1">
                <a:solidFill>
                  <a:srgbClr val="24586B"/>
                </a:solidFill>
                <a:latin typeface="Aptos"/>
              </a:defRPr>
            </a:pPr>
            <a:r>
              <a:rPr sz="1500" b="1">
                <a:solidFill>
                  <a:srgbClr val="24586B"/>
                </a:solidFill>
                <a:latin typeface="Aptos"/>
              </a:rPr>
              <a:t>Unconstrained vs feasible changes</a:t>
            </a:r>
          </a:p>
        </p:txBody>
      </p:sp>
      <p:sp>
        <p:nvSpPr>
          <p:cNvPr id="36" name="Rectangle 35"/>
          <p:cNvSpPr/>
          <p:nvPr/>
        </p:nvSpPr>
        <p:spPr>
          <a:xfrm>
            <a:off x="594360" y="5468112"/>
            <a:ext cx="10972800" cy="10972"/>
          </a:xfrm>
          <a:prstGeom prst="rect">
            <a:avLst/>
          </a:prstGeom>
          <a:solidFill>
            <a:srgbClr val="DDE2E5"/>
          </a:solidFill>
          <a:ln>
            <a:noFill/>
          </a:ln>
          <a:effectLst/>
        </p:spPr>
        <p:txBody>
          <a:bodyPr rtlCol="0" anchor="ctr"/>
          <a:lstStyle/>
          <a:p>
            <a:pPr algn="ctr"/>
          </a:p>
        </p:txBody>
      </p:sp>
      <p:sp>
        <p:nvSpPr>
          <p:cNvPr id="37" name="TextBox 36"/>
          <p:cNvSpPr txBox="1"/>
          <p:nvPr/>
        </p:nvSpPr>
        <p:spPr>
          <a:xfrm>
            <a:off x="594360" y="5577840"/>
            <a:ext cx="10972800" cy="365760"/>
          </a:xfrm>
          <a:prstGeom prst="rect">
            <a:avLst/>
          </a:prstGeom>
          <a:noFill/>
        </p:spPr>
        <p:txBody>
          <a:bodyPr wrap="square" lIns="0" rIns="0" tIns="0" bIns="0">
            <a:spAutoFit/>
          </a:bodyPr>
          <a:lstStyle/>
          <a:p>
            <a:pPr>
              <a:spcAft>
                <a:spcPts val="0"/>
              </a:spcAft>
              <a:defRPr sz="1800" b="1">
                <a:solidFill>
                  <a:srgbClr val="24586B"/>
                </a:solidFill>
                <a:latin typeface="Georgia"/>
              </a:defRPr>
            </a:pPr>
            <a:r>
              <a:rPr sz="1800" b="1">
                <a:solidFill>
                  <a:srgbClr val="24586B"/>
                </a:solidFill>
                <a:latin typeface="Georgia"/>
              </a:rPr>
              <a:t>For each tool: what it reveals, and where it falls short as opacity rises.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01 / THE GLASS BOX</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Readable coefficients still need interpretation</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03</a:t>
            </a:r>
          </a:p>
        </p:txBody>
      </p:sp>
      <p:graphicFrame>
        <p:nvGraphicFramePr>
          <p:cNvPr id="6" name="Table 5"/>
          <p:cNvGraphicFramePr>
            <a:graphicFrameLocks noGrp="1"/>
          </p:cNvGraphicFramePr>
          <p:nvPr/>
        </p:nvGraphicFramePr>
        <p:xfrm>
          <a:off x="594360" y="1691640"/>
          <a:ext cx="7315199" cy="3511296"/>
        </p:xfrm>
        <a:graphic>
          <a:graphicData uri="http://schemas.openxmlformats.org/drawingml/2006/table">
            <a:tbl>
              <a:tblPr firstRow="1" bandRow="1">
                <a:tableStyleId>{5C22544A-7EE6-4342-B048-85BDC9FD1C3A}</a:tableStyleId>
              </a:tblPr>
              <a:tblGrid>
                <a:gridCol w="3017520"/>
                <a:gridCol w="1874519"/>
                <a:gridCol w="2423160"/>
              </a:tblGrid>
              <a:tr h="585216">
                <a:tc>
                  <a:txBody>
                    <a:bodyPr/>
                    <a:lstStyle/>
                    <a:p>
                      <a:pPr>
                        <a:defRPr sz="2200" b="1">
                          <a:solidFill>
                            <a:srgbClr val="24586B"/>
                          </a:solidFill>
                          <a:latin typeface="Aptos"/>
                        </a:defRPr>
                      </a:pPr>
                      <a:r>
                        <a:t>Selected feature</a:t>
                      </a:r>
                    </a:p>
                  </a:txBody>
                  <a:tcPr marL="128016" marR="109728" marT="73152" marB="45720" anchor="ctr">
                    <a:solidFill>
                      <a:srgbClr val="F3F5F6"/>
                    </a:solidFill>
                  </a:tcPr>
                </a:tc>
                <a:tc>
                  <a:txBody>
                    <a:bodyPr/>
                    <a:lstStyle/>
                    <a:p>
                      <a:pPr>
                        <a:defRPr sz="2200" b="1">
                          <a:solidFill>
                            <a:srgbClr val="24586B"/>
                          </a:solidFill>
                          <a:latin typeface="Aptos"/>
                        </a:defRPr>
                      </a:pPr>
                      <a:r>
                        <a:t>Coefficient</a:t>
                      </a:r>
                    </a:p>
                  </a:txBody>
                  <a:tcPr marL="128016" marR="109728" marT="73152" marB="45720" anchor="ctr">
                    <a:solidFill>
                      <a:srgbClr val="F3F5F6"/>
                    </a:solidFill>
                  </a:tcPr>
                </a:tc>
                <a:tc>
                  <a:txBody>
                    <a:bodyPr/>
                    <a:lstStyle/>
                    <a:p>
                      <a:pPr>
                        <a:defRPr sz="2200" b="1">
                          <a:solidFill>
                            <a:srgbClr val="24586B"/>
                          </a:solidFill>
                          <a:latin typeface="Aptos"/>
                        </a:defRPr>
                      </a:pPr>
                      <a:r>
                        <a:t>exp(coefficient)</a:t>
                      </a:r>
                    </a:p>
                  </a:txBody>
                  <a:tcPr marL="128016" marR="109728" marT="73152" marB="45720" anchor="ctr">
                    <a:solidFill>
                      <a:srgbClr val="F3F5F6"/>
                    </a:solidFill>
                  </a:tcPr>
                </a:tc>
              </a:tr>
              <a:tr h="585216">
                <a:tc>
                  <a:txBody>
                    <a:bodyPr/>
                    <a:lstStyle/>
                    <a:p>
                      <a:pPr>
                        <a:defRPr sz="2200" b="0">
                          <a:solidFill>
                            <a:srgbClr val="20262D"/>
                          </a:solidFill>
                          <a:latin typeface="Aptos"/>
                        </a:defRPr>
                      </a:pPr>
                      <a:r>
                        <a:t>PAY_0</a:t>
                      </a:r>
                    </a:p>
                  </a:txBody>
                  <a:tcPr marL="128016" marR="109728" marT="73152" marB="45720" anchor="ctr">
                    <a:solidFill>
                      <a:srgbClr val="FFFFFF"/>
                    </a:solidFill>
                  </a:tcPr>
                </a:tc>
                <a:tc>
                  <a:txBody>
                    <a:bodyPr/>
                    <a:lstStyle/>
                    <a:p>
                      <a:pPr>
                        <a:defRPr sz="2200" b="0">
                          <a:solidFill>
                            <a:srgbClr val="20262D"/>
                          </a:solidFill>
                          <a:latin typeface="Aptos"/>
                        </a:defRPr>
                      </a:pPr>
                      <a:r>
                        <a:t>0.661</a:t>
                      </a:r>
                    </a:p>
                  </a:txBody>
                  <a:tcPr marL="128016" marR="109728" marT="73152" marB="45720" anchor="ctr">
                    <a:solidFill>
                      <a:srgbClr val="FFFFFF"/>
                    </a:solidFill>
                  </a:tcPr>
                </a:tc>
                <a:tc>
                  <a:txBody>
                    <a:bodyPr/>
                    <a:lstStyle/>
                    <a:p>
                      <a:pPr>
                        <a:defRPr sz="2200" b="0">
                          <a:solidFill>
                            <a:srgbClr val="20262D"/>
                          </a:solidFill>
                          <a:latin typeface="Aptos"/>
                        </a:defRPr>
                      </a:pPr>
                      <a:r>
                        <a:t>1.937</a:t>
                      </a:r>
                    </a:p>
                  </a:txBody>
                  <a:tcPr marL="128016" marR="109728" marT="73152" marB="45720" anchor="ctr">
                    <a:solidFill>
                      <a:srgbClr val="FFFFFF"/>
                    </a:solidFill>
                  </a:tcPr>
                </a:tc>
              </a:tr>
              <a:tr h="585216">
                <a:tc>
                  <a:txBody>
                    <a:bodyPr/>
                    <a:lstStyle/>
                    <a:p>
                      <a:pPr>
                        <a:defRPr sz="2200" b="0">
                          <a:solidFill>
                            <a:srgbClr val="20262D"/>
                          </a:solidFill>
                          <a:latin typeface="Aptos"/>
                        </a:defRPr>
                      </a:pPr>
                      <a:r>
                        <a:t>PAY_AMT1</a:t>
                      </a:r>
                    </a:p>
                  </a:txBody>
                  <a:tcPr marL="128016" marR="109728" marT="73152" marB="45720" anchor="ctr">
                    <a:solidFill>
                      <a:srgbClr val="FFFFFF"/>
                    </a:solidFill>
                  </a:tcPr>
                </a:tc>
                <a:tc>
                  <a:txBody>
                    <a:bodyPr/>
                    <a:lstStyle/>
                    <a:p>
                      <a:pPr>
                        <a:defRPr sz="2200" b="0">
                          <a:solidFill>
                            <a:srgbClr val="20262D"/>
                          </a:solidFill>
                          <a:latin typeface="Aptos"/>
                        </a:defRPr>
                      </a:pPr>
                      <a:r>
                        <a:t>-0.200</a:t>
                      </a:r>
                    </a:p>
                  </a:txBody>
                  <a:tcPr marL="128016" marR="109728" marT="73152" marB="45720" anchor="ctr">
                    <a:solidFill>
                      <a:srgbClr val="FFFFFF"/>
                    </a:solidFill>
                  </a:tcPr>
                </a:tc>
                <a:tc>
                  <a:txBody>
                    <a:bodyPr/>
                    <a:lstStyle/>
                    <a:p>
                      <a:pPr>
                        <a:defRPr sz="2200" b="0">
                          <a:solidFill>
                            <a:srgbClr val="20262D"/>
                          </a:solidFill>
                          <a:latin typeface="Aptos"/>
                        </a:defRPr>
                      </a:pPr>
                      <a:r>
                        <a:t>0.819</a:t>
                      </a:r>
                    </a:p>
                  </a:txBody>
                  <a:tcPr marL="128016" marR="109728" marT="73152" marB="45720" anchor="ctr">
                    <a:solidFill>
                      <a:srgbClr val="FFFFFF"/>
                    </a:solidFill>
                  </a:tcPr>
                </a:tc>
              </a:tr>
              <a:tr h="585216">
                <a:tc>
                  <a:txBody>
                    <a:bodyPr/>
                    <a:lstStyle/>
                    <a:p>
                      <a:pPr>
                        <a:defRPr sz="2200" b="0">
                          <a:solidFill>
                            <a:srgbClr val="20262D"/>
                          </a:solidFill>
                          <a:latin typeface="Aptos"/>
                        </a:defRPr>
                      </a:pPr>
                      <a:r>
                        <a:t>BILL_AMT1</a:t>
                      </a:r>
                    </a:p>
                  </a:txBody>
                  <a:tcPr marL="128016" marR="109728" marT="73152" marB="45720" anchor="ctr">
                    <a:solidFill>
                      <a:srgbClr val="FFFFFF"/>
                    </a:solidFill>
                  </a:tcPr>
                </a:tc>
                <a:tc>
                  <a:txBody>
                    <a:bodyPr/>
                    <a:lstStyle/>
                    <a:p>
                      <a:pPr>
                        <a:defRPr sz="2200" b="0">
                          <a:solidFill>
                            <a:srgbClr val="20262D"/>
                          </a:solidFill>
                          <a:latin typeface="Aptos"/>
                        </a:defRPr>
                      </a:pPr>
                      <a:r>
                        <a:t>-0.321</a:t>
                      </a:r>
                    </a:p>
                  </a:txBody>
                  <a:tcPr marL="128016" marR="109728" marT="73152" marB="45720" anchor="ctr">
                    <a:solidFill>
                      <a:srgbClr val="FFFFFF"/>
                    </a:solidFill>
                  </a:tcPr>
                </a:tc>
                <a:tc>
                  <a:txBody>
                    <a:bodyPr/>
                    <a:lstStyle/>
                    <a:p>
                      <a:pPr>
                        <a:defRPr sz="2200" b="0">
                          <a:solidFill>
                            <a:srgbClr val="20262D"/>
                          </a:solidFill>
                          <a:latin typeface="Aptos"/>
                        </a:defRPr>
                      </a:pPr>
                      <a:r>
                        <a:t>0.726</a:t>
                      </a:r>
                    </a:p>
                  </a:txBody>
                  <a:tcPr marL="128016" marR="109728" marT="73152" marB="45720" anchor="ctr">
                    <a:solidFill>
                      <a:srgbClr val="FFFFFF"/>
                    </a:solidFill>
                  </a:tcPr>
                </a:tc>
              </a:tr>
              <a:tr h="585216">
                <a:tc>
                  <a:txBody>
                    <a:bodyPr/>
                    <a:lstStyle/>
                    <a:p>
                      <a:pPr>
                        <a:defRPr sz="2200" b="0">
                          <a:solidFill>
                            <a:srgbClr val="20262D"/>
                          </a:solidFill>
                          <a:latin typeface="Aptos"/>
                        </a:defRPr>
                      </a:pPr>
                      <a:r>
                        <a:t>EDUCATION_5</a:t>
                      </a:r>
                    </a:p>
                  </a:txBody>
                  <a:tcPr marL="128016" marR="109728" marT="73152" marB="45720" anchor="ctr">
                    <a:solidFill>
                      <a:srgbClr val="FFFFFF"/>
                    </a:solidFill>
                  </a:tcPr>
                </a:tc>
                <a:tc>
                  <a:txBody>
                    <a:bodyPr/>
                    <a:lstStyle/>
                    <a:p>
                      <a:pPr>
                        <a:defRPr sz="2200" b="0">
                          <a:solidFill>
                            <a:srgbClr val="20262D"/>
                          </a:solidFill>
                          <a:latin typeface="Aptos"/>
                        </a:defRPr>
                      </a:pPr>
                      <a:r>
                        <a:t>-1.040</a:t>
                      </a:r>
                    </a:p>
                  </a:txBody>
                  <a:tcPr marL="128016" marR="109728" marT="73152" marB="45720" anchor="ctr">
                    <a:solidFill>
                      <a:srgbClr val="FFFFFF"/>
                    </a:solidFill>
                  </a:tcPr>
                </a:tc>
                <a:tc>
                  <a:txBody>
                    <a:bodyPr/>
                    <a:lstStyle/>
                    <a:p>
                      <a:pPr>
                        <a:defRPr sz="2200" b="0">
                          <a:solidFill>
                            <a:srgbClr val="20262D"/>
                          </a:solidFill>
                          <a:latin typeface="Aptos"/>
                        </a:defRPr>
                      </a:pPr>
                      <a:r>
                        <a:t>0.353</a:t>
                      </a:r>
                    </a:p>
                  </a:txBody>
                  <a:tcPr marL="128016" marR="109728" marT="73152" marB="45720" anchor="ctr">
                    <a:solidFill>
                      <a:srgbClr val="FFFFFF"/>
                    </a:solidFill>
                  </a:tcPr>
                </a:tc>
              </a:tr>
              <a:tr h="585216">
                <a:tc>
                  <a:txBody>
                    <a:bodyPr/>
                    <a:lstStyle/>
                    <a:p>
                      <a:pPr>
                        <a:defRPr sz="2200" b="0">
                          <a:solidFill>
                            <a:srgbClr val="20262D"/>
                          </a:solidFill>
                          <a:latin typeface="Aptos"/>
                        </a:defRPr>
                      </a:pPr>
                      <a:r>
                        <a:t>MARRIAGE_0</a:t>
                      </a:r>
                    </a:p>
                  </a:txBody>
                  <a:tcPr marL="128016" marR="109728" marT="73152" marB="45720" anchor="ctr">
                    <a:solidFill>
                      <a:srgbClr val="FFFFFF"/>
                    </a:solidFill>
                  </a:tcPr>
                </a:tc>
                <a:tc>
                  <a:txBody>
                    <a:bodyPr/>
                    <a:lstStyle/>
                    <a:p>
                      <a:pPr>
                        <a:defRPr sz="2200" b="0">
                          <a:solidFill>
                            <a:srgbClr val="20262D"/>
                          </a:solidFill>
                          <a:latin typeface="Aptos"/>
                        </a:defRPr>
                      </a:pPr>
                      <a:r>
                        <a:t>-0.995</a:t>
                      </a:r>
                    </a:p>
                  </a:txBody>
                  <a:tcPr marL="128016" marR="109728" marT="73152" marB="45720" anchor="ctr">
                    <a:solidFill>
                      <a:srgbClr val="FFFFFF"/>
                    </a:solidFill>
                  </a:tcPr>
                </a:tc>
                <a:tc>
                  <a:txBody>
                    <a:bodyPr/>
                    <a:lstStyle/>
                    <a:p>
                      <a:pPr>
                        <a:defRPr sz="2200" b="0">
                          <a:solidFill>
                            <a:srgbClr val="20262D"/>
                          </a:solidFill>
                          <a:latin typeface="Aptos"/>
                        </a:defRPr>
                      </a:pPr>
                      <a:r>
                        <a:t>0.370</a:t>
                      </a:r>
                    </a:p>
                  </a:txBody>
                  <a:tcPr marL="128016" marR="109728" marT="73152" marB="45720" anchor="ctr">
                    <a:solidFill>
                      <a:srgbClr val="FFFFFF"/>
                    </a:solidFill>
                  </a:tcPr>
                </a:tc>
              </a:tr>
            </a:tbl>
          </a:graphicData>
        </a:graphic>
      </p:graphicFrame>
      <p:sp>
        <p:nvSpPr>
          <p:cNvPr id="7" name="TextBox 6"/>
          <p:cNvSpPr txBox="1"/>
          <p:nvPr/>
        </p:nvSpPr>
        <p:spPr>
          <a:xfrm>
            <a:off x="8412480" y="1847088"/>
            <a:ext cx="3017520" cy="384048"/>
          </a:xfrm>
          <a:prstGeom prst="rect">
            <a:avLst/>
          </a:prstGeom>
          <a:noFill/>
          <a:effectLst/>
        </p:spPr>
        <p:txBody>
          <a:bodyPr wrap="square" lIns="0" rIns="0" tIns="0" bIns="0">
            <a:spAutoFit/>
          </a:bodyPr>
          <a:lstStyle/>
          <a:p>
            <a:pPr>
              <a:spcAft>
                <a:spcPts val="0"/>
              </a:spcAft>
              <a:defRPr sz="2300" b="1">
                <a:solidFill>
                  <a:srgbClr val="24586B"/>
                </a:solidFill>
                <a:latin typeface="Aptos"/>
              </a:defRPr>
            </a:pPr>
            <a:r>
              <a:t>PAY_0</a:t>
            </a:r>
          </a:p>
        </p:txBody>
      </p:sp>
      <p:sp>
        <p:nvSpPr>
          <p:cNvPr id="8" name="TextBox 7"/>
          <p:cNvSpPr txBox="1"/>
          <p:nvPr/>
        </p:nvSpPr>
        <p:spPr>
          <a:xfrm>
            <a:off x="8412480" y="2450592"/>
            <a:ext cx="3017520" cy="685800"/>
          </a:xfrm>
          <a:prstGeom prst="rect">
            <a:avLst/>
          </a:prstGeom>
          <a:noFill/>
          <a:effectLst/>
        </p:spPr>
        <p:txBody>
          <a:bodyPr wrap="square" lIns="0" rIns="0" tIns="0" bIns="0">
            <a:spAutoFit/>
          </a:bodyPr>
          <a:lstStyle/>
          <a:p>
            <a:pPr>
              <a:spcAft>
                <a:spcPts val="0"/>
              </a:spcAft>
              <a:defRPr sz="3800" b="1">
                <a:solidFill>
                  <a:srgbClr val="24586B"/>
                </a:solidFill>
                <a:latin typeface="Georgia"/>
              </a:defRPr>
            </a:pPr>
            <a:r>
              <a:t>×1.937</a:t>
            </a:r>
          </a:p>
        </p:txBody>
      </p:sp>
      <p:sp>
        <p:nvSpPr>
          <p:cNvPr id="9" name="TextBox 8"/>
          <p:cNvSpPr txBox="1"/>
          <p:nvPr/>
        </p:nvSpPr>
        <p:spPr>
          <a:xfrm>
            <a:off x="8412480" y="3337560"/>
            <a:ext cx="3017520" cy="10058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Conditional odds per</a:t>
            </a:r>
          </a:p>
          <a:p>
            <a:pPr>
              <a:spcAft>
                <a:spcPts val="0"/>
              </a:spcAft>
              <a:defRPr sz="2100" b="0">
                <a:solidFill>
                  <a:srgbClr val="20262D"/>
                </a:solidFill>
                <a:latin typeface="Aptos"/>
              </a:defRPr>
            </a:pPr>
            <a:r>
              <a:t>standard-deviation</a:t>
            </a:r>
          </a:p>
          <a:p>
            <a:pPr>
              <a:spcAft>
                <a:spcPts val="0"/>
              </a:spcAft>
              <a:defRPr sz="2100" b="0">
                <a:solidFill>
                  <a:srgbClr val="20262D"/>
                </a:solidFill>
                <a:latin typeface="Aptos"/>
              </a:defRPr>
            </a:pPr>
            <a:r>
              <a:t>increase</a:t>
            </a:r>
          </a:p>
        </p:txBody>
      </p:sp>
      <p:sp>
        <p:nvSpPr>
          <p:cNvPr id="10" name="Rectangle 9"/>
          <p:cNvSpPr/>
          <p:nvPr/>
        </p:nvSpPr>
        <p:spPr>
          <a:xfrm>
            <a:off x="8412480" y="4626864"/>
            <a:ext cx="3017520" cy="10972"/>
          </a:xfrm>
          <a:prstGeom prst="rect">
            <a:avLst/>
          </a:prstGeom>
          <a:solidFill>
            <a:srgbClr val="DDE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2480" y="4956048"/>
            <a:ext cx="3017520" cy="1097280"/>
          </a:xfrm>
          <a:prstGeom prst="rect">
            <a:avLst/>
          </a:prstGeom>
          <a:noFill/>
          <a:effectLst/>
        </p:spPr>
        <p:txBody>
          <a:bodyPr wrap="square" lIns="0" rIns="0" tIns="0" bIns="0">
            <a:spAutoFit/>
          </a:bodyPr>
          <a:lstStyle/>
          <a:p>
            <a:pPr>
              <a:spcAft>
                <a:spcPts val="0"/>
              </a:spcAft>
              <a:defRPr sz="2100" b="0">
                <a:solidFill>
                  <a:srgbClr val="5B6570"/>
                </a:solidFill>
                <a:latin typeface="Aptos"/>
              </a:defRPr>
            </a:pPr>
            <a:r>
              <a:t>A large coefficient</a:t>
            </a:r>
          </a:p>
          <a:p>
            <a:pPr>
              <a:spcAft>
                <a:spcPts val="0"/>
              </a:spcAft>
              <a:defRPr sz="2100" b="0">
                <a:solidFill>
                  <a:srgbClr val="5B6570"/>
                </a:solidFill>
                <a:latin typeface="Aptos"/>
              </a:defRPr>
            </a:pPr>
            <a:r>
              <a:t>is not automatically</a:t>
            </a:r>
          </a:p>
          <a:p>
            <a:pPr>
              <a:spcAft>
                <a:spcPts val="0"/>
              </a:spcAft>
              <a:defRPr sz="2100" b="0">
                <a:solidFill>
                  <a:srgbClr val="5B6570"/>
                </a:solidFill>
                <a:latin typeface="Aptos"/>
              </a:defRPr>
            </a:pPr>
            <a:r>
              <a:t>a useful explanation.</a:t>
            </a:r>
          </a:p>
        </p:txBody>
      </p:sp>
      <p:sp>
        <p:nvSpPr>
          <p:cNvPr id="12" name="TextBox 11"/>
          <p:cNvSpPr txBox="1"/>
          <p:nvPr/>
        </p:nvSpPr>
        <p:spPr>
          <a:xfrm>
            <a:off x="731520" y="5943600"/>
            <a:ext cx="7223760" cy="365760"/>
          </a:xfrm>
          <a:prstGeom prst="rect">
            <a:avLst/>
          </a:prstGeom>
          <a:noFill/>
          <a:effectLst/>
        </p:spPr>
        <p:txBody>
          <a:bodyPr wrap="square" lIns="0" rIns="0" tIns="0" bIns="0">
            <a:spAutoFit/>
          </a:bodyPr>
          <a:lstStyle/>
          <a:p>
            <a:pPr>
              <a:spcAft>
                <a:spcPts val="0"/>
              </a:spcAft>
              <a:defRPr sz="1700" b="0">
                <a:solidFill>
                  <a:srgbClr val="5B6570"/>
                </a:solidFill>
                <a:latin typeface="Aptos"/>
              </a:defRPr>
            </a:pPr>
            <a:r>
              <a:t>Numeric inputs are standardized; category effects require contrasts.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a:effectLst/>
        </p:spPr>
        <p:txBody>
          <a:bodyPr wrap="square" lIns="0" rIns="0" tIns="0" bIns="0">
            <a:spAutoFit/>
          </a:bodyPr>
          <a:lstStyle/>
          <a:p>
            <a:pPr>
              <a:spcAft>
                <a:spcPts val="0"/>
              </a:spcAft>
              <a:defRPr sz="1100" b="1">
                <a:solidFill>
                  <a:srgbClr val="24586B"/>
                </a:solidFill>
                <a:latin typeface="Aptos"/>
              </a:defRPr>
            </a:pPr>
            <a:r>
              <a:t>01 / THE GLASS BOX</a:t>
            </a:r>
          </a:p>
        </p:txBody>
      </p:sp>
      <p:sp>
        <p:nvSpPr>
          <p:cNvPr id="3" name="TextBox 2"/>
          <p:cNvSpPr txBox="1"/>
          <p:nvPr/>
        </p:nvSpPr>
        <p:spPr>
          <a:xfrm>
            <a:off x="594360" y="685800"/>
            <a:ext cx="10972800" cy="685800"/>
          </a:xfrm>
          <a:prstGeom prst="rect">
            <a:avLst/>
          </a:prstGeom>
          <a:noFill/>
          <a:effectLst/>
        </p:spPr>
        <p:txBody>
          <a:bodyPr wrap="square" lIns="0" rIns="0" tIns="0" bIns="0">
            <a:spAutoFit/>
          </a:bodyPr>
          <a:lstStyle/>
          <a:p>
            <a:pPr>
              <a:spcAft>
                <a:spcPts val="0"/>
              </a:spcAft>
              <a:defRPr sz="3000" b="1">
                <a:solidFill>
                  <a:srgbClr val="20262D"/>
                </a:solidFill>
                <a:latin typeface="Georgia"/>
              </a:defRPr>
            </a:pPr>
            <a:r>
              <a:t>We can rebuild this prediction exactly</a:t>
            </a:r>
          </a:p>
        </p:txBody>
      </p:sp>
      <p:sp>
        <p:nvSpPr>
          <p:cNvPr id="4" name="TextBox 3"/>
          <p:cNvSpPr txBox="1"/>
          <p:nvPr/>
        </p:nvSpPr>
        <p:spPr>
          <a:xfrm>
            <a:off x="594360" y="6510528"/>
            <a:ext cx="8229600" cy="210312"/>
          </a:xfrm>
          <a:prstGeom prst="rect">
            <a:avLst/>
          </a:prstGeom>
          <a:noFill/>
          <a:effectLst/>
        </p:spPr>
        <p:txBody>
          <a:bodyPr wrap="square" lIns="0" rIns="0" tIns="0" bIns="0">
            <a:spAutoFit/>
          </a:bodyPr>
          <a:lstStyle/>
          <a:p>
            <a:pPr>
              <a:spcAft>
                <a:spcPts val="0"/>
              </a:spcAft>
              <a:defRPr sz="1000" b="0">
                <a:solidFill>
                  <a:srgbClr val="5B6570"/>
                </a:solidFill>
                <a:latin typeface="Aptos"/>
              </a:defRPr>
            </a:pPr>
            <a:r>
              <a:t>Explainable Credit Risk</a:t>
            </a:r>
          </a:p>
        </p:txBody>
      </p:sp>
      <p:sp>
        <p:nvSpPr>
          <p:cNvPr id="5" name="TextBox 4"/>
          <p:cNvSpPr txBox="1"/>
          <p:nvPr/>
        </p:nvSpPr>
        <p:spPr>
          <a:xfrm>
            <a:off x="10972800" y="6510528"/>
            <a:ext cx="594360" cy="228600"/>
          </a:xfrm>
          <a:prstGeom prst="rect">
            <a:avLst/>
          </a:prstGeom>
          <a:noFill/>
          <a:effectLst/>
        </p:spPr>
        <p:txBody>
          <a:bodyPr wrap="square" lIns="0" rIns="0" tIns="0" bIns="0">
            <a:spAutoFit/>
          </a:bodyPr>
          <a:lstStyle/>
          <a:p>
            <a:pPr algn="r">
              <a:spcAft>
                <a:spcPts val="0"/>
              </a:spcAft>
              <a:defRPr sz="1100" b="0">
                <a:solidFill>
                  <a:srgbClr val="5B6570"/>
                </a:solidFill>
                <a:latin typeface="Aptos"/>
              </a:defRPr>
            </a:pPr>
            <a:r>
              <a:t>04</a:t>
            </a:r>
          </a:p>
        </p:txBody>
      </p:sp>
      <p:sp>
        <p:nvSpPr>
          <p:cNvPr id="6" name="TextBox 5"/>
          <p:cNvSpPr txBox="1"/>
          <p:nvPr/>
        </p:nvSpPr>
        <p:spPr>
          <a:xfrm>
            <a:off x="731520" y="1508760"/>
            <a:ext cx="6858000" cy="365760"/>
          </a:xfrm>
          <a:prstGeom prst="rect">
            <a:avLst/>
          </a:prstGeom>
          <a:noFill/>
          <a:effectLst/>
        </p:spPr>
        <p:txBody>
          <a:bodyPr wrap="square" lIns="0" rIns="0" tIns="0" bIns="0">
            <a:spAutoFit/>
          </a:bodyPr>
          <a:lstStyle/>
          <a:p>
            <a:pPr>
              <a:spcAft>
                <a:spcPts val="0"/>
              </a:spcAft>
              <a:defRPr sz="1900" b="1">
                <a:solidFill>
                  <a:srgbClr val="24586B"/>
                </a:solidFill>
                <a:latin typeface="Aptos"/>
              </a:defRPr>
            </a:pPr>
            <a:r>
              <a:t>Selected contributions to log-odds · applicant 4387</a:t>
            </a:r>
          </a:p>
        </p:txBody>
      </p:sp>
      <p:sp>
        <p:nvSpPr>
          <p:cNvPr id="7" name="TextBox 6"/>
          <p:cNvSpPr txBox="1"/>
          <p:nvPr/>
        </p:nvSpPr>
        <p:spPr>
          <a:xfrm>
            <a:off x="8641080" y="1463040"/>
            <a:ext cx="2834640" cy="457200"/>
          </a:xfrm>
          <a:prstGeom prst="rect">
            <a:avLst/>
          </a:prstGeom>
          <a:noFill/>
          <a:effectLst/>
        </p:spPr>
        <p:txBody>
          <a:bodyPr wrap="square" lIns="0" rIns="0" tIns="0" bIns="0">
            <a:spAutoFit/>
          </a:bodyPr>
          <a:lstStyle/>
          <a:p>
            <a:pPr>
              <a:spcAft>
                <a:spcPts val="0"/>
              </a:spcAft>
              <a:defRPr sz="2500" b="1">
                <a:solidFill>
                  <a:srgbClr val="24586B"/>
                </a:solidFill>
                <a:latin typeface="Aptos"/>
              </a:defRPr>
            </a:pPr>
            <a:r>
              <a:t>P(default) = 0.9927</a:t>
            </a:r>
          </a:p>
        </p:txBody>
      </p:sp>
      <p:cxnSp>
        <p:nvCxnSpPr>
          <p:cNvPr id="8" name="Connector 7"/>
          <p:cNvCxnSpPr/>
          <p:nvPr/>
        </p:nvCxnSpPr>
        <p:spPr>
          <a:xfrm>
            <a:off x="3703320" y="2103120"/>
            <a:ext cx="0" cy="3520440"/>
          </a:xfrm>
          <a:prstGeom prst="line">
            <a:avLst/>
          </a:prstGeom>
          <a:ln w="12700">
            <a:solidFill>
              <a:srgbClr val="DDE2E5"/>
            </a:solidFill>
          </a:ln>
          <a:effectLst/>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822960" y="2157984"/>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PAY_0</a:t>
            </a:r>
          </a:p>
        </p:txBody>
      </p:sp>
      <p:sp>
        <p:nvSpPr>
          <p:cNvPr id="10" name="Rectangle 9"/>
          <p:cNvSpPr/>
          <p:nvPr/>
        </p:nvSpPr>
        <p:spPr>
          <a:xfrm>
            <a:off x="3703320" y="2189988"/>
            <a:ext cx="6297308"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0" y="2157984"/>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+4.717</a:t>
            </a:r>
          </a:p>
        </p:txBody>
      </p:sp>
      <p:sp>
        <p:nvSpPr>
          <p:cNvPr id="12" name="TextBox 11"/>
          <p:cNvSpPr txBox="1"/>
          <p:nvPr/>
        </p:nvSpPr>
        <p:spPr>
          <a:xfrm>
            <a:off x="822960" y="2615184"/>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PAY_2</a:t>
            </a:r>
          </a:p>
        </p:txBody>
      </p:sp>
      <p:sp>
        <p:nvSpPr>
          <p:cNvPr id="13" name="Rectangle 12"/>
          <p:cNvSpPr/>
          <p:nvPr/>
        </p:nvSpPr>
        <p:spPr>
          <a:xfrm>
            <a:off x="3703320" y="2647188"/>
            <a:ext cx="731593"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0" y="2615184"/>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+0.548</a:t>
            </a:r>
          </a:p>
        </p:txBody>
      </p:sp>
      <p:sp>
        <p:nvSpPr>
          <p:cNvPr id="15" name="TextBox 14"/>
          <p:cNvSpPr txBox="1"/>
          <p:nvPr/>
        </p:nvSpPr>
        <p:spPr>
          <a:xfrm>
            <a:off x="822960" y="3072384"/>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PAY_3</a:t>
            </a:r>
          </a:p>
        </p:txBody>
      </p:sp>
      <p:sp>
        <p:nvSpPr>
          <p:cNvPr id="16" name="Rectangle 15"/>
          <p:cNvSpPr/>
          <p:nvPr/>
        </p:nvSpPr>
        <p:spPr>
          <a:xfrm>
            <a:off x="3703320" y="3104388"/>
            <a:ext cx="651491"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0" y="3072384"/>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+0.488</a:t>
            </a:r>
          </a:p>
        </p:txBody>
      </p:sp>
      <p:sp>
        <p:nvSpPr>
          <p:cNvPr id="18" name="TextBox 17"/>
          <p:cNvSpPr txBox="1"/>
          <p:nvPr/>
        </p:nvSpPr>
        <p:spPr>
          <a:xfrm>
            <a:off x="822960" y="3529584"/>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SEX_1</a:t>
            </a:r>
          </a:p>
        </p:txBody>
      </p:sp>
      <p:sp>
        <p:nvSpPr>
          <p:cNvPr id="19" name="Rectangle 18"/>
          <p:cNvSpPr/>
          <p:nvPr/>
        </p:nvSpPr>
        <p:spPr>
          <a:xfrm>
            <a:off x="3118579" y="3561588"/>
            <a:ext cx="584740" cy="237744"/>
          </a:xfrm>
          <a:prstGeom prst="rect">
            <a:avLst/>
          </a:prstGeom>
          <a:solidFill>
            <a:srgbClr val="7B8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0" y="3529584"/>
            <a:ext cx="1143000" cy="320040"/>
          </a:xfrm>
          <a:prstGeom prst="rect">
            <a:avLst/>
          </a:prstGeom>
          <a:noFill/>
          <a:effectLst/>
        </p:spPr>
        <p:txBody>
          <a:bodyPr wrap="square" lIns="0" rIns="0" tIns="0" bIns="0">
            <a:spAutoFit/>
          </a:bodyPr>
          <a:lstStyle/>
          <a:p>
            <a:pPr>
              <a:spcAft>
                <a:spcPts val="0"/>
              </a:spcAft>
              <a:defRPr sz="2000" b="0">
                <a:solidFill>
                  <a:srgbClr val="20262D"/>
                </a:solidFill>
                <a:latin typeface="Aptos"/>
              </a:defRPr>
            </a:pPr>
            <a:r>
              <a:t>-0.438</a:t>
            </a:r>
          </a:p>
        </p:txBody>
      </p:sp>
      <p:sp>
        <p:nvSpPr>
          <p:cNvPr id="21" name="TextBox 20"/>
          <p:cNvSpPr txBox="1"/>
          <p:nvPr/>
        </p:nvSpPr>
        <p:spPr>
          <a:xfrm>
            <a:off x="822960" y="3986783"/>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EDUCATION_2</a:t>
            </a:r>
          </a:p>
        </p:txBody>
      </p:sp>
      <p:sp>
        <p:nvSpPr>
          <p:cNvPr id="22" name="Rectangle 21"/>
          <p:cNvSpPr/>
          <p:nvPr/>
        </p:nvSpPr>
        <p:spPr>
          <a:xfrm>
            <a:off x="3703320" y="4018787"/>
            <a:ext cx="384486"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332720" y="3986783"/>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+0.288</a:t>
            </a:r>
          </a:p>
        </p:txBody>
      </p:sp>
      <p:sp>
        <p:nvSpPr>
          <p:cNvPr id="24" name="TextBox 23"/>
          <p:cNvSpPr txBox="1"/>
          <p:nvPr/>
        </p:nvSpPr>
        <p:spPr>
          <a:xfrm>
            <a:off x="822960" y="4443983"/>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PAY_4</a:t>
            </a:r>
          </a:p>
        </p:txBody>
      </p:sp>
      <p:sp>
        <p:nvSpPr>
          <p:cNvPr id="25" name="Rectangle 24"/>
          <p:cNvSpPr/>
          <p:nvPr/>
        </p:nvSpPr>
        <p:spPr>
          <a:xfrm>
            <a:off x="3703320" y="4475988"/>
            <a:ext cx="367131" cy="237744"/>
          </a:xfrm>
          <a:prstGeom prst="rect">
            <a:avLst/>
          </a:prstGeom>
          <a:solidFill>
            <a:srgbClr val="2458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332720" y="4443983"/>
            <a:ext cx="1143000" cy="320040"/>
          </a:xfrm>
          <a:prstGeom prst="rect">
            <a:avLst/>
          </a:prstGeom>
          <a:noFill/>
          <a:effectLst/>
        </p:spPr>
        <p:txBody>
          <a:bodyPr wrap="square" lIns="0" rIns="0" tIns="0" bIns="0">
            <a:spAutoFit/>
          </a:bodyPr>
          <a:lstStyle/>
          <a:p>
            <a:pPr>
              <a:spcAft>
                <a:spcPts val="0"/>
              </a:spcAft>
              <a:defRPr sz="2000" b="0">
                <a:solidFill>
                  <a:srgbClr val="24586B"/>
                </a:solidFill>
                <a:latin typeface="Aptos"/>
              </a:defRPr>
            </a:pPr>
            <a:r>
              <a:t>+0.275</a:t>
            </a:r>
          </a:p>
        </p:txBody>
      </p:sp>
      <p:sp>
        <p:nvSpPr>
          <p:cNvPr id="27" name="TextBox 26"/>
          <p:cNvSpPr txBox="1"/>
          <p:nvPr/>
        </p:nvSpPr>
        <p:spPr>
          <a:xfrm>
            <a:off x="822960" y="4901183"/>
            <a:ext cx="2423160" cy="320040"/>
          </a:xfrm>
          <a:prstGeom prst="rect">
            <a:avLst/>
          </a:prstGeom>
          <a:noFill/>
          <a:effectLst/>
        </p:spPr>
        <p:txBody>
          <a:bodyPr wrap="square" lIns="0" rIns="0" tIns="0" bIns="0">
            <a:spAutoFit/>
          </a:bodyPr>
          <a:lstStyle/>
          <a:p>
            <a:pPr>
              <a:spcAft>
                <a:spcPts val="0"/>
              </a:spcAft>
              <a:defRPr sz="2100" b="0">
                <a:solidFill>
                  <a:srgbClr val="20262D"/>
                </a:solidFill>
                <a:latin typeface="Aptos"/>
              </a:defRPr>
            </a:pPr>
            <a:r>
              <a:t>BILL_AMT1</a:t>
            </a:r>
          </a:p>
        </p:txBody>
      </p:sp>
      <p:sp>
        <p:nvSpPr>
          <p:cNvPr id="28" name="Rectangle 27"/>
          <p:cNvSpPr/>
          <p:nvPr/>
        </p:nvSpPr>
        <p:spPr>
          <a:xfrm>
            <a:off x="3344198" y="4933188"/>
            <a:ext cx="359121" cy="237744"/>
          </a:xfrm>
          <a:prstGeom prst="rect">
            <a:avLst/>
          </a:prstGeom>
          <a:solidFill>
            <a:srgbClr val="7B85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0332720" y="4901183"/>
            <a:ext cx="1143000" cy="320040"/>
          </a:xfrm>
          <a:prstGeom prst="rect">
            <a:avLst/>
          </a:prstGeom>
          <a:noFill/>
          <a:effectLst/>
        </p:spPr>
        <p:txBody>
          <a:bodyPr wrap="square" lIns="0" rIns="0" tIns="0" bIns="0">
            <a:spAutoFit/>
          </a:bodyPr>
          <a:lstStyle/>
          <a:p>
            <a:pPr>
              <a:spcAft>
                <a:spcPts val="0"/>
              </a:spcAft>
              <a:defRPr sz="2000" b="0">
                <a:solidFill>
                  <a:srgbClr val="20262D"/>
                </a:solidFill>
                <a:latin typeface="Aptos"/>
              </a:defRPr>
            </a:pPr>
            <a:r>
              <a:t>-0.269</a:t>
            </a:r>
          </a:p>
        </p:txBody>
      </p:sp>
      <p:sp>
        <p:nvSpPr>
          <p:cNvPr id="30" name="TextBox 29"/>
          <p:cNvSpPr txBox="1"/>
          <p:nvPr/>
        </p:nvSpPr>
        <p:spPr>
          <a:xfrm>
            <a:off x="3575303"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0</a:t>
            </a:r>
          </a:p>
        </p:txBody>
      </p:sp>
      <p:sp>
        <p:nvSpPr>
          <p:cNvPr id="31" name="TextBox 30"/>
          <p:cNvSpPr txBox="1"/>
          <p:nvPr/>
        </p:nvSpPr>
        <p:spPr>
          <a:xfrm>
            <a:off x="4910328"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1</a:t>
            </a:r>
          </a:p>
        </p:txBody>
      </p:sp>
      <p:sp>
        <p:nvSpPr>
          <p:cNvPr id="32" name="TextBox 31"/>
          <p:cNvSpPr txBox="1"/>
          <p:nvPr/>
        </p:nvSpPr>
        <p:spPr>
          <a:xfrm>
            <a:off x="6245352"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2</a:t>
            </a:r>
          </a:p>
        </p:txBody>
      </p:sp>
      <p:sp>
        <p:nvSpPr>
          <p:cNvPr id="33" name="TextBox 32"/>
          <p:cNvSpPr txBox="1"/>
          <p:nvPr/>
        </p:nvSpPr>
        <p:spPr>
          <a:xfrm>
            <a:off x="7580375"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3</a:t>
            </a:r>
          </a:p>
        </p:txBody>
      </p:sp>
      <p:sp>
        <p:nvSpPr>
          <p:cNvPr id="34" name="TextBox 33"/>
          <p:cNvSpPr txBox="1"/>
          <p:nvPr/>
        </p:nvSpPr>
        <p:spPr>
          <a:xfrm>
            <a:off x="8915400" y="5605272"/>
            <a:ext cx="411480" cy="256032"/>
          </a:xfrm>
          <a:prstGeom prst="rect">
            <a:avLst/>
          </a:prstGeom>
          <a:noFill/>
          <a:effectLst/>
        </p:spPr>
        <p:txBody>
          <a:bodyPr wrap="square" lIns="0" rIns="0" tIns="0" bIns="0">
            <a:spAutoFit/>
          </a:bodyPr>
          <a:lstStyle/>
          <a:p>
            <a:pPr>
              <a:spcAft>
                <a:spcPts val="0"/>
              </a:spcAft>
              <a:defRPr sz="1600" b="0">
                <a:solidFill>
                  <a:srgbClr val="5B6570"/>
                </a:solidFill>
                <a:latin typeface="Aptos"/>
              </a:defRPr>
            </a:pPr>
            <a:r>
              <a:t>4</a:t>
            </a:r>
          </a:p>
        </p:txBody>
      </p:sp>
      <p:sp>
        <p:nvSpPr>
          <p:cNvPr id="35" name="TextBox 34"/>
          <p:cNvSpPr txBox="1"/>
          <p:nvPr/>
        </p:nvSpPr>
        <p:spPr>
          <a:xfrm>
            <a:off x="822960" y="6071616"/>
            <a:ext cx="10698480" cy="274320"/>
          </a:xfrm>
          <a:prstGeom prst="rect">
            <a:avLst/>
          </a:prstGeom>
          <a:noFill/>
          <a:effectLst/>
        </p:spPr>
        <p:txBody>
          <a:bodyPr wrap="square" lIns="0" rIns="0" tIns="0" bIns="0">
            <a:spAutoFit/>
          </a:bodyPr>
          <a:lstStyle/>
          <a:p>
            <a:pPr>
              <a:spcAft>
                <a:spcPts val="0"/>
              </a:spcAft>
              <a:defRPr sz="1700" b="0">
                <a:solidFill>
                  <a:srgbClr val="5B6570"/>
                </a:solidFill>
                <a:latin typeface="Aptos"/>
              </a:defRPr>
            </a:pPr>
            <a:r>
              <a:t>Full equation reconstructs the probability. These seven terms are a selection, not the complete sum.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THE TOOLS</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Three tools, three different questions</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05</a:t>
            </a:r>
          </a:p>
        </p:txBody>
      </p:sp>
      <p:graphicFrame>
        <p:nvGraphicFramePr>
          <p:cNvPr id="6" name="Table 5"/>
          <p:cNvGraphicFramePr>
            <a:graphicFrameLocks noGrp="1"/>
          </p:cNvGraphicFramePr>
          <p:nvPr/>
        </p:nvGraphicFramePr>
        <p:xfrm>
          <a:off x="594360" y="1463040"/>
          <a:ext cx="10972800" cy="4059936"/>
        </p:xfrm>
        <a:graphic>
          <a:graphicData uri="http://schemas.openxmlformats.org/drawingml/2006/table">
            <a:tbl>
              <a:tblPr firstRow="1" bandRow="1">
                <a:tableStyleId>{5C22544A-7EE6-4342-B048-85BDC9FD1C3A}</a:tableStyleId>
              </a:tblPr>
              <a:tblGrid>
                <a:gridCol w="1737360"/>
                <a:gridCol w="3078480"/>
                <a:gridCol w="3078480"/>
                <a:gridCol w="3078480"/>
              </a:tblGrid>
              <a:tr h="676656">
                <a:tc>
                  <a:txBody>
                    <a:bodyPr wrap="square"/>
                    <a:lstStyle/>
                    <a:p>
                      <a:pPr>
                        <a:defRPr sz="1600" b="1">
                          <a:solidFill>
                            <a:srgbClr val="24586B"/>
                          </a:solidFill>
                          <a:latin typeface="Aptos"/>
                        </a:defRPr>
                      </a:pPr>
                      <a:r>
                        <a:rPr sz="1600" b="1">
                          <a:solidFill>
                            <a:srgbClr val="24586B"/>
                          </a:solidFill>
                          <a:latin typeface="Aptos"/>
                        </a:rPr>
                        <a:t/>
                      </a:r>
                    </a:p>
                  </a:txBody>
                  <a:tcPr marL="128016" marR="109728" marT="54864" marB="45720" anchor="ctr">
                    <a:solidFill>
                      <a:srgbClr val="F3F5F6"/>
                    </a:solidFill>
                  </a:tcPr>
                </a:tc>
                <a:tc>
                  <a:txBody>
                    <a:bodyPr wrap="square"/>
                    <a:lstStyle/>
                    <a:p>
                      <a:pPr>
                        <a:defRPr sz="1600" b="1">
                          <a:solidFill>
                            <a:srgbClr val="24586B"/>
                          </a:solidFill>
                          <a:latin typeface="Aptos"/>
                        </a:defRPr>
                      </a:pPr>
                      <a:r>
                        <a:rPr sz="1600" b="1">
                          <a:solidFill>
                            <a:srgbClr val="24586B"/>
                          </a:solidFill>
                          <a:latin typeface="Aptos"/>
                        </a:rPr>
                        <a:t>SHAP</a:t>
                      </a:r>
                    </a:p>
                  </a:txBody>
                  <a:tcPr marL="128016" marR="109728" marT="54864" marB="45720" anchor="ctr">
                    <a:solidFill>
                      <a:srgbClr val="F3F5F6"/>
                    </a:solidFill>
                  </a:tcPr>
                </a:tc>
                <a:tc>
                  <a:txBody>
                    <a:bodyPr wrap="square"/>
                    <a:lstStyle/>
                    <a:p>
                      <a:pPr>
                        <a:defRPr sz="1600" b="1">
                          <a:solidFill>
                            <a:srgbClr val="24586B"/>
                          </a:solidFill>
                          <a:latin typeface="Aptos"/>
                        </a:defRPr>
                      </a:pPr>
                      <a:r>
                        <a:rPr sz="1600" b="1">
                          <a:solidFill>
                            <a:srgbClr val="24586B"/>
                          </a:solidFill>
                          <a:latin typeface="Aptos"/>
                        </a:rPr>
                        <a:t>LIME</a:t>
                      </a:r>
                    </a:p>
                  </a:txBody>
                  <a:tcPr marL="128016" marR="109728" marT="54864" marB="45720" anchor="ctr">
                    <a:solidFill>
                      <a:srgbClr val="F3F5F6"/>
                    </a:solidFill>
                  </a:tcPr>
                </a:tc>
                <a:tc>
                  <a:txBody>
                    <a:bodyPr wrap="square"/>
                    <a:lstStyle/>
                    <a:p>
                      <a:pPr>
                        <a:defRPr sz="1600" b="1">
                          <a:solidFill>
                            <a:srgbClr val="24586B"/>
                          </a:solidFill>
                          <a:latin typeface="Aptos"/>
                        </a:defRPr>
                      </a:pPr>
                      <a:r>
                        <a:rPr sz="1600" b="1">
                          <a:solidFill>
                            <a:srgbClr val="24586B"/>
                          </a:solidFill>
                          <a:latin typeface="Aptos"/>
                        </a:rPr>
                        <a:t>Counterfactuals</a:t>
                      </a:r>
                    </a:p>
                  </a:txBody>
                  <a:tcPr marL="128016" marR="109728" marT="54864" marB="45720" anchor="ctr">
                    <a:solidFill>
                      <a:srgbClr val="F3F5F6"/>
                    </a:solidFill>
                  </a:tcPr>
                </a:tc>
              </a:tr>
              <a:tr h="676656">
                <a:tc>
                  <a:txBody>
                    <a:bodyPr wrap="square"/>
                    <a:lstStyle/>
                    <a:p>
                      <a:pPr>
                        <a:defRPr sz="1600" b="0">
                          <a:solidFill>
                            <a:srgbClr val="20262D"/>
                          </a:solidFill>
                          <a:latin typeface="Aptos"/>
                        </a:defRPr>
                      </a:pPr>
                      <a:r>
                        <a:rPr sz="1600" b="1">
                          <a:solidFill>
                            <a:srgbClr val="20262D"/>
                          </a:solidFill>
                          <a:latin typeface="Aptos"/>
                        </a:rPr>
                        <a:t>Answers</a:t>
                      </a:r>
                    </a:p>
                  </a:txBody>
                  <a:tcPr marL="128016" marR="109728" marT="54864" marB="45720" anchor="ctr">
                    <a:solidFill>
                      <a:srgbClr val="F3F5F6"/>
                    </a:solidFill>
                  </a:tcPr>
                </a:tc>
                <a:tc>
                  <a:txBody>
                    <a:bodyPr wrap="square"/>
                    <a:lstStyle/>
                    <a:p>
                      <a:pPr>
                        <a:defRPr sz="1600" b="0">
                          <a:solidFill>
                            <a:srgbClr val="20262D"/>
                          </a:solidFill>
                          <a:latin typeface="Aptos"/>
                        </a:defRPr>
                      </a:pPr>
                      <a:r>
                        <a:rPr sz="1600" b="0">
                          <a:solidFill>
                            <a:srgbClr val="20262D"/>
                          </a:solidFill>
                          <a:latin typeface="Aptos"/>
                        </a:rPr>
                        <a:t>How much did each input push this score?</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What simple rule mimics the model near this point?</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What is the smallest change that flips the decision?</a:t>
                      </a:r>
                    </a:p>
                  </a:txBody>
                  <a:tcPr marL="128016" marR="109728" marT="54864" marB="45720" anchor="ctr">
                    <a:solidFill>
                      <a:srgbClr val="FFFFFF"/>
                    </a:solidFill>
                  </a:tcPr>
                </a:tc>
              </a:tr>
              <a:tr h="676656">
                <a:tc>
                  <a:txBody>
                    <a:bodyPr wrap="square"/>
                    <a:lstStyle/>
                    <a:p>
                      <a:pPr>
                        <a:defRPr sz="1600" b="0">
                          <a:solidFill>
                            <a:srgbClr val="20262D"/>
                          </a:solidFill>
                          <a:latin typeface="Aptos"/>
                        </a:defRPr>
                      </a:pPr>
                      <a:r>
                        <a:rPr sz="1600" b="1">
                          <a:solidFill>
                            <a:srgbClr val="20262D"/>
                          </a:solidFill>
                          <a:latin typeface="Aptos"/>
                        </a:rPr>
                        <a:t>Needs</a:t>
                      </a:r>
                    </a:p>
                  </a:txBody>
                  <a:tcPr marL="128016" marR="109728" marT="54864" marB="45720" anchor="ctr">
                    <a:solidFill>
                      <a:srgbClr val="F3F5F6"/>
                    </a:solidFill>
                  </a:tcPr>
                </a:tc>
                <a:tc>
                  <a:txBody>
                    <a:bodyPr wrap="square"/>
                    <a:lstStyle/>
                    <a:p>
                      <a:pPr>
                        <a:defRPr sz="1600" b="0">
                          <a:solidFill>
                            <a:srgbClr val="20262D"/>
                          </a:solidFill>
                          <a:latin typeface="Aptos"/>
                        </a:defRPr>
                      </a:pPr>
                      <a:r>
                        <a:rPr sz="1600" b="0">
                          <a:solidFill>
                            <a:srgbClr val="20262D"/>
                          </a:solidFill>
                          <a:latin typeface="Aptos"/>
                        </a:rPr>
                        <a:t>Model internals (exact and fast for trees)</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Only predictions</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Only predictions, plus rules on what can change</a:t>
                      </a:r>
                    </a:p>
                  </a:txBody>
                  <a:tcPr marL="128016" marR="109728" marT="54864" marB="45720" anchor="ctr">
                    <a:solidFill>
                      <a:srgbClr val="FFFFFF"/>
                    </a:solidFill>
                  </a:tcPr>
                </a:tc>
              </a:tr>
              <a:tr h="676656">
                <a:tc>
                  <a:txBody>
                    <a:bodyPr wrap="square"/>
                    <a:lstStyle/>
                    <a:p>
                      <a:pPr>
                        <a:defRPr sz="1600" b="0">
                          <a:solidFill>
                            <a:srgbClr val="20262D"/>
                          </a:solidFill>
                          <a:latin typeface="Aptos"/>
                        </a:defRPr>
                      </a:pPr>
                      <a:r>
                        <a:rPr sz="1600" b="1">
                          <a:solidFill>
                            <a:srgbClr val="20262D"/>
                          </a:solidFill>
                          <a:latin typeface="Aptos"/>
                        </a:rPr>
                        <a:t>Strength</a:t>
                      </a:r>
                    </a:p>
                  </a:txBody>
                  <a:tcPr marL="128016" marR="109728" marT="54864" marB="45720" anchor="ctr">
                    <a:solidFill>
                      <a:srgbClr val="F3F5F6"/>
                    </a:solidFill>
                  </a:tcPr>
                </a:tc>
                <a:tc>
                  <a:txBody>
                    <a:bodyPr wrap="square"/>
                    <a:lstStyle/>
                    <a:p>
                      <a:pPr>
                        <a:defRPr sz="1600" b="0">
                          <a:solidFill>
                            <a:srgbClr val="20262D"/>
                          </a:solidFill>
                          <a:latin typeface="Aptos"/>
                        </a:defRPr>
                      </a:pPr>
                      <a:r>
                        <a:rPr sz="1600" b="0">
                          <a:solidFill>
                            <a:srgbClr val="20262D"/>
                          </a:solidFill>
                          <a:latin typeface="Aptos"/>
                        </a:rPr>
                        <a:t>Exact, additive, deterministic</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Model-agnostic, intuitive</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Actionable; matches how customers think</a:t>
                      </a:r>
                    </a:p>
                  </a:txBody>
                  <a:tcPr marL="128016" marR="109728" marT="54864" marB="45720" anchor="ctr">
                    <a:solidFill>
                      <a:srgbClr val="FFFFFF"/>
                    </a:solidFill>
                  </a:tcPr>
                </a:tc>
              </a:tr>
              <a:tr h="676656">
                <a:tc>
                  <a:txBody>
                    <a:bodyPr wrap="square"/>
                    <a:lstStyle/>
                    <a:p>
                      <a:pPr>
                        <a:defRPr sz="1600" b="0">
                          <a:solidFill>
                            <a:srgbClr val="20262D"/>
                          </a:solidFill>
                          <a:latin typeface="Aptos"/>
                        </a:defRPr>
                      </a:pPr>
                      <a:r>
                        <a:rPr sz="1600" b="1">
                          <a:solidFill>
                            <a:srgbClr val="20262D"/>
                          </a:solidFill>
                          <a:latin typeface="Aptos"/>
                        </a:rPr>
                        <a:t>Weak spot</a:t>
                      </a:r>
                    </a:p>
                  </a:txBody>
                  <a:tcPr marL="128016" marR="109728" marT="54864" marB="45720" anchor="ctr">
                    <a:solidFill>
                      <a:srgbClr val="F3F5F6"/>
                    </a:solidFill>
                  </a:tcPr>
                </a:tc>
                <a:tc>
                  <a:txBody>
                    <a:bodyPr wrap="square"/>
                    <a:lstStyle/>
                    <a:p>
                      <a:pPr>
                        <a:defRPr sz="1600" b="0">
                          <a:solidFill>
                            <a:srgbClr val="20262D"/>
                          </a:solidFill>
                          <a:latin typeface="Aptos"/>
                        </a:defRPr>
                      </a:pPr>
                      <a:r>
                        <a:rPr sz="1600" b="0">
                          <a:solidFill>
                            <a:srgbClr val="20262D"/>
                          </a:solidFill>
                          <a:latin typeface="Aptos"/>
                        </a:rPr>
                        <a:t>Correlated features; slow for non-trees</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Unstable; tests unrealistic inputs</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Many valid answers; can be impossible or fragile</a:t>
                      </a:r>
                    </a:p>
                  </a:txBody>
                  <a:tcPr marL="128016" marR="109728" marT="54864" marB="45720" anchor="ctr">
                    <a:solidFill>
                      <a:srgbClr val="FFFFFF"/>
                    </a:solidFill>
                  </a:tcPr>
                </a:tc>
              </a:tr>
              <a:tr h="676656">
                <a:tc>
                  <a:txBody>
                    <a:bodyPr wrap="square"/>
                    <a:lstStyle/>
                    <a:p>
                      <a:pPr>
                        <a:defRPr sz="1600" b="0">
                          <a:solidFill>
                            <a:srgbClr val="20262D"/>
                          </a:solidFill>
                          <a:latin typeface="Aptos"/>
                        </a:defRPr>
                      </a:pPr>
                      <a:r>
                        <a:rPr sz="1600" b="1">
                          <a:solidFill>
                            <a:srgbClr val="20262D"/>
                          </a:solidFill>
                          <a:latin typeface="Aptos"/>
                        </a:rPr>
                        <a:t>Best use</a:t>
                      </a:r>
                    </a:p>
                  </a:txBody>
                  <a:tcPr marL="128016" marR="109728" marT="54864" marB="45720" anchor="ctr">
                    <a:solidFill>
                      <a:srgbClr val="F3F5F6"/>
                    </a:solidFill>
                  </a:tcPr>
                </a:tc>
                <a:tc>
                  <a:txBody>
                    <a:bodyPr wrap="square"/>
                    <a:lstStyle/>
                    <a:p>
                      <a:pPr>
                        <a:defRPr sz="1600" b="0">
                          <a:solidFill>
                            <a:srgbClr val="20262D"/>
                          </a:solidFill>
                          <a:latin typeface="Aptos"/>
                        </a:defRPr>
                      </a:pPr>
                      <a:r>
                        <a:rPr sz="1600" b="0">
                          <a:solidFill>
                            <a:srgbClr val="20262D"/>
                          </a:solidFill>
                          <a:latin typeface="Aptos"/>
                        </a:rPr>
                        <a:t>Adverse-action reasons, model validation</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Quick exploration, not decisions</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Customer recourse, fairness reviews</a:t>
                      </a:r>
                    </a:p>
                  </a:txBody>
                  <a:tcPr marL="128016" marR="109728" marT="54864" marB="45720"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02 / SHAP</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SHAP: split the prediction fairly</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06</a:t>
            </a:r>
          </a:p>
        </p:txBody>
      </p:sp>
      <p:sp>
        <p:nvSpPr>
          <p:cNvPr id="6" name="Rectangle 5"/>
          <p:cNvSpPr/>
          <p:nvPr/>
        </p:nvSpPr>
        <p:spPr>
          <a:xfrm>
            <a:off x="594360" y="1463040"/>
            <a:ext cx="384048" cy="384048"/>
          </a:xfrm>
          <a:prstGeom prst="rect">
            <a:avLst/>
          </a:prstGeom>
          <a:solidFill>
            <a:srgbClr val="24586B"/>
          </a:solidFill>
          <a:ln>
            <a:noFill/>
          </a:ln>
          <a:effectLst/>
        </p:spPr>
        <p:txBody>
          <a:bodyPr rtlCol="0" anchor="ctr" lIns="0" rIns="0" tIns="0" bIns="0"/>
          <a:lstStyle/>
          <a:p>
            <a:pPr algn="ctr">
              <a:defRPr sz="1600" b="1">
                <a:solidFill>
                  <a:srgbClr val="FFFFFF"/>
                </a:solidFill>
                <a:latin typeface="Aptos"/>
              </a:defRPr>
            </a:pPr>
            <a:r>
              <a:rPr sz="1600" b="1">
                <a:solidFill>
                  <a:srgbClr val="FFFFFF"/>
                </a:solidFill>
                <a:latin typeface="Aptos"/>
              </a:rPr>
              <a:t>1</a:t>
            </a:r>
          </a:p>
        </p:txBody>
      </p:sp>
      <p:sp>
        <p:nvSpPr>
          <p:cNvPr id="7" name="TextBox 6"/>
          <p:cNvSpPr txBox="1"/>
          <p:nvPr/>
        </p:nvSpPr>
        <p:spPr>
          <a:xfrm>
            <a:off x="1161288" y="1499616"/>
            <a:ext cx="4480560" cy="822960"/>
          </a:xfrm>
          <a:prstGeom prst="rect">
            <a:avLst/>
          </a:prstGeom>
          <a:noFill/>
        </p:spPr>
        <p:txBody>
          <a:bodyPr wrap="square" lIns="0" rIns="0" tIns="0" bIns="0">
            <a:spAutoFit/>
          </a:bodyPr>
          <a:lstStyle/>
          <a:p>
            <a:pPr>
              <a:spcAft>
                <a:spcPts val="0"/>
              </a:spcAft>
              <a:defRPr sz="1700" b="0">
                <a:solidFill>
                  <a:srgbClr val="20262D"/>
                </a:solidFill>
                <a:latin typeface="Aptos"/>
              </a:defRPr>
            </a:pPr>
            <a:r>
              <a:rPr sz="1700" b="0">
                <a:solidFill>
                  <a:srgbClr val="20262D"/>
                </a:solidFill>
                <a:latin typeface="Aptos"/>
              </a:rPr>
              <a:t>Features are players, the risk score is the payout.</a:t>
            </a:r>
          </a:p>
        </p:txBody>
      </p:sp>
      <p:sp>
        <p:nvSpPr>
          <p:cNvPr id="8" name="Rectangle 7"/>
          <p:cNvSpPr/>
          <p:nvPr/>
        </p:nvSpPr>
        <p:spPr>
          <a:xfrm>
            <a:off x="594360" y="2194560"/>
            <a:ext cx="384048" cy="384048"/>
          </a:xfrm>
          <a:prstGeom prst="rect">
            <a:avLst/>
          </a:prstGeom>
          <a:solidFill>
            <a:srgbClr val="24586B"/>
          </a:solidFill>
          <a:ln>
            <a:noFill/>
          </a:ln>
          <a:effectLst/>
        </p:spPr>
        <p:txBody>
          <a:bodyPr rtlCol="0" anchor="ctr" lIns="0" rIns="0" tIns="0" bIns="0"/>
          <a:lstStyle/>
          <a:p>
            <a:pPr algn="ctr">
              <a:defRPr sz="1600" b="1">
                <a:solidFill>
                  <a:srgbClr val="FFFFFF"/>
                </a:solidFill>
                <a:latin typeface="Aptos"/>
              </a:defRPr>
            </a:pPr>
            <a:r>
              <a:rPr sz="1600" b="1">
                <a:solidFill>
                  <a:srgbClr val="FFFFFF"/>
                </a:solidFill>
                <a:latin typeface="Aptos"/>
              </a:rPr>
              <a:t>2</a:t>
            </a:r>
          </a:p>
        </p:txBody>
      </p:sp>
      <p:sp>
        <p:nvSpPr>
          <p:cNvPr id="9" name="TextBox 8"/>
          <p:cNvSpPr txBox="1"/>
          <p:nvPr/>
        </p:nvSpPr>
        <p:spPr>
          <a:xfrm>
            <a:off x="1161288" y="2231136"/>
            <a:ext cx="4480560" cy="822960"/>
          </a:xfrm>
          <a:prstGeom prst="rect">
            <a:avLst/>
          </a:prstGeom>
          <a:noFill/>
        </p:spPr>
        <p:txBody>
          <a:bodyPr wrap="square" lIns="0" rIns="0" tIns="0" bIns="0">
            <a:spAutoFit/>
          </a:bodyPr>
          <a:lstStyle/>
          <a:p>
            <a:pPr>
              <a:spcAft>
                <a:spcPts val="0"/>
              </a:spcAft>
              <a:defRPr sz="1700" b="0">
                <a:solidFill>
                  <a:srgbClr val="20262D"/>
                </a:solidFill>
                <a:latin typeface="Aptos"/>
              </a:defRPr>
            </a:pPr>
            <a:r>
              <a:rPr sz="1700" b="0">
                <a:solidFill>
                  <a:srgbClr val="20262D"/>
                </a:solidFill>
                <a:latin typeface="Aptos"/>
              </a:rPr>
              <a:t>Each feature’s share is its average marginal contribution over every order features could join (Shapley, 1953).</a:t>
            </a:r>
          </a:p>
        </p:txBody>
      </p:sp>
      <p:sp>
        <p:nvSpPr>
          <p:cNvPr id="10" name="Rectangle 9"/>
          <p:cNvSpPr/>
          <p:nvPr/>
        </p:nvSpPr>
        <p:spPr>
          <a:xfrm>
            <a:off x="594360" y="3154680"/>
            <a:ext cx="384048" cy="384048"/>
          </a:xfrm>
          <a:prstGeom prst="rect">
            <a:avLst/>
          </a:prstGeom>
          <a:solidFill>
            <a:srgbClr val="24586B"/>
          </a:solidFill>
          <a:ln>
            <a:noFill/>
          </a:ln>
          <a:effectLst/>
        </p:spPr>
        <p:txBody>
          <a:bodyPr rtlCol="0" anchor="ctr" lIns="0" rIns="0" tIns="0" bIns="0"/>
          <a:lstStyle/>
          <a:p>
            <a:pPr algn="ctr">
              <a:defRPr sz="1600" b="1">
                <a:solidFill>
                  <a:srgbClr val="FFFFFF"/>
                </a:solidFill>
                <a:latin typeface="Aptos"/>
              </a:defRPr>
            </a:pPr>
            <a:r>
              <a:rPr sz="1600" b="1">
                <a:solidFill>
                  <a:srgbClr val="FFFFFF"/>
                </a:solidFill>
                <a:latin typeface="Aptos"/>
              </a:rPr>
              <a:t>3</a:t>
            </a:r>
          </a:p>
        </p:txBody>
      </p:sp>
      <p:sp>
        <p:nvSpPr>
          <p:cNvPr id="11" name="TextBox 10"/>
          <p:cNvSpPr txBox="1"/>
          <p:nvPr/>
        </p:nvSpPr>
        <p:spPr>
          <a:xfrm>
            <a:off x="1161288" y="3191256"/>
            <a:ext cx="4480560" cy="822960"/>
          </a:xfrm>
          <a:prstGeom prst="rect">
            <a:avLst/>
          </a:prstGeom>
          <a:noFill/>
        </p:spPr>
        <p:txBody>
          <a:bodyPr wrap="square" lIns="0" rIns="0" tIns="0" bIns="0">
            <a:spAutoFit/>
          </a:bodyPr>
          <a:lstStyle/>
          <a:p>
            <a:pPr>
              <a:spcAft>
                <a:spcPts val="0"/>
              </a:spcAft>
              <a:defRPr sz="1700" b="0">
                <a:solidFill>
                  <a:srgbClr val="20262D"/>
                </a:solidFill>
                <a:latin typeface="Aptos"/>
              </a:defRPr>
            </a:pPr>
            <a:r>
              <a:rPr sz="1700" b="0">
                <a:solidFill>
                  <a:srgbClr val="20262D"/>
                </a:solidFill>
                <a:latin typeface="Aptos"/>
              </a:rPr>
              <a:t>Shares add up exactly: average score + contributions = this applicant’s score.</a:t>
            </a:r>
          </a:p>
        </p:txBody>
      </p:sp>
      <p:sp>
        <p:nvSpPr>
          <p:cNvPr id="12" name="Rounded Rectangle 11"/>
          <p:cNvSpPr/>
          <p:nvPr/>
        </p:nvSpPr>
        <p:spPr>
          <a:xfrm>
            <a:off x="594360" y="4114800"/>
            <a:ext cx="5074920" cy="1463040"/>
          </a:xfrm>
          <a:prstGeom prst="roundRect">
            <a:avLst>
              <a:gd name="adj" fmla="val 8000"/>
            </a:avLst>
          </a:prstGeom>
          <a:solidFill>
            <a:srgbClr val="F3F5F6"/>
          </a:solidFill>
          <a:ln>
            <a:noFill/>
          </a:ln>
          <a:effectLst/>
        </p:spPr>
        <p:txBody>
          <a:bodyPr rtlCol="0" anchor="ctr"/>
          <a:lstStyle/>
          <a:p>
            <a:pPr algn="ctr"/>
          </a:p>
        </p:txBody>
      </p:sp>
      <p:sp>
        <p:nvSpPr>
          <p:cNvPr id="13" name="TextBox 12"/>
          <p:cNvSpPr txBox="1"/>
          <p:nvPr/>
        </p:nvSpPr>
        <p:spPr>
          <a:xfrm>
            <a:off x="822960" y="4251960"/>
            <a:ext cx="4663440" cy="274320"/>
          </a:xfrm>
          <a:prstGeom prst="rect">
            <a:avLst/>
          </a:prstGeom>
          <a:noFill/>
        </p:spPr>
        <p:txBody>
          <a:bodyPr wrap="square" lIns="0" rIns="0" tIns="0" bIns="0">
            <a:spAutoFit/>
          </a:bodyPr>
          <a:lstStyle/>
          <a:p>
            <a:pPr>
              <a:spcAft>
                <a:spcPts val="0"/>
              </a:spcAft>
              <a:defRPr sz="1700" b="1">
                <a:solidFill>
                  <a:srgbClr val="20262D"/>
                </a:solidFill>
                <a:latin typeface="Aptos"/>
              </a:defRPr>
            </a:pPr>
            <a:r>
              <a:rPr sz="1700" b="1">
                <a:solidFill>
                  <a:srgbClr val="20262D"/>
                </a:solidFill>
                <a:latin typeface="Aptos"/>
              </a:rPr>
              <a:t>Client 24155</a:t>
            </a:r>
          </a:p>
        </p:txBody>
      </p:sp>
      <p:sp>
        <p:nvSpPr>
          <p:cNvPr id="14" name="TextBox 13"/>
          <p:cNvSpPr txBox="1"/>
          <p:nvPr/>
        </p:nvSpPr>
        <p:spPr>
          <a:xfrm>
            <a:off x="822960" y="4590288"/>
            <a:ext cx="4663440" cy="548640"/>
          </a:xfrm>
          <a:prstGeom prst="rect">
            <a:avLst/>
          </a:prstGeom>
          <a:noFill/>
        </p:spPr>
        <p:txBody>
          <a:bodyPr wrap="square" lIns="0" rIns="0" tIns="0" bIns="0">
            <a:spAutoFit/>
          </a:bodyPr>
          <a:lstStyle/>
          <a:p>
            <a:pPr>
              <a:spcAft>
                <a:spcPts val="0"/>
              </a:spcAft>
              <a:defRPr sz="1500" b="0">
                <a:solidFill>
                  <a:srgbClr val="5B6570"/>
                </a:solidFill>
                <a:latin typeface="Aptos"/>
              </a:defRPr>
            </a:pPr>
            <a:r>
              <a:rPr sz="1500" b="0">
                <a:solidFill>
                  <a:srgbClr val="5B6570"/>
                </a:solidFill>
                <a:latin typeface="Aptos"/>
              </a:rPr>
              <a:t>Limit NT$110,000 · 2 months late on each of the last 4 bills · bill NT$55,700</a:t>
            </a:r>
          </a:p>
        </p:txBody>
      </p:sp>
      <p:sp>
        <p:nvSpPr>
          <p:cNvPr id="15" name="TextBox 14"/>
          <p:cNvSpPr txBox="1"/>
          <p:nvPr/>
        </p:nvSpPr>
        <p:spPr>
          <a:xfrm>
            <a:off x="822960" y="5138928"/>
            <a:ext cx="4663440" cy="274320"/>
          </a:xfrm>
          <a:prstGeom prst="rect">
            <a:avLst/>
          </a:prstGeom>
          <a:noFill/>
        </p:spPr>
        <p:txBody>
          <a:bodyPr wrap="square" lIns="0" rIns="0" tIns="0" bIns="0">
            <a:spAutoFit/>
          </a:bodyPr>
          <a:lstStyle/>
          <a:p>
            <a:pPr>
              <a:spcAft>
                <a:spcPts val="0"/>
              </a:spcAft>
              <a:defRPr sz="1700" b="1">
                <a:solidFill>
                  <a:srgbClr val="B23A3A"/>
                </a:solidFill>
                <a:latin typeface="Aptos"/>
              </a:defRPr>
            </a:pPr>
            <a:r>
              <a:rPr sz="1700" b="1">
                <a:solidFill>
                  <a:srgbClr val="B23A3A"/>
                </a:solidFill>
                <a:latin typeface="Aptos"/>
              </a:rPr>
              <a:t>P(default) 70% → declined</a:t>
            </a:r>
          </a:p>
        </p:txBody>
      </p:sp>
      <p:pic>
        <p:nvPicPr>
          <p:cNvPr id="16" name="Picture 15" descr="cell6_0.png"/>
          <p:cNvPicPr>
            <a:picLocks noChangeAspect="1"/>
          </p:cNvPicPr>
          <p:nvPr/>
        </p:nvPicPr>
        <p:blipFill>
          <a:blip r:embed="rId2"/>
          <a:stretch>
            <a:fillRect/>
          </a:stretch>
        </p:blipFill>
        <p:spPr>
          <a:xfrm>
            <a:off x="5989320" y="1325880"/>
            <a:ext cx="5489614" cy="3931920"/>
          </a:xfrm>
          <a:prstGeom prst="rect">
            <a:avLst/>
          </a:prstGeom>
        </p:spPr>
      </p:pic>
      <p:sp>
        <p:nvSpPr>
          <p:cNvPr id="17" name="TextBox 16"/>
          <p:cNvSpPr txBox="1"/>
          <p:nvPr/>
        </p:nvSpPr>
        <p:spPr>
          <a:xfrm>
            <a:off x="5989320" y="5349240"/>
            <a:ext cx="5489614" cy="548640"/>
          </a:xfrm>
          <a:prstGeom prst="rect">
            <a:avLst/>
          </a:prstGeom>
          <a:noFill/>
        </p:spPr>
        <p:txBody>
          <a:bodyPr wrap="square" lIns="0" rIns="0" tIns="0" bIns="0">
            <a:spAutoFit/>
          </a:bodyPr>
          <a:lstStyle/>
          <a:p>
            <a:pPr>
              <a:spcAft>
                <a:spcPts val="0"/>
              </a:spcAft>
              <a:defRPr sz="1400" b="0">
                <a:solidFill>
                  <a:srgbClr val="5B6570"/>
                </a:solidFill>
                <a:latin typeface="Aptos"/>
              </a:defRPr>
            </a:pPr>
            <a:r>
              <a:rPr sz="1400" b="0">
                <a:solidFill>
                  <a:srgbClr val="5B6570"/>
                </a:solidFill>
                <a:latin typeface="Aptos"/>
              </a:rPr>
              <a:t>TreeSHAP on our XGBoost model. Red pushes toward default, blue toward repayment. Being late in September alone moves the score from the 17% average to 52%.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02 / SHAP</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SHAP: same top reason, then the models split</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07</a:t>
            </a:r>
          </a:p>
        </p:txBody>
      </p:sp>
      <p:sp>
        <p:nvSpPr>
          <p:cNvPr id="6" name="TextBox 5"/>
          <p:cNvSpPr txBox="1"/>
          <p:nvPr/>
        </p:nvSpPr>
        <p:spPr>
          <a:xfrm>
            <a:off x="594360" y="1325880"/>
            <a:ext cx="10972800" cy="320040"/>
          </a:xfrm>
          <a:prstGeom prst="rect">
            <a:avLst/>
          </a:prstGeom>
          <a:noFill/>
        </p:spPr>
        <p:txBody>
          <a:bodyPr wrap="square" lIns="0" rIns="0" tIns="0" bIns="0">
            <a:spAutoFit/>
          </a:bodyPr>
          <a:lstStyle/>
          <a:p>
            <a:pPr>
              <a:spcAft>
                <a:spcPts val="0"/>
              </a:spcAft>
              <a:defRPr sz="1700" b="0">
                <a:solidFill>
                  <a:srgbClr val="24586B"/>
                </a:solidFill>
                <a:latin typeface="Aptos"/>
              </a:defRPr>
            </a:pPr>
            <a:r>
              <a:rPr sz="1700" b="0">
                <a:solidFill>
                  <a:srgbClr val="24586B"/>
                </a:solidFill>
                <a:latin typeface="Aptos"/>
              </a:rPr>
              <a:t>Client 24155 · each input's push on the score, in log-odds · # = rank among 23 inputs</a:t>
            </a:r>
          </a:p>
        </p:txBody>
      </p:sp>
      <p:graphicFrame>
        <p:nvGraphicFramePr>
          <p:cNvPr id="7" name="Table 6"/>
          <p:cNvGraphicFramePr>
            <a:graphicFrameLocks noGrp="1"/>
          </p:cNvGraphicFramePr>
          <p:nvPr/>
        </p:nvGraphicFramePr>
        <p:xfrm>
          <a:off x="594360" y="1828800"/>
          <a:ext cx="6766560" cy="3328416"/>
        </p:xfrm>
        <a:graphic>
          <a:graphicData uri="http://schemas.openxmlformats.org/drawingml/2006/table">
            <a:tbl>
              <a:tblPr firstRow="1" bandRow="1">
                <a:tableStyleId>{5C22544A-7EE6-4342-B048-85BDC9FD1C3A}</a:tableStyleId>
              </a:tblPr>
              <a:tblGrid>
                <a:gridCol w="2651760"/>
                <a:gridCol w="2057400"/>
                <a:gridCol w="2057400"/>
              </a:tblGrid>
              <a:tr h="475488">
                <a:tc>
                  <a:txBody>
                    <a:bodyPr wrap="square"/>
                    <a:lstStyle/>
                    <a:p>
                      <a:pPr>
                        <a:defRPr sz="1800" b="1">
                          <a:solidFill>
                            <a:srgbClr val="24586B"/>
                          </a:solidFill>
                          <a:latin typeface="Aptos"/>
                        </a:defRPr>
                      </a:pPr>
                      <a:r>
                        <a:rPr sz="1800" b="1">
                          <a:solidFill>
                            <a:srgbClr val="24586B"/>
                          </a:solidFill>
                          <a:latin typeface="Aptos"/>
                        </a:rPr>
                        <a:t>Input</a:t>
                      </a:r>
                    </a:p>
                  </a:txBody>
                  <a:tcPr marL="128016" marR="109728" marT="54864" marB="45720" anchor="ctr">
                    <a:solidFill>
                      <a:srgbClr val="F3F5F6"/>
                    </a:solidFill>
                  </a:tcPr>
                </a:tc>
                <a:tc>
                  <a:txBody>
                    <a:bodyPr wrap="square"/>
                    <a:lstStyle/>
                    <a:p>
                      <a:pPr>
                        <a:defRPr sz="1800" b="1">
                          <a:solidFill>
                            <a:srgbClr val="24586B"/>
                          </a:solidFill>
                          <a:latin typeface="Aptos"/>
                        </a:defRPr>
                      </a:pPr>
                      <a:r>
                        <a:rPr sz="1800" b="1">
                          <a:solidFill>
                            <a:srgbClr val="24586B"/>
                          </a:solidFill>
                          <a:latin typeface="Aptos"/>
                        </a:rPr>
                        <a:t>XGBoost</a:t>
                      </a:r>
                    </a:p>
                  </a:txBody>
                  <a:tcPr marL="128016" marR="109728" marT="54864" marB="45720" anchor="ctr">
                    <a:solidFill>
                      <a:srgbClr val="F3F5F6"/>
                    </a:solidFill>
                  </a:tcPr>
                </a:tc>
                <a:tc>
                  <a:txBody>
                    <a:bodyPr wrap="square"/>
                    <a:lstStyle/>
                    <a:p>
                      <a:pPr>
                        <a:defRPr sz="1800" b="1">
                          <a:solidFill>
                            <a:srgbClr val="24586B"/>
                          </a:solidFill>
                          <a:latin typeface="Aptos"/>
                        </a:defRPr>
                      </a:pPr>
                      <a:r>
                        <a:rPr sz="1800" b="1">
                          <a:solidFill>
                            <a:srgbClr val="24586B"/>
                          </a:solidFill>
                          <a:latin typeface="Aptos"/>
                        </a:rPr>
                        <a:t>Neural network</a:t>
                      </a:r>
                    </a:p>
                  </a:txBody>
                  <a:tcPr marL="128016" marR="109728" marT="54864" marB="45720" anchor="ctr">
                    <a:solidFill>
                      <a:srgbClr val="F3F5F6"/>
                    </a:solidFill>
                  </a:tcPr>
                </a:tc>
              </a:tr>
              <a:tr h="475488">
                <a:tc>
                  <a:txBody>
                    <a:bodyPr wrap="square"/>
                    <a:lstStyle/>
                    <a:p>
                      <a:pPr>
                        <a:defRPr sz="1800" b="0">
                          <a:solidFill>
                            <a:srgbClr val="20262D"/>
                          </a:solidFill>
                          <a:latin typeface="Aptos"/>
                        </a:defRPr>
                      </a:pPr>
                      <a:r>
                        <a:rPr sz="1800" b="0">
                          <a:solidFill>
                            <a:srgbClr val="20262D"/>
                          </a:solidFill>
                          <a:latin typeface="Aptos"/>
                        </a:rPr>
                        <a:t>P(default)</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70.0%</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58.5%</a:t>
                      </a:r>
                    </a:p>
                  </a:txBody>
                  <a:tcPr marL="128016" marR="109728" marT="54864" marB="45720" anchor="ctr">
                    <a:solidFill>
                      <a:srgbClr val="FFFFFF"/>
                    </a:solidFill>
                  </a:tcPr>
                </a:tc>
              </a:tr>
              <a:tr h="475488">
                <a:tc>
                  <a:txBody>
                    <a:bodyPr wrap="square"/>
                    <a:lstStyle/>
                    <a:p>
                      <a:pPr>
                        <a:defRPr sz="1800" b="0">
                          <a:solidFill>
                            <a:srgbClr val="20262D"/>
                          </a:solidFill>
                          <a:latin typeface="Aptos"/>
                        </a:defRPr>
                      </a:pPr>
                      <a:r>
                        <a:rPr sz="1800" b="0">
                          <a:solidFill>
                            <a:srgbClr val="20262D"/>
                          </a:solidFill>
                          <a:latin typeface="Aptos"/>
                        </a:rPr>
                        <a:t>Late, September</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+1.64</a:t>
                      </a:r>
                      <a:r>
                        <a:rPr sz="1300" b="0">
                          <a:solidFill>
                            <a:srgbClr val="5B6570"/>
                          </a:solidFill>
                          <a:latin typeface="Aptos"/>
                        </a:rPr>
                        <a:t>  #1</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+1.35</a:t>
                      </a:r>
                      <a:r>
                        <a:rPr sz="1300" b="0">
                          <a:solidFill>
                            <a:srgbClr val="5B6570"/>
                          </a:solidFill>
                          <a:latin typeface="Aptos"/>
                        </a:rPr>
                        <a:t>  #1</a:t>
                      </a:r>
                    </a:p>
                  </a:txBody>
                  <a:tcPr marL="128016" marR="109728" marT="54864" marB="45720" anchor="ctr">
                    <a:solidFill>
                      <a:srgbClr val="FFFFFF"/>
                    </a:solidFill>
                  </a:tcPr>
                </a:tc>
              </a:tr>
              <a:tr h="475488">
                <a:tc>
                  <a:txBody>
                    <a:bodyPr wrap="square"/>
                    <a:lstStyle/>
                    <a:p>
                      <a:pPr>
                        <a:defRPr sz="1800" b="0">
                          <a:solidFill>
                            <a:srgbClr val="20262D"/>
                          </a:solidFill>
                          <a:latin typeface="Aptos"/>
                        </a:defRPr>
                      </a:pPr>
                      <a:r>
                        <a:rPr sz="1800" b="0">
                          <a:solidFill>
                            <a:srgbClr val="20262D"/>
                          </a:solidFill>
                          <a:latin typeface="Aptos"/>
                        </a:rPr>
                        <a:t>Late, August</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+0.27</a:t>
                      </a:r>
                      <a:r>
                        <a:rPr sz="1300" b="0">
                          <a:solidFill>
                            <a:srgbClr val="5B6570"/>
                          </a:solidFill>
                          <a:latin typeface="Aptos"/>
                        </a:rPr>
                        <a:t>  #3</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&lt; 0.02</a:t>
                      </a:r>
                    </a:p>
                  </a:txBody>
                  <a:tcPr marL="128016" marR="109728" marT="54864" marB="45720" anchor="ctr">
                    <a:solidFill>
                      <a:srgbClr val="FFFFFF"/>
                    </a:solidFill>
                  </a:tcPr>
                </a:tc>
              </a:tr>
              <a:tr h="475488">
                <a:tc>
                  <a:txBody>
                    <a:bodyPr wrap="square"/>
                    <a:lstStyle/>
                    <a:p>
                      <a:pPr>
                        <a:defRPr sz="1800" b="0">
                          <a:solidFill>
                            <a:srgbClr val="20262D"/>
                          </a:solidFill>
                          <a:latin typeface="Aptos"/>
                        </a:defRPr>
                      </a:pPr>
                      <a:r>
                        <a:rPr sz="1800" b="0">
                          <a:solidFill>
                            <a:srgbClr val="20262D"/>
                          </a:solidFill>
                          <a:latin typeface="Aptos"/>
                        </a:rPr>
                        <a:t>Late, July</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+0.29</a:t>
                      </a:r>
                      <a:r>
                        <a:rPr sz="1300" b="0">
                          <a:solidFill>
                            <a:srgbClr val="5B6570"/>
                          </a:solidFill>
                          <a:latin typeface="Aptos"/>
                        </a:rPr>
                        <a:t>  #2</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+0.08</a:t>
                      </a:r>
                      <a:r>
                        <a:rPr sz="1300" b="0">
                          <a:solidFill>
                            <a:srgbClr val="5B6570"/>
                          </a:solidFill>
                          <a:latin typeface="Aptos"/>
                        </a:rPr>
                        <a:t>  #4</a:t>
                      </a:r>
                    </a:p>
                  </a:txBody>
                  <a:tcPr marL="128016" marR="109728" marT="54864" marB="45720" anchor="ctr">
                    <a:solidFill>
                      <a:srgbClr val="FFFFFF"/>
                    </a:solidFill>
                  </a:tcPr>
                </a:tc>
              </a:tr>
              <a:tr h="475488">
                <a:tc>
                  <a:txBody>
                    <a:bodyPr wrap="square"/>
                    <a:lstStyle/>
                    <a:p>
                      <a:pPr>
                        <a:defRPr sz="1800" b="0">
                          <a:solidFill>
                            <a:srgbClr val="20262D"/>
                          </a:solidFill>
                          <a:latin typeface="Aptos"/>
                        </a:defRPr>
                      </a:pPr>
                      <a:r>
                        <a:rPr sz="1800" b="0">
                          <a:solidFill>
                            <a:srgbClr val="20262D"/>
                          </a:solidFill>
                          <a:latin typeface="Aptos"/>
                        </a:rPr>
                        <a:t>Late, June</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+0.18</a:t>
                      </a:r>
                      <a:r>
                        <a:rPr sz="1300" b="0">
                          <a:solidFill>
                            <a:srgbClr val="5B6570"/>
                          </a:solidFill>
                          <a:latin typeface="Aptos"/>
                        </a:rPr>
                        <a:t>  #4</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+0.28</a:t>
                      </a:r>
                      <a:r>
                        <a:rPr sz="1300" b="0">
                          <a:solidFill>
                            <a:srgbClr val="5B6570"/>
                          </a:solidFill>
                          <a:latin typeface="Aptos"/>
                        </a:rPr>
                        <a:t>  #2</a:t>
                      </a:r>
                    </a:p>
                  </a:txBody>
                  <a:tcPr marL="128016" marR="109728" marT="54864" marB="45720" anchor="ctr">
                    <a:solidFill>
                      <a:srgbClr val="FFFFFF"/>
                    </a:solidFill>
                  </a:tcPr>
                </a:tc>
              </a:tr>
              <a:tr h="475488">
                <a:tc>
                  <a:txBody>
                    <a:bodyPr wrap="square"/>
                    <a:lstStyle/>
                    <a:p>
                      <a:pPr>
                        <a:defRPr sz="1800" b="0">
                          <a:solidFill>
                            <a:srgbClr val="20262D"/>
                          </a:solidFill>
                          <a:latin typeface="Aptos"/>
                        </a:defRPr>
                      </a:pPr>
                      <a:r>
                        <a:rPr sz="1800" b="0">
                          <a:solidFill>
                            <a:srgbClr val="20262D"/>
                          </a:solidFill>
                          <a:latin typeface="Aptos"/>
                        </a:rPr>
                        <a:t>Credit limit</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+0.08</a:t>
                      </a:r>
                      <a:r>
                        <a:rPr sz="1300" b="0">
                          <a:solidFill>
                            <a:srgbClr val="5B6570"/>
                          </a:solidFill>
                          <a:latin typeface="Aptos"/>
                        </a:rPr>
                        <a:t>  #6</a:t>
                      </a:r>
                    </a:p>
                  </a:txBody>
                  <a:tcPr marL="128016" marR="109728" marT="54864" marB="45720" anchor="ctr">
                    <a:solidFill>
                      <a:srgbClr val="FFFFFF"/>
                    </a:solidFill>
                  </a:tcPr>
                </a:tc>
                <a:tc>
                  <a:txBody>
                    <a:bodyPr wrap="square"/>
                    <a:lstStyle/>
                    <a:p>
                      <a:pPr>
                        <a:defRPr sz="1800" b="0">
                          <a:solidFill>
                            <a:srgbClr val="20262D"/>
                          </a:solidFill>
                          <a:latin typeface="Aptos"/>
                        </a:defRPr>
                      </a:pPr>
                      <a:r>
                        <a:rPr sz="1800" b="0">
                          <a:solidFill>
                            <a:srgbClr val="20262D"/>
                          </a:solidFill>
                          <a:latin typeface="Aptos"/>
                        </a:rPr>
                        <a:t>+0.09</a:t>
                      </a:r>
                      <a:r>
                        <a:rPr sz="1300" b="0">
                          <a:solidFill>
                            <a:srgbClr val="5B6570"/>
                          </a:solidFill>
                          <a:latin typeface="Aptos"/>
                        </a:rPr>
                        <a:t>  #3</a:t>
                      </a:r>
                    </a:p>
                  </a:txBody>
                  <a:tcPr marL="128016" marR="109728" marT="54864" marB="45720" anchor="ctr">
                    <a:solidFill>
                      <a:srgbClr val="FFFFFF"/>
                    </a:solidFill>
                  </a:tcPr>
                </a:tc>
              </a:tr>
            </a:tbl>
          </a:graphicData>
        </a:graphic>
      </p:graphicFrame>
      <p:sp>
        <p:nvSpPr>
          <p:cNvPr id="8" name="TextBox 7"/>
          <p:cNvSpPr txBox="1"/>
          <p:nvPr/>
        </p:nvSpPr>
        <p:spPr>
          <a:xfrm>
            <a:off x="7818120" y="1828800"/>
            <a:ext cx="3749039" cy="548640"/>
          </a:xfrm>
          <a:prstGeom prst="rect">
            <a:avLst/>
          </a:prstGeom>
          <a:noFill/>
        </p:spPr>
        <p:txBody>
          <a:bodyPr wrap="square" lIns="0" rIns="0" tIns="0" bIns="0">
            <a:spAutoFit/>
          </a:bodyPr>
          <a:lstStyle/>
          <a:p>
            <a:pPr>
              <a:spcAft>
                <a:spcPts val="0"/>
              </a:spcAft>
              <a:defRPr sz="3400" b="1">
                <a:solidFill>
                  <a:srgbClr val="24586B"/>
                </a:solidFill>
                <a:latin typeface="Georgia"/>
              </a:defRPr>
            </a:pPr>
            <a:r>
              <a:rPr sz="3400" b="1">
                <a:solidFill>
                  <a:srgbClr val="24586B"/>
                </a:solidFill>
                <a:latin typeface="Georgia"/>
              </a:rPr>
              <a:t>Exact</a:t>
            </a:r>
          </a:p>
        </p:txBody>
      </p:sp>
      <p:sp>
        <p:nvSpPr>
          <p:cNvPr id="9" name="TextBox 8"/>
          <p:cNvSpPr txBox="1"/>
          <p:nvPr/>
        </p:nvSpPr>
        <p:spPr>
          <a:xfrm>
            <a:off x="7818120" y="2450592"/>
            <a:ext cx="3749039" cy="64008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TreeSHAP reads XGBoost’s trees: the parts add up to its 70% exactly.</a:t>
            </a:r>
          </a:p>
        </p:txBody>
      </p:sp>
      <p:sp>
        <p:nvSpPr>
          <p:cNvPr id="10" name="Rectangle 9"/>
          <p:cNvSpPr/>
          <p:nvPr/>
        </p:nvSpPr>
        <p:spPr>
          <a:xfrm>
            <a:off x="7818120" y="3246120"/>
            <a:ext cx="3749039" cy="10972"/>
          </a:xfrm>
          <a:prstGeom prst="rect">
            <a:avLst/>
          </a:prstGeom>
          <a:solidFill>
            <a:srgbClr val="DDE2E5"/>
          </a:solidFill>
          <a:ln>
            <a:noFill/>
          </a:ln>
          <a:effectLst/>
        </p:spPr>
        <p:txBody>
          <a:bodyPr rtlCol="0" anchor="ctr"/>
          <a:lstStyle/>
          <a:p>
            <a:pPr algn="ctr"/>
          </a:p>
        </p:txBody>
      </p:sp>
      <p:sp>
        <p:nvSpPr>
          <p:cNvPr id="11" name="TextBox 10"/>
          <p:cNvSpPr txBox="1"/>
          <p:nvPr/>
        </p:nvSpPr>
        <p:spPr>
          <a:xfrm>
            <a:off x="7818120" y="3429000"/>
            <a:ext cx="3749039" cy="548640"/>
          </a:xfrm>
          <a:prstGeom prst="rect">
            <a:avLst/>
          </a:prstGeom>
          <a:noFill/>
        </p:spPr>
        <p:txBody>
          <a:bodyPr wrap="square" lIns="0" rIns="0" tIns="0" bIns="0">
            <a:spAutoFit/>
          </a:bodyPr>
          <a:lstStyle/>
          <a:p>
            <a:pPr>
              <a:spcAft>
                <a:spcPts val="0"/>
              </a:spcAft>
              <a:defRPr sz="3400" b="1">
                <a:solidFill>
                  <a:srgbClr val="24586B"/>
                </a:solidFill>
                <a:latin typeface="Georgia"/>
              </a:defRPr>
            </a:pPr>
            <a:r>
              <a:rPr sz="3400" b="1">
                <a:solidFill>
                  <a:srgbClr val="24586B"/>
                </a:solidFill>
                <a:latin typeface="Georgia"/>
              </a:rPr>
              <a:t>Estimated</a:t>
            </a:r>
          </a:p>
        </p:txBody>
      </p:sp>
      <p:sp>
        <p:nvSpPr>
          <p:cNvPr id="12" name="TextBox 11"/>
          <p:cNvSpPr txBox="1"/>
          <p:nvPr/>
        </p:nvSpPr>
        <p:spPr>
          <a:xfrm>
            <a:off x="7818120" y="4050792"/>
            <a:ext cx="3749039" cy="64008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The network can only be probed: Kernel SHAP samples it against 100 real clients. Five re-runs kept the same top 4.</a:t>
            </a:r>
          </a:p>
        </p:txBody>
      </p:sp>
      <p:sp>
        <p:nvSpPr>
          <p:cNvPr id="13" name="TextBox 12"/>
          <p:cNvSpPr txBox="1"/>
          <p:nvPr/>
        </p:nvSpPr>
        <p:spPr>
          <a:xfrm>
            <a:off x="594360" y="5760720"/>
            <a:ext cx="10972800" cy="365760"/>
          </a:xfrm>
          <a:prstGeom prst="rect">
            <a:avLst/>
          </a:prstGeom>
          <a:noFill/>
        </p:spPr>
        <p:txBody>
          <a:bodyPr wrap="square" lIns="0" rIns="0" tIns="0" bIns="0">
            <a:spAutoFit/>
          </a:bodyPr>
          <a:lstStyle/>
          <a:p>
            <a:pPr>
              <a:spcAft>
                <a:spcPts val="0"/>
              </a:spcAft>
              <a:defRPr sz="1800" b="1">
                <a:solidFill>
                  <a:srgbClr val="24586B"/>
                </a:solidFill>
                <a:latin typeface="Georgia"/>
              </a:defRPr>
            </a:pPr>
            <a:r>
              <a:rPr sz="1800" b="1">
                <a:solidFill>
                  <a:srgbClr val="24586B"/>
                </a:solidFill>
                <a:latin typeface="Georgia"/>
              </a:rPr>
              <a:t>Past the #1 reason, each model leans on different late months.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02 / SHAP</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Copy one input, and SHAP splits its credit</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08</a:t>
            </a:r>
          </a:p>
        </p:txBody>
      </p:sp>
      <p:sp>
        <p:nvSpPr>
          <p:cNvPr id="6" name="TextBox 5"/>
          <p:cNvSpPr txBox="1"/>
          <p:nvPr/>
        </p:nvSpPr>
        <p:spPr>
          <a:xfrm>
            <a:off x="594360" y="1325880"/>
            <a:ext cx="10972800" cy="320040"/>
          </a:xfrm>
          <a:prstGeom prst="rect">
            <a:avLst/>
          </a:prstGeom>
          <a:noFill/>
        </p:spPr>
        <p:txBody>
          <a:bodyPr wrap="square" lIns="0" rIns="0" tIns="0" bIns="0">
            <a:spAutoFit/>
          </a:bodyPr>
          <a:lstStyle/>
          <a:p>
            <a:pPr>
              <a:spcAft>
                <a:spcPts val="0"/>
              </a:spcAft>
              <a:defRPr sz="1700" b="0">
                <a:solidFill>
                  <a:srgbClr val="24586B"/>
                </a:solidFill>
                <a:latin typeface="Aptos"/>
              </a:defRPr>
            </a:pPr>
            <a:r>
              <a:rPr sz="1700" b="0">
                <a:solidFill>
                  <a:srgbClr val="24586B"/>
                </a:solidFill>
                <a:latin typeface="Aptos"/>
              </a:rPr>
              <a:t>XGBoost retrained with an exact copy of PAY_0 (late, September) · client 24155</a:t>
            </a:r>
          </a:p>
        </p:txBody>
      </p:sp>
      <p:graphicFrame>
        <p:nvGraphicFramePr>
          <p:cNvPr id="7" name="Chart 6"/>
          <p:cNvGraphicFramePr>
            <a:graphicFrameLocks noGrp="1"/>
          </p:cNvGraphicFramePr>
          <p:nvPr/>
        </p:nvGraphicFramePr>
        <p:xfrm>
          <a:off x="594360" y="1828800"/>
          <a:ext cx="6949440" cy="3108960"/>
        </p:xfrm>
        <a:graphic>
          <a:graphicData uri="http://schemas.openxmlformats.org/drawingml/2006/chart">
            <c:chart xmlns:c="http://schemas.openxmlformats.org/drawingml/2006/chart" r:id="rId2"/>
          </a:graphicData>
        </a:graphic>
      </p:graphicFrame>
      <p:sp>
        <p:nvSpPr>
          <p:cNvPr id="8" name="TextBox 7"/>
          <p:cNvSpPr txBox="1"/>
          <p:nvPr/>
        </p:nvSpPr>
        <p:spPr>
          <a:xfrm>
            <a:off x="7818120" y="1828800"/>
            <a:ext cx="3749039" cy="548640"/>
          </a:xfrm>
          <a:prstGeom prst="rect">
            <a:avLst/>
          </a:prstGeom>
          <a:noFill/>
        </p:spPr>
        <p:txBody>
          <a:bodyPr wrap="square" lIns="0" rIns="0" tIns="0" bIns="0">
            <a:spAutoFit/>
          </a:bodyPr>
          <a:lstStyle/>
          <a:p>
            <a:pPr>
              <a:spcAft>
                <a:spcPts val="0"/>
              </a:spcAft>
              <a:defRPr sz="3400" b="1">
                <a:solidFill>
                  <a:srgbClr val="24586B"/>
                </a:solidFill>
                <a:latin typeface="Georgia"/>
              </a:defRPr>
            </a:pPr>
            <a:r>
              <a:rPr sz="3400" b="1">
                <a:solidFill>
                  <a:srgbClr val="24586B"/>
                </a:solidFill>
                <a:latin typeface="Georgia"/>
              </a:rPr>
              <a:t>0.78 → 0.78</a:t>
            </a:r>
          </a:p>
        </p:txBody>
      </p:sp>
      <p:sp>
        <p:nvSpPr>
          <p:cNvPr id="9" name="TextBox 8"/>
          <p:cNvSpPr txBox="1"/>
          <p:nvPr/>
        </p:nvSpPr>
        <p:spPr>
          <a:xfrm>
            <a:off x="7818120" y="2450592"/>
            <a:ext cx="3749039" cy="64008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Test AUC. Same accuracy, no new information.</a:t>
            </a:r>
          </a:p>
        </p:txBody>
      </p:sp>
      <p:sp>
        <p:nvSpPr>
          <p:cNvPr id="10" name="Rectangle 9"/>
          <p:cNvSpPr/>
          <p:nvPr/>
        </p:nvSpPr>
        <p:spPr>
          <a:xfrm>
            <a:off x="7818120" y="3246120"/>
            <a:ext cx="3749039" cy="10972"/>
          </a:xfrm>
          <a:prstGeom prst="rect">
            <a:avLst/>
          </a:prstGeom>
          <a:solidFill>
            <a:srgbClr val="DDE2E5"/>
          </a:solidFill>
          <a:ln>
            <a:noFill/>
          </a:ln>
          <a:effectLst/>
        </p:spPr>
        <p:txBody>
          <a:bodyPr rtlCol="0" anchor="ctr"/>
          <a:lstStyle/>
          <a:p>
            <a:pPr algn="ctr"/>
          </a:p>
        </p:txBody>
      </p:sp>
      <p:sp>
        <p:nvSpPr>
          <p:cNvPr id="11" name="TextBox 10"/>
          <p:cNvSpPr txBox="1"/>
          <p:nvPr/>
        </p:nvSpPr>
        <p:spPr>
          <a:xfrm>
            <a:off x="7818120" y="3429000"/>
            <a:ext cx="3749039" cy="548640"/>
          </a:xfrm>
          <a:prstGeom prst="rect">
            <a:avLst/>
          </a:prstGeom>
          <a:noFill/>
        </p:spPr>
        <p:txBody>
          <a:bodyPr wrap="square" lIns="0" rIns="0" tIns="0" bIns="0">
            <a:spAutoFit/>
          </a:bodyPr>
          <a:lstStyle/>
          <a:p>
            <a:pPr>
              <a:spcAft>
                <a:spcPts val="0"/>
              </a:spcAft>
              <a:defRPr sz="3400" b="1">
                <a:solidFill>
                  <a:srgbClr val="24586B"/>
                </a:solidFill>
                <a:latin typeface="Georgia"/>
              </a:defRPr>
            </a:pPr>
            <a:r>
              <a:rPr sz="3400" b="1">
                <a:solidFill>
                  <a:srgbClr val="24586B"/>
                </a:solidFill>
                <a:latin typeface="Georgia"/>
              </a:rPr>
              <a:t>−23%</a:t>
            </a:r>
          </a:p>
        </p:txBody>
      </p:sp>
      <p:sp>
        <p:nvSpPr>
          <p:cNvPr id="12" name="TextBox 11"/>
          <p:cNvSpPr txBox="1"/>
          <p:nvPr/>
        </p:nvSpPr>
        <p:spPr>
          <a:xfrm>
            <a:off x="7818120" y="4050792"/>
            <a:ext cx="3749039" cy="64008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September’s own credit, now shared with a copy of itself.</a:t>
            </a:r>
          </a:p>
        </p:txBody>
      </p:sp>
      <p:sp>
        <p:nvSpPr>
          <p:cNvPr id="13" name="TextBox 12"/>
          <p:cNvSpPr txBox="1"/>
          <p:nvPr/>
        </p:nvSpPr>
        <p:spPr>
          <a:xfrm>
            <a:off x="594360" y="5257800"/>
            <a:ext cx="10972800" cy="365760"/>
          </a:xfrm>
          <a:prstGeom prst="rect">
            <a:avLst/>
          </a:prstGeom>
          <a:noFill/>
        </p:spPr>
        <p:txBody>
          <a:bodyPr wrap="square" lIns="0" rIns="0" tIns="0" bIns="0">
            <a:spAutoFit/>
          </a:bodyPr>
          <a:lstStyle/>
          <a:p>
            <a:pPr>
              <a:spcAft>
                <a:spcPts val="0"/>
              </a:spcAft>
              <a:defRPr sz="1800" b="1">
                <a:solidFill>
                  <a:srgbClr val="24586B"/>
                </a:solidFill>
                <a:latin typeface="Georgia"/>
              </a:defRPr>
            </a:pPr>
            <a:r>
              <a:rPr sz="1800" b="1">
                <a:solidFill>
                  <a:srgbClr val="24586B"/>
                </a:solidFill>
                <a:latin typeface="Georgia"/>
              </a:rPr>
              <a:t>Our late months and monthly bills overlap the same way, so how SHAP splits their credit is partly arbitrary.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03 / LIME</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LIME: zoom in and fit a simple model</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09</a:t>
            </a:r>
          </a:p>
        </p:txBody>
      </p:sp>
      <p:pic>
        <p:nvPicPr>
          <p:cNvPr id="6" name="Picture 5" descr="lime_concept.png"/>
          <p:cNvPicPr>
            <a:picLocks noChangeAspect="1"/>
          </p:cNvPicPr>
          <p:nvPr/>
        </p:nvPicPr>
        <p:blipFill>
          <a:blip r:embed="rId2"/>
          <a:stretch>
            <a:fillRect/>
          </a:stretch>
        </p:blipFill>
        <p:spPr>
          <a:xfrm>
            <a:off x="594360" y="1417320"/>
            <a:ext cx="4926871" cy="4206240"/>
          </a:xfrm>
          <a:prstGeom prst="rect">
            <a:avLst/>
          </a:prstGeom>
        </p:spPr>
      </p:pic>
      <p:sp>
        <p:nvSpPr>
          <p:cNvPr id="7" name="Rectangle 6"/>
          <p:cNvSpPr/>
          <p:nvPr/>
        </p:nvSpPr>
        <p:spPr>
          <a:xfrm>
            <a:off x="6035040" y="1463040"/>
            <a:ext cx="384048" cy="384048"/>
          </a:xfrm>
          <a:prstGeom prst="rect">
            <a:avLst/>
          </a:prstGeom>
          <a:solidFill>
            <a:srgbClr val="24586B"/>
          </a:solidFill>
          <a:ln>
            <a:noFill/>
          </a:ln>
          <a:effectLst/>
        </p:spPr>
        <p:txBody>
          <a:bodyPr rtlCol="0" anchor="ctr" lIns="0" rIns="0" tIns="0" bIns="0"/>
          <a:lstStyle/>
          <a:p>
            <a:pPr algn="ctr">
              <a:defRPr sz="1600" b="1">
                <a:solidFill>
                  <a:srgbClr val="FFFFFF"/>
                </a:solidFill>
                <a:latin typeface="Aptos"/>
              </a:defRPr>
            </a:pPr>
            <a:r>
              <a:rPr sz="1600" b="1">
                <a:solidFill>
                  <a:srgbClr val="FFFFFF"/>
                </a:solidFill>
                <a:latin typeface="Aptos"/>
              </a:rPr>
              <a:t>1</a:t>
            </a:r>
          </a:p>
        </p:txBody>
      </p:sp>
      <p:sp>
        <p:nvSpPr>
          <p:cNvPr id="8" name="TextBox 7"/>
          <p:cNvSpPr txBox="1"/>
          <p:nvPr/>
        </p:nvSpPr>
        <p:spPr>
          <a:xfrm>
            <a:off x="6601968" y="1517904"/>
            <a:ext cx="4965192" cy="457200"/>
          </a:xfrm>
          <a:prstGeom prst="rect">
            <a:avLst/>
          </a:prstGeom>
          <a:noFill/>
        </p:spPr>
        <p:txBody>
          <a:bodyPr wrap="square" lIns="0" rIns="0" tIns="0" bIns="0">
            <a:spAutoFit/>
          </a:bodyPr>
          <a:lstStyle/>
          <a:p>
            <a:pPr>
              <a:spcAft>
                <a:spcPts val="0"/>
              </a:spcAft>
              <a:defRPr sz="1700" b="0">
                <a:solidFill>
                  <a:srgbClr val="20262D"/>
                </a:solidFill>
                <a:latin typeface="Aptos"/>
              </a:defRPr>
            </a:pPr>
            <a:r>
              <a:rPr sz="1700" b="1">
                <a:solidFill>
                  <a:srgbClr val="20262D"/>
                </a:solidFill>
                <a:latin typeface="Aptos"/>
              </a:rPr>
              <a:t>Perturb  </a:t>
            </a:r>
            <a:r>
              <a:rPr sz="1700" b="0">
                <a:solidFill>
                  <a:srgbClr val="20262D"/>
                </a:solidFill>
                <a:latin typeface="Aptos"/>
              </a:rPr>
              <a:t>Create ~5,000 fake neighbours of the applicant.</a:t>
            </a:r>
          </a:p>
        </p:txBody>
      </p:sp>
      <p:sp>
        <p:nvSpPr>
          <p:cNvPr id="9" name="Rectangle 8"/>
          <p:cNvSpPr/>
          <p:nvPr/>
        </p:nvSpPr>
        <p:spPr>
          <a:xfrm>
            <a:off x="6035040" y="2176272"/>
            <a:ext cx="384048" cy="384048"/>
          </a:xfrm>
          <a:prstGeom prst="rect">
            <a:avLst/>
          </a:prstGeom>
          <a:solidFill>
            <a:srgbClr val="24586B"/>
          </a:solidFill>
          <a:ln>
            <a:noFill/>
          </a:ln>
          <a:effectLst/>
        </p:spPr>
        <p:txBody>
          <a:bodyPr rtlCol="0" anchor="ctr" lIns="0" rIns="0" tIns="0" bIns="0"/>
          <a:lstStyle/>
          <a:p>
            <a:pPr algn="ctr">
              <a:defRPr sz="1600" b="1">
                <a:solidFill>
                  <a:srgbClr val="FFFFFF"/>
                </a:solidFill>
                <a:latin typeface="Aptos"/>
              </a:defRPr>
            </a:pPr>
            <a:r>
              <a:rPr sz="1600" b="1">
                <a:solidFill>
                  <a:srgbClr val="FFFFFF"/>
                </a:solidFill>
                <a:latin typeface="Aptos"/>
              </a:rPr>
              <a:t>2</a:t>
            </a:r>
          </a:p>
        </p:txBody>
      </p:sp>
      <p:sp>
        <p:nvSpPr>
          <p:cNvPr id="10" name="TextBox 9"/>
          <p:cNvSpPr txBox="1"/>
          <p:nvPr/>
        </p:nvSpPr>
        <p:spPr>
          <a:xfrm>
            <a:off x="6601968" y="2231136"/>
            <a:ext cx="4965192" cy="457200"/>
          </a:xfrm>
          <a:prstGeom prst="rect">
            <a:avLst/>
          </a:prstGeom>
          <a:noFill/>
        </p:spPr>
        <p:txBody>
          <a:bodyPr wrap="square" lIns="0" rIns="0" tIns="0" bIns="0">
            <a:spAutoFit/>
          </a:bodyPr>
          <a:lstStyle/>
          <a:p>
            <a:pPr>
              <a:spcAft>
                <a:spcPts val="0"/>
              </a:spcAft>
              <a:defRPr sz="1700" b="0">
                <a:solidFill>
                  <a:srgbClr val="20262D"/>
                </a:solidFill>
                <a:latin typeface="Aptos"/>
              </a:defRPr>
            </a:pPr>
            <a:r>
              <a:rPr sz="1700" b="1">
                <a:solidFill>
                  <a:srgbClr val="20262D"/>
                </a:solidFill>
                <a:latin typeface="Aptos"/>
              </a:rPr>
              <a:t>Ask  </a:t>
            </a:r>
            <a:r>
              <a:rPr sz="1700" b="0">
                <a:solidFill>
                  <a:srgbClr val="20262D"/>
                </a:solidFill>
                <a:latin typeface="Aptos"/>
              </a:rPr>
              <a:t>Score every neighbour with the black box.</a:t>
            </a:r>
          </a:p>
        </p:txBody>
      </p:sp>
      <p:sp>
        <p:nvSpPr>
          <p:cNvPr id="11" name="Rectangle 10"/>
          <p:cNvSpPr/>
          <p:nvPr/>
        </p:nvSpPr>
        <p:spPr>
          <a:xfrm>
            <a:off x="6035040" y="2889504"/>
            <a:ext cx="384048" cy="384048"/>
          </a:xfrm>
          <a:prstGeom prst="rect">
            <a:avLst/>
          </a:prstGeom>
          <a:solidFill>
            <a:srgbClr val="24586B"/>
          </a:solidFill>
          <a:ln>
            <a:noFill/>
          </a:ln>
          <a:effectLst/>
        </p:spPr>
        <p:txBody>
          <a:bodyPr rtlCol="0" anchor="ctr" lIns="0" rIns="0" tIns="0" bIns="0"/>
          <a:lstStyle/>
          <a:p>
            <a:pPr algn="ctr">
              <a:defRPr sz="1600" b="1">
                <a:solidFill>
                  <a:srgbClr val="FFFFFF"/>
                </a:solidFill>
                <a:latin typeface="Aptos"/>
              </a:defRPr>
            </a:pPr>
            <a:r>
              <a:rPr sz="1600" b="1">
                <a:solidFill>
                  <a:srgbClr val="FFFFFF"/>
                </a:solidFill>
                <a:latin typeface="Aptos"/>
              </a:rPr>
              <a:t>3</a:t>
            </a:r>
          </a:p>
        </p:txBody>
      </p:sp>
      <p:sp>
        <p:nvSpPr>
          <p:cNvPr id="12" name="TextBox 11"/>
          <p:cNvSpPr txBox="1"/>
          <p:nvPr/>
        </p:nvSpPr>
        <p:spPr>
          <a:xfrm>
            <a:off x="6601968" y="2944368"/>
            <a:ext cx="4965192" cy="457200"/>
          </a:xfrm>
          <a:prstGeom prst="rect">
            <a:avLst/>
          </a:prstGeom>
          <a:noFill/>
        </p:spPr>
        <p:txBody>
          <a:bodyPr wrap="square" lIns="0" rIns="0" tIns="0" bIns="0">
            <a:spAutoFit/>
          </a:bodyPr>
          <a:lstStyle/>
          <a:p>
            <a:pPr>
              <a:spcAft>
                <a:spcPts val="0"/>
              </a:spcAft>
              <a:defRPr sz="1700" b="0">
                <a:solidFill>
                  <a:srgbClr val="20262D"/>
                </a:solidFill>
                <a:latin typeface="Aptos"/>
              </a:defRPr>
            </a:pPr>
            <a:r>
              <a:rPr sz="1700" b="1">
                <a:solidFill>
                  <a:srgbClr val="20262D"/>
                </a:solidFill>
                <a:latin typeface="Aptos"/>
              </a:rPr>
              <a:t>Weight  </a:t>
            </a:r>
            <a:r>
              <a:rPr sz="1700" b="0">
                <a:solidFill>
                  <a:srgbClr val="20262D"/>
                </a:solidFill>
                <a:latin typeface="Aptos"/>
              </a:rPr>
              <a:t>Close neighbours count more than far ones.</a:t>
            </a:r>
          </a:p>
        </p:txBody>
      </p:sp>
      <p:sp>
        <p:nvSpPr>
          <p:cNvPr id="13" name="Rectangle 12"/>
          <p:cNvSpPr/>
          <p:nvPr/>
        </p:nvSpPr>
        <p:spPr>
          <a:xfrm>
            <a:off x="6035040" y="3602736"/>
            <a:ext cx="384048" cy="384048"/>
          </a:xfrm>
          <a:prstGeom prst="rect">
            <a:avLst/>
          </a:prstGeom>
          <a:solidFill>
            <a:srgbClr val="24586B"/>
          </a:solidFill>
          <a:ln>
            <a:noFill/>
          </a:ln>
          <a:effectLst/>
        </p:spPr>
        <p:txBody>
          <a:bodyPr rtlCol="0" anchor="ctr" lIns="0" rIns="0" tIns="0" bIns="0"/>
          <a:lstStyle/>
          <a:p>
            <a:pPr algn="ctr">
              <a:defRPr sz="1600" b="1">
                <a:solidFill>
                  <a:srgbClr val="FFFFFF"/>
                </a:solidFill>
                <a:latin typeface="Aptos"/>
              </a:defRPr>
            </a:pPr>
            <a:r>
              <a:rPr sz="1600" b="1">
                <a:solidFill>
                  <a:srgbClr val="FFFFFF"/>
                </a:solidFill>
                <a:latin typeface="Aptos"/>
              </a:rPr>
              <a:t>4</a:t>
            </a:r>
          </a:p>
        </p:txBody>
      </p:sp>
      <p:sp>
        <p:nvSpPr>
          <p:cNvPr id="14" name="TextBox 13"/>
          <p:cNvSpPr txBox="1"/>
          <p:nvPr/>
        </p:nvSpPr>
        <p:spPr>
          <a:xfrm>
            <a:off x="6601968" y="3657600"/>
            <a:ext cx="4965192" cy="457200"/>
          </a:xfrm>
          <a:prstGeom prst="rect">
            <a:avLst/>
          </a:prstGeom>
          <a:noFill/>
        </p:spPr>
        <p:txBody>
          <a:bodyPr wrap="square" lIns="0" rIns="0" tIns="0" bIns="0">
            <a:spAutoFit/>
          </a:bodyPr>
          <a:lstStyle/>
          <a:p>
            <a:pPr>
              <a:spcAft>
                <a:spcPts val="0"/>
              </a:spcAft>
              <a:defRPr sz="1700" b="0">
                <a:solidFill>
                  <a:srgbClr val="20262D"/>
                </a:solidFill>
                <a:latin typeface="Aptos"/>
              </a:defRPr>
            </a:pPr>
            <a:r>
              <a:rPr sz="1700" b="1">
                <a:solidFill>
                  <a:srgbClr val="20262D"/>
                </a:solidFill>
                <a:latin typeface="Aptos"/>
              </a:rPr>
              <a:t>Fit  </a:t>
            </a:r>
            <a:r>
              <a:rPr sz="1700" b="0">
                <a:solidFill>
                  <a:srgbClr val="20262D"/>
                </a:solidFill>
                <a:latin typeface="Aptos"/>
              </a:rPr>
              <a:t>Fit a sparse linear model. Its weights are the explanation.</a:t>
            </a:r>
          </a:p>
        </p:txBody>
      </p:sp>
      <p:sp>
        <p:nvSpPr>
          <p:cNvPr id="15" name="Rounded Rectangle 14"/>
          <p:cNvSpPr/>
          <p:nvPr/>
        </p:nvSpPr>
        <p:spPr>
          <a:xfrm>
            <a:off x="6035040" y="4434840"/>
            <a:ext cx="2651760" cy="1188720"/>
          </a:xfrm>
          <a:prstGeom prst="roundRect">
            <a:avLst>
              <a:gd name="adj" fmla="val 8000"/>
            </a:avLst>
          </a:prstGeom>
          <a:solidFill>
            <a:srgbClr val="F3F5F6"/>
          </a:solidFill>
          <a:ln>
            <a:noFill/>
          </a:ln>
          <a:effectLst/>
        </p:spPr>
        <p:txBody>
          <a:bodyPr rtlCol="0" anchor="ctr"/>
          <a:lstStyle/>
          <a:p>
            <a:pPr algn="ctr"/>
          </a:p>
        </p:txBody>
      </p:sp>
      <p:pic>
        <p:nvPicPr>
          <p:cNvPr id="16" name="Picture 15" descr="check.png"/>
          <p:cNvPicPr>
            <a:picLocks noChangeAspect="1"/>
          </p:cNvPicPr>
          <p:nvPr/>
        </p:nvPicPr>
        <p:blipFill>
          <a:blip r:embed="rId3"/>
          <a:stretch>
            <a:fillRect/>
          </a:stretch>
        </p:blipFill>
        <p:spPr>
          <a:xfrm>
            <a:off x="6199632" y="4636008"/>
            <a:ext cx="274320" cy="274320"/>
          </a:xfrm>
          <a:prstGeom prst="rect">
            <a:avLst/>
          </a:prstGeom>
        </p:spPr>
      </p:pic>
      <p:sp>
        <p:nvSpPr>
          <p:cNvPr id="17" name="TextBox 16"/>
          <p:cNvSpPr txBox="1"/>
          <p:nvPr/>
        </p:nvSpPr>
        <p:spPr>
          <a:xfrm>
            <a:off x="6583680" y="4617720"/>
            <a:ext cx="1965960" cy="914400"/>
          </a:xfrm>
          <a:prstGeom prst="rect">
            <a:avLst/>
          </a:prstGeom>
          <a:noFill/>
        </p:spPr>
        <p:txBody>
          <a:bodyPr wrap="square" lIns="0" rIns="0" tIns="0" bIns="0">
            <a:spAutoFit/>
          </a:bodyPr>
          <a:lstStyle/>
          <a:p>
            <a:pPr>
              <a:spcAft>
                <a:spcPts val="0"/>
              </a:spcAft>
              <a:defRPr sz="1500" b="0">
                <a:solidFill>
                  <a:srgbClr val="20262D"/>
                </a:solidFill>
                <a:latin typeface="Aptos"/>
              </a:defRPr>
            </a:pPr>
            <a:r>
              <a:rPr sz="1500" b="0">
                <a:solidFill>
                  <a:srgbClr val="20262D"/>
                </a:solidFill>
                <a:latin typeface="Aptos"/>
              </a:rPr>
              <a:t>Works on any model, needs only predictions</a:t>
            </a:r>
          </a:p>
        </p:txBody>
      </p:sp>
      <p:sp>
        <p:nvSpPr>
          <p:cNvPr id="18" name="Rounded Rectangle 17"/>
          <p:cNvSpPr/>
          <p:nvPr/>
        </p:nvSpPr>
        <p:spPr>
          <a:xfrm>
            <a:off x="8915400" y="4434840"/>
            <a:ext cx="2651760" cy="1188720"/>
          </a:xfrm>
          <a:prstGeom prst="roundRect">
            <a:avLst>
              <a:gd name="adj" fmla="val 8000"/>
            </a:avLst>
          </a:prstGeom>
          <a:solidFill>
            <a:srgbClr val="F3F5F6"/>
          </a:solidFill>
          <a:ln>
            <a:noFill/>
          </a:ln>
          <a:effectLst/>
        </p:spPr>
        <p:txBody>
          <a:bodyPr rtlCol="0" anchor="ctr"/>
          <a:lstStyle/>
          <a:p>
            <a:pPr algn="ctr"/>
          </a:p>
        </p:txBody>
      </p:sp>
      <p:pic>
        <p:nvPicPr>
          <p:cNvPr id="19" name="Picture 18" descr="cross.png"/>
          <p:cNvPicPr>
            <a:picLocks noChangeAspect="1"/>
          </p:cNvPicPr>
          <p:nvPr/>
        </p:nvPicPr>
        <p:blipFill>
          <a:blip r:embed="rId4"/>
          <a:stretch>
            <a:fillRect/>
          </a:stretch>
        </p:blipFill>
        <p:spPr>
          <a:xfrm>
            <a:off x="9079992" y="4636008"/>
            <a:ext cx="274320" cy="274320"/>
          </a:xfrm>
          <a:prstGeom prst="rect">
            <a:avLst/>
          </a:prstGeom>
        </p:spPr>
      </p:pic>
      <p:sp>
        <p:nvSpPr>
          <p:cNvPr id="20" name="TextBox 19"/>
          <p:cNvSpPr txBox="1"/>
          <p:nvPr/>
        </p:nvSpPr>
        <p:spPr>
          <a:xfrm>
            <a:off x="9464040" y="4617720"/>
            <a:ext cx="1965960" cy="914400"/>
          </a:xfrm>
          <a:prstGeom prst="rect">
            <a:avLst/>
          </a:prstGeom>
          <a:noFill/>
        </p:spPr>
        <p:txBody>
          <a:bodyPr wrap="square" lIns="0" rIns="0" tIns="0" bIns="0">
            <a:spAutoFit/>
          </a:bodyPr>
          <a:lstStyle/>
          <a:p>
            <a:pPr>
              <a:spcAft>
                <a:spcPts val="0"/>
              </a:spcAft>
              <a:defRPr sz="1500" b="0">
                <a:solidFill>
                  <a:srgbClr val="20262D"/>
                </a:solidFill>
                <a:latin typeface="Aptos"/>
              </a:defRPr>
            </a:pPr>
            <a:r>
              <a:rPr sz="1500" b="0">
                <a:solidFill>
                  <a:srgbClr val="20262D"/>
                </a:solidFill>
                <a:latin typeface="Aptos"/>
              </a:rPr>
              <a:t>Random sampling; arbitrary “closeness”; probes unrealistic points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03 / LIME</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LIME: a straight line fit around one client</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10</a:t>
            </a:r>
          </a:p>
        </p:txBody>
      </p:sp>
      <p:sp>
        <p:nvSpPr>
          <p:cNvPr id="15" name="TextBox 14"/>
          <p:cNvSpPr txBox="1"/>
          <p:nvPr/>
        </p:nvSpPr>
        <p:spPr>
          <a:xfrm>
            <a:off x="594360" y="1737360"/>
            <a:ext cx="10972800" cy="274320"/>
          </a:xfrm>
          <a:prstGeom prst="rect">
            <a:avLst/>
          </a:prstGeom>
          <a:noFill/>
        </p:spPr>
        <p:txBody>
          <a:bodyPr wrap="square" lIns="0" rIns="0" tIns="0" bIns="0">
            <a:spAutoFit/>
          </a:bodyPr>
          <a:lstStyle/>
          <a:p>
            <a:pPr>
              <a:spcAft>
                <a:spcPts val="0"/>
              </a:spcAft>
              <a:defRPr sz="1300" b="1">
                <a:solidFill>
                  <a:srgbClr val="5B6570"/>
                </a:solidFill>
                <a:latin typeface="Aptos"/>
              </a:defRPr>
            </a:pPr>
            <a:r>
              <a:rPr sz="1300" b="1">
                <a:solidFill>
                  <a:srgbClr val="5B6570"/>
                </a:solidFill>
                <a:latin typeface="Aptos"/>
              </a:rPr>
              <a:t>ON XGBOOST, CLIENT 24155</a:t>
            </a:r>
          </a:p>
        </p:txBody>
      </p:sp>
      <p:sp>
        <p:nvSpPr>
          <p:cNvPr id="16" name="TextBox 15"/>
          <p:cNvSpPr txBox="1"/>
          <p:nvPr/>
        </p:nvSpPr>
        <p:spPr>
          <a:xfrm>
            <a:off x="594360" y="2103120"/>
            <a:ext cx="5120640" cy="548640"/>
          </a:xfrm>
          <a:prstGeom prst="rect">
            <a:avLst/>
          </a:prstGeom>
          <a:noFill/>
        </p:spPr>
        <p:txBody>
          <a:bodyPr wrap="square" lIns="0" rIns="0" tIns="0" bIns="0">
            <a:spAutoFit/>
          </a:bodyPr>
          <a:lstStyle/>
          <a:p>
            <a:pPr>
              <a:spcAft>
                <a:spcPts val="0"/>
              </a:spcAft>
              <a:defRPr sz="4000" b="1">
                <a:solidFill>
                  <a:srgbClr val="24586B"/>
                </a:solidFill>
                <a:latin typeface="Georgia"/>
              </a:defRPr>
            </a:pPr>
            <a:r>
              <a:rPr sz="4000" b="1">
                <a:solidFill>
                  <a:srgbClr val="24586B"/>
                </a:solidFill>
                <a:latin typeface="Georgia"/>
              </a:rPr>
              <a:t>36% vs 70%</a:t>
            </a:r>
          </a:p>
        </p:txBody>
      </p:sp>
      <p:sp>
        <p:nvSpPr>
          <p:cNvPr id="17" name="TextBox 16"/>
          <p:cNvSpPr txBox="1"/>
          <p:nvPr/>
        </p:nvSpPr>
        <p:spPr>
          <a:xfrm>
            <a:off x="594360" y="2724912"/>
            <a:ext cx="5120640" cy="64008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LIME’s line predicts 36% where XGBoost says 70%.</a:t>
            </a:r>
          </a:p>
        </p:txBody>
      </p:sp>
      <p:sp>
        <p:nvSpPr>
          <p:cNvPr id="18" name="TextBox 17"/>
          <p:cNvSpPr txBox="1"/>
          <p:nvPr/>
        </p:nvSpPr>
        <p:spPr>
          <a:xfrm>
            <a:off x="6172200" y="2103120"/>
            <a:ext cx="5120640" cy="548640"/>
          </a:xfrm>
          <a:prstGeom prst="rect">
            <a:avLst/>
          </a:prstGeom>
          <a:noFill/>
        </p:spPr>
        <p:txBody>
          <a:bodyPr wrap="square" lIns="0" rIns="0" tIns="0" bIns="0">
            <a:spAutoFit/>
          </a:bodyPr>
          <a:lstStyle/>
          <a:p>
            <a:pPr>
              <a:spcAft>
                <a:spcPts val="0"/>
              </a:spcAft>
              <a:defRPr sz="4000" b="1">
                <a:solidFill>
                  <a:srgbClr val="24586B"/>
                </a:solidFill>
                <a:latin typeface="Georgia"/>
              </a:defRPr>
            </a:pPr>
            <a:r>
              <a:rPr sz="4000" b="1">
                <a:solidFill>
                  <a:srgbClr val="24586B"/>
                </a:solidFill>
                <a:latin typeface="Georgia"/>
              </a:rPr>
              <a:t>R² = 0.29</a:t>
            </a:r>
          </a:p>
        </p:txBody>
      </p:sp>
      <p:sp>
        <p:nvSpPr>
          <p:cNvPr id="19" name="TextBox 18"/>
          <p:cNvSpPr txBox="1"/>
          <p:nvPr/>
        </p:nvSpPr>
        <p:spPr>
          <a:xfrm>
            <a:off x="6172200" y="2724912"/>
            <a:ext cx="5120640" cy="64008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The line explains under a third of how XGBoost’s score moves near this client.</a:t>
            </a:r>
          </a:p>
        </p:txBody>
      </p:sp>
      <p:sp>
        <p:nvSpPr>
          <p:cNvPr id="20" name="TextBox 19"/>
          <p:cNvSpPr txBox="1"/>
          <p:nvPr/>
        </p:nvSpPr>
        <p:spPr>
          <a:xfrm>
            <a:off x="594360" y="3429000"/>
            <a:ext cx="10972800" cy="274320"/>
          </a:xfrm>
          <a:prstGeom prst="rect">
            <a:avLst/>
          </a:prstGeom>
          <a:noFill/>
        </p:spPr>
        <p:txBody>
          <a:bodyPr wrap="square" lIns="0" rIns="0" tIns="0" bIns="0">
            <a:spAutoFit/>
          </a:bodyPr>
          <a:lstStyle/>
          <a:p>
            <a:pPr>
              <a:spcAft>
                <a:spcPts val="0"/>
              </a:spcAft>
              <a:defRPr sz="1400" b="0">
                <a:solidFill>
                  <a:srgbClr val="5B6570"/>
                </a:solidFill>
                <a:latin typeface="Aptos"/>
              </a:defRPr>
            </a:pPr>
            <a:r>
              <a:rPr sz="1400" b="0">
                <a:solidFill>
                  <a:srgbClr val="5B6570"/>
                </a:solidFill>
                <a:latin typeface="Aptos"/>
              </a:rPr>
              <a:t>Fit quality was not recorded for the network.</a:t>
            </a:r>
          </a:p>
        </p:txBody>
      </p:sp>
      <p:sp>
        <p:nvSpPr>
          <p:cNvPr id="21" name="TextBox 20"/>
          <p:cNvSpPr txBox="1"/>
          <p:nvPr/>
        </p:nvSpPr>
        <p:spPr>
          <a:xfrm>
            <a:off x="594360" y="4160520"/>
            <a:ext cx="10972800" cy="365760"/>
          </a:xfrm>
          <a:prstGeom prst="rect">
            <a:avLst/>
          </a:prstGeom>
          <a:noFill/>
        </p:spPr>
        <p:txBody>
          <a:bodyPr wrap="square" lIns="0" rIns="0" tIns="0" bIns="0">
            <a:spAutoFit/>
          </a:bodyPr>
          <a:lstStyle/>
          <a:p>
            <a:pPr>
              <a:spcAft>
                <a:spcPts val="0"/>
              </a:spcAft>
              <a:defRPr sz="1800" b="1">
                <a:solidFill>
                  <a:srgbClr val="24586B"/>
                </a:solidFill>
                <a:latin typeface="Georgia"/>
              </a:defRPr>
            </a:pPr>
            <a:r>
              <a:rPr sz="1800" b="1">
                <a:solidFill>
                  <a:srgbClr val="24586B"/>
                </a:solidFill>
                <a:latin typeface="Georgia"/>
              </a:rPr>
              <a:t>LIME’s reasons describe its line, not the model.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03 / LIME</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Re-run LIME, and the network’s reasons drift</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11</a:t>
            </a:r>
          </a:p>
        </p:txBody>
      </p:sp>
      <p:sp>
        <p:nvSpPr>
          <p:cNvPr id="6" name="TextBox 5"/>
          <p:cNvSpPr txBox="1"/>
          <p:nvPr/>
        </p:nvSpPr>
        <p:spPr>
          <a:xfrm>
            <a:off x="594360" y="1325880"/>
            <a:ext cx="10972800" cy="320040"/>
          </a:xfrm>
          <a:prstGeom prst="rect">
            <a:avLst/>
          </a:prstGeom>
          <a:noFill/>
        </p:spPr>
        <p:txBody>
          <a:bodyPr wrap="square" lIns="0" rIns="0" tIns="0" bIns="0">
            <a:spAutoFit/>
          </a:bodyPr>
          <a:lstStyle/>
          <a:p>
            <a:pPr>
              <a:spcAft>
                <a:spcPts val="0"/>
              </a:spcAft>
              <a:defRPr sz="1700" b="0">
                <a:solidFill>
                  <a:srgbClr val="24586B"/>
                </a:solidFill>
                <a:latin typeface="Aptos"/>
              </a:defRPr>
            </a:pPr>
            <a:r>
              <a:rPr sz="1700" b="0">
                <a:solidFill>
                  <a:srgbClr val="24586B"/>
                </a:solidFill>
                <a:latin typeface="Aptos"/>
              </a:rPr>
              <a:t>Client 24155 · share of 20 LIME runs (different seeds) where each input makes the top 4</a:t>
            </a:r>
          </a:p>
        </p:txBody>
      </p:sp>
      <p:graphicFrame>
        <p:nvGraphicFramePr>
          <p:cNvPr id="7" name="Chart 6"/>
          <p:cNvGraphicFramePr>
            <a:graphicFrameLocks noGrp="1"/>
          </p:cNvGraphicFramePr>
          <p:nvPr/>
        </p:nvGraphicFramePr>
        <p:xfrm>
          <a:off x="594360" y="1783080"/>
          <a:ext cx="6766560" cy="3840480"/>
        </p:xfrm>
        <a:graphic>
          <a:graphicData uri="http://schemas.openxmlformats.org/drawingml/2006/chart">
            <c:chart xmlns:c="http://schemas.openxmlformats.org/drawingml/2006/chart" r:id="rId2"/>
          </a:graphicData>
        </a:graphic>
      </p:graphicFrame>
      <p:graphicFrame>
        <p:nvGraphicFramePr>
          <p:cNvPr id="8" name="Table 7"/>
          <p:cNvGraphicFramePr>
            <a:graphicFrameLocks noGrp="1"/>
          </p:cNvGraphicFramePr>
          <p:nvPr/>
        </p:nvGraphicFramePr>
        <p:xfrm>
          <a:off x="7635240" y="1920240"/>
          <a:ext cx="3922776" cy="1645920"/>
        </p:xfrm>
        <a:graphic>
          <a:graphicData uri="http://schemas.openxmlformats.org/drawingml/2006/table">
            <a:tbl>
              <a:tblPr firstRow="1" bandRow="1">
                <a:tableStyleId>{5C22544A-7EE6-4342-B048-85BDC9FD1C3A}</a:tableStyleId>
              </a:tblPr>
              <a:tblGrid>
                <a:gridCol w="1600200"/>
                <a:gridCol w="1161288"/>
                <a:gridCol w="1161288"/>
              </a:tblGrid>
              <a:tr h="548640">
                <a:tc>
                  <a:txBody>
                    <a:bodyPr wrap="square"/>
                    <a:lstStyle/>
                    <a:p>
                      <a:pPr>
                        <a:defRPr sz="1600" b="1">
                          <a:solidFill>
                            <a:srgbClr val="24586B"/>
                          </a:solidFill>
                          <a:latin typeface="Aptos"/>
                        </a:defRPr>
                      </a:pPr>
                      <a:r>
                        <a:rPr sz="1600" b="1">
                          <a:solidFill>
                            <a:srgbClr val="24586B"/>
                          </a:solidFill>
                          <a:latin typeface="Aptos"/>
                        </a:rPr>
                        <a:t>Of 4 reasons</a:t>
                      </a:r>
                    </a:p>
                  </a:txBody>
                  <a:tcPr marL="128016" marR="109728" marT="54864" marB="45720" anchor="ctr">
                    <a:solidFill>
                      <a:srgbClr val="F3F5F6"/>
                    </a:solidFill>
                  </a:tcPr>
                </a:tc>
                <a:tc>
                  <a:txBody>
                    <a:bodyPr wrap="square"/>
                    <a:lstStyle/>
                    <a:p>
                      <a:pPr>
                        <a:defRPr sz="1600" b="1">
                          <a:solidFill>
                            <a:srgbClr val="24586B"/>
                          </a:solidFill>
                          <a:latin typeface="Aptos"/>
                        </a:defRPr>
                      </a:pPr>
                      <a:r>
                        <a:rPr sz="1600" b="1">
                          <a:solidFill>
                            <a:srgbClr val="24586B"/>
                          </a:solidFill>
                          <a:latin typeface="Aptos"/>
                        </a:rPr>
                        <a:t>XGBoost</a:t>
                      </a:r>
                    </a:p>
                  </a:txBody>
                  <a:tcPr marL="128016" marR="109728" marT="54864" marB="45720" anchor="ctr">
                    <a:solidFill>
                      <a:srgbClr val="F3F5F6"/>
                    </a:solidFill>
                  </a:tcPr>
                </a:tc>
                <a:tc>
                  <a:txBody>
                    <a:bodyPr wrap="square"/>
                    <a:lstStyle/>
                    <a:p>
                      <a:pPr>
                        <a:defRPr sz="1600" b="1">
                          <a:solidFill>
                            <a:srgbClr val="24586B"/>
                          </a:solidFill>
                          <a:latin typeface="Aptos"/>
                        </a:defRPr>
                      </a:pPr>
                      <a:r>
                        <a:rPr sz="1600" b="1">
                          <a:solidFill>
                            <a:srgbClr val="24586B"/>
                          </a:solidFill>
                          <a:latin typeface="Aptos"/>
                        </a:rPr>
                        <a:t>Network</a:t>
                      </a:r>
                    </a:p>
                  </a:txBody>
                  <a:tcPr marL="128016" marR="109728" marT="54864" marB="45720" anchor="ctr">
                    <a:solidFill>
                      <a:srgbClr val="F3F5F6"/>
                    </a:solidFill>
                  </a:tcPr>
                </a:tc>
              </a:tr>
              <a:tr h="548640">
                <a:tc>
                  <a:txBody>
                    <a:bodyPr wrap="square"/>
                    <a:lstStyle/>
                    <a:p>
                      <a:pPr>
                        <a:defRPr sz="1600" b="0">
                          <a:solidFill>
                            <a:srgbClr val="20262D"/>
                          </a:solidFill>
                          <a:latin typeface="Aptos"/>
                        </a:defRPr>
                      </a:pPr>
                      <a:r>
                        <a:rPr sz="1600" b="0">
                          <a:solidFill>
                            <a:srgbClr val="20262D"/>
                          </a:solidFill>
                          <a:latin typeface="Aptos"/>
                        </a:rPr>
                        <a:t>Same across re-runs</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3.90</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3.49</a:t>
                      </a:r>
                    </a:p>
                  </a:txBody>
                  <a:tcPr marL="128016" marR="109728" marT="54864" marB="45720" anchor="ctr">
                    <a:solidFill>
                      <a:srgbClr val="FFFFFF"/>
                    </a:solidFill>
                  </a:tcPr>
                </a:tc>
              </a:tr>
              <a:tr h="548640">
                <a:tc>
                  <a:txBody>
                    <a:bodyPr wrap="square"/>
                    <a:lstStyle/>
                    <a:p>
                      <a:pPr>
                        <a:defRPr sz="1600" b="0">
                          <a:solidFill>
                            <a:srgbClr val="20262D"/>
                          </a:solidFill>
                          <a:latin typeface="Aptos"/>
                        </a:defRPr>
                      </a:pPr>
                      <a:r>
                        <a:rPr sz="1600" b="0">
                          <a:solidFill>
                            <a:srgbClr val="20262D"/>
                          </a:solidFill>
                          <a:latin typeface="Aptos"/>
                        </a:rPr>
                        <a:t>Same as SHAP</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4</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3</a:t>
                      </a:r>
                    </a:p>
                  </a:txBody>
                  <a:tcPr marL="128016" marR="109728" marT="54864" marB="45720" anchor="ctr">
                    <a:solidFill>
                      <a:srgbClr val="FFFFFF"/>
                    </a:solidFill>
                  </a:tcPr>
                </a:tc>
              </a:tr>
            </a:tbl>
          </a:graphicData>
        </a:graphic>
      </p:graphicFrame>
      <p:sp>
        <p:nvSpPr>
          <p:cNvPr id="9" name="TextBox 8"/>
          <p:cNvSpPr txBox="1"/>
          <p:nvPr/>
        </p:nvSpPr>
        <p:spPr>
          <a:xfrm>
            <a:off x="7635240" y="3749039"/>
            <a:ext cx="3922776" cy="109728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On the network the fourth reason is a near tie (late August 0.029 vs credit limit 0.026), so the random seed decides.</a:t>
            </a:r>
          </a:p>
        </p:txBody>
      </p:sp>
      <p:sp>
        <p:nvSpPr>
          <p:cNvPr id="10" name="TextBox 9"/>
          <p:cNvSpPr txBox="1"/>
          <p:nvPr/>
        </p:nvSpPr>
        <p:spPr>
          <a:xfrm>
            <a:off x="594360" y="5760720"/>
            <a:ext cx="10972800" cy="365760"/>
          </a:xfrm>
          <a:prstGeom prst="rect">
            <a:avLst/>
          </a:prstGeom>
          <a:noFill/>
        </p:spPr>
        <p:txBody>
          <a:bodyPr wrap="square" lIns="0" rIns="0" tIns="0" bIns="0">
            <a:spAutoFit/>
          </a:bodyPr>
          <a:lstStyle/>
          <a:p>
            <a:pPr>
              <a:spcAft>
                <a:spcPts val="0"/>
              </a:spcAft>
              <a:defRPr sz="1800" b="1">
                <a:solidFill>
                  <a:srgbClr val="24586B"/>
                </a:solidFill>
                <a:latin typeface="Georgia"/>
              </a:defRPr>
            </a:pPr>
            <a:r>
              <a:rPr sz="1800" b="1">
                <a:solidFill>
                  <a:srgbClr val="24586B"/>
                </a:solidFill>
                <a:latin typeface="Georgia"/>
              </a:rPr>
              <a:t>On the network, LIME agrees less with itself and with SHAP.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04 / COUNTERFACTUALS</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Counterfactuals: what would change the answer?</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12</a:t>
            </a:r>
          </a:p>
        </p:txBody>
      </p:sp>
      <p:pic>
        <p:nvPicPr>
          <p:cNvPr id="6" name="Picture 5" descr="cf_concept.png"/>
          <p:cNvPicPr>
            <a:picLocks noChangeAspect="1"/>
          </p:cNvPicPr>
          <p:nvPr/>
        </p:nvPicPr>
        <p:blipFill>
          <a:blip r:embed="rId2"/>
          <a:stretch>
            <a:fillRect/>
          </a:stretch>
        </p:blipFill>
        <p:spPr>
          <a:xfrm>
            <a:off x="594360" y="1371600"/>
            <a:ext cx="4937133" cy="4251960"/>
          </a:xfrm>
          <a:prstGeom prst="rect">
            <a:avLst/>
          </a:prstGeom>
        </p:spPr>
      </p:pic>
      <p:sp>
        <p:nvSpPr>
          <p:cNvPr id="7" name="TextBox 6"/>
          <p:cNvSpPr txBox="1"/>
          <p:nvPr/>
        </p:nvSpPr>
        <p:spPr>
          <a:xfrm>
            <a:off x="6035040" y="1417320"/>
            <a:ext cx="5532120" cy="274320"/>
          </a:xfrm>
          <a:prstGeom prst="rect">
            <a:avLst/>
          </a:prstGeom>
          <a:noFill/>
        </p:spPr>
        <p:txBody>
          <a:bodyPr wrap="square" lIns="0" rIns="0" tIns="0" bIns="0">
            <a:spAutoFit/>
          </a:bodyPr>
          <a:lstStyle/>
          <a:p>
            <a:pPr>
              <a:spcAft>
                <a:spcPts val="0"/>
              </a:spcAft>
              <a:defRPr sz="1600" b="1">
                <a:solidFill>
                  <a:srgbClr val="20262D"/>
                </a:solidFill>
                <a:latin typeface="Aptos"/>
              </a:defRPr>
            </a:pPr>
            <a:r>
              <a:rPr sz="1600" b="1">
                <a:solidFill>
                  <a:srgbClr val="20262D"/>
                </a:solidFill>
                <a:latin typeface="Aptos"/>
              </a:rPr>
              <a:t>Client 24155 on XGBoost today: 70%. Cut-off: 50%.</a:t>
            </a:r>
          </a:p>
        </p:txBody>
      </p:sp>
      <p:sp>
        <p:nvSpPr>
          <p:cNvPr id="8" name="Rounded Rectangle 7"/>
          <p:cNvSpPr/>
          <p:nvPr/>
        </p:nvSpPr>
        <p:spPr>
          <a:xfrm>
            <a:off x="6035040" y="1874519"/>
            <a:ext cx="5532120" cy="786384"/>
          </a:xfrm>
          <a:prstGeom prst="roundRect">
            <a:avLst>
              <a:gd name="adj" fmla="val 8000"/>
            </a:avLst>
          </a:prstGeom>
          <a:solidFill>
            <a:srgbClr val="F3F5F6"/>
          </a:solidFill>
          <a:ln>
            <a:noFill/>
          </a:ln>
          <a:effectLst/>
        </p:spPr>
        <p:txBody>
          <a:bodyPr rtlCol="0" anchor="ctr"/>
          <a:lstStyle/>
          <a:p>
            <a:pPr algn="ctr"/>
          </a:p>
        </p:txBody>
      </p:sp>
      <p:pic>
        <p:nvPicPr>
          <p:cNvPr id="9" name="Picture 8" descr="check.png"/>
          <p:cNvPicPr>
            <a:picLocks noChangeAspect="1"/>
          </p:cNvPicPr>
          <p:nvPr/>
        </p:nvPicPr>
        <p:blipFill>
          <a:blip r:embed="rId3"/>
          <a:stretch>
            <a:fillRect/>
          </a:stretch>
        </p:blipFill>
        <p:spPr>
          <a:xfrm>
            <a:off x="6236208" y="2121407"/>
            <a:ext cx="292608" cy="292608"/>
          </a:xfrm>
          <a:prstGeom prst="rect">
            <a:avLst/>
          </a:prstGeom>
        </p:spPr>
      </p:pic>
      <p:sp>
        <p:nvSpPr>
          <p:cNvPr id="10" name="TextBox 9"/>
          <p:cNvSpPr txBox="1"/>
          <p:nvPr/>
        </p:nvSpPr>
        <p:spPr>
          <a:xfrm>
            <a:off x="6693408" y="1993391"/>
            <a:ext cx="3657600" cy="274320"/>
          </a:xfrm>
          <a:prstGeom prst="rect">
            <a:avLst/>
          </a:prstGeom>
          <a:noFill/>
        </p:spPr>
        <p:txBody>
          <a:bodyPr wrap="square" lIns="0" rIns="0" tIns="0" bIns="0">
            <a:spAutoFit/>
          </a:bodyPr>
          <a:lstStyle/>
          <a:p>
            <a:pPr>
              <a:spcAft>
                <a:spcPts val="0"/>
              </a:spcAft>
              <a:defRPr sz="1600" b="1">
                <a:solidFill>
                  <a:srgbClr val="20262D"/>
                </a:solidFill>
                <a:latin typeface="Aptos"/>
              </a:defRPr>
            </a:pPr>
            <a:r>
              <a:rPr sz="1600" b="1">
                <a:solidFill>
                  <a:srgbClr val="20262D"/>
                </a:solidFill>
                <a:latin typeface="Aptos"/>
              </a:rPr>
              <a:t>Get current this month</a:t>
            </a:r>
          </a:p>
        </p:txBody>
      </p:sp>
      <p:sp>
        <p:nvSpPr>
          <p:cNvPr id="11" name="TextBox 10"/>
          <p:cNvSpPr txBox="1"/>
          <p:nvPr/>
        </p:nvSpPr>
        <p:spPr>
          <a:xfrm>
            <a:off x="6693408" y="2313431"/>
            <a:ext cx="3749039" cy="274320"/>
          </a:xfrm>
          <a:prstGeom prst="rect">
            <a:avLst/>
          </a:prstGeom>
          <a:noFill/>
        </p:spPr>
        <p:txBody>
          <a:bodyPr wrap="square" lIns="0" rIns="0" tIns="0" bIns="0">
            <a:spAutoFit/>
          </a:bodyPr>
          <a:lstStyle/>
          <a:p>
            <a:pPr>
              <a:spcAft>
                <a:spcPts val="0"/>
              </a:spcAft>
              <a:defRPr sz="1300" b="0">
                <a:solidFill>
                  <a:srgbClr val="5B6570"/>
                </a:solidFill>
                <a:latin typeface="Aptos"/>
              </a:defRPr>
            </a:pPr>
            <a:r>
              <a:rPr sz="1300" b="0">
                <a:solidFill>
                  <a:srgbClr val="5B6570"/>
                </a:solidFill>
                <a:latin typeface="Aptos"/>
              </a:rPr>
              <a:t>September: 2 months late → paid on time</a:t>
            </a:r>
          </a:p>
        </p:txBody>
      </p:sp>
      <p:sp>
        <p:nvSpPr>
          <p:cNvPr id="12" name="TextBox 11"/>
          <p:cNvSpPr txBox="1"/>
          <p:nvPr/>
        </p:nvSpPr>
        <p:spPr>
          <a:xfrm>
            <a:off x="10378440" y="2029967"/>
            <a:ext cx="1005840" cy="457200"/>
          </a:xfrm>
          <a:prstGeom prst="rect">
            <a:avLst/>
          </a:prstGeom>
          <a:noFill/>
        </p:spPr>
        <p:txBody>
          <a:bodyPr wrap="square" lIns="0" rIns="0" tIns="0" bIns="0">
            <a:spAutoFit/>
          </a:bodyPr>
          <a:lstStyle/>
          <a:p>
            <a:pPr algn="r">
              <a:spcAft>
                <a:spcPts val="0"/>
              </a:spcAft>
              <a:defRPr sz="2600" b="1">
                <a:solidFill>
                  <a:srgbClr val="1E7A4F"/>
                </a:solidFill>
                <a:latin typeface="Georgia"/>
              </a:defRPr>
            </a:pPr>
            <a:r>
              <a:rPr sz="2600" b="1">
                <a:solidFill>
                  <a:srgbClr val="1E7A4F"/>
                </a:solidFill>
                <a:latin typeface="Georgia"/>
              </a:rPr>
              <a:t>30%</a:t>
            </a:r>
          </a:p>
        </p:txBody>
      </p:sp>
      <p:sp>
        <p:nvSpPr>
          <p:cNvPr id="13" name="Rounded Rectangle 12"/>
          <p:cNvSpPr/>
          <p:nvPr/>
        </p:nvSpPr>
        <p:spPr>
          <a:xfrm>
            <a:off x="6035040" y="2788919"/>
            <a:ext cx="5532120" cy="786384"/>
          </a:xfrm>
          <a:prstGeom prst="roundRect">
            <a:avLst>
              <a:gd name="adj" fmla="val 8000"/>
            </a:avLst>
          </a:prstGeom>
          <a:solidFill>
            <a:srgbClr val="F3F5F6"/>
          </a:solidFill>
          <a:ln>
            <a:noFill/>
          </a:ln>
          <a:effectLst/>
        </p:spPr>
        <p:txBody>
          <a:bodyPr rtlCol="0" anchor="ctr"/>
          <a:lstStyle/>
          <a:p>
            <a:pPr algn="ctr"/>
          </a:p>
        </p:txBody>
      </p:sp>
      <p:pic>
        <p:nvPicPr>
          <p:cNvPr id="14" name="Picture 13" descr="check.png"/>
          <p:cNvPicPr>
            <a:picLocks noChangeAspect="1"/>
          </p:cNvPicPr>
          <p:nvPr/>
        </p:nvPicPr>
        <p:blipFill>
          <a:blip r:embed="rId3"/>
          <a:stretch>
            <a:fillRect/>
          </a:stretch>
        </p:blipFill>
        <p:spPr>
          <a:xfrm>
            <a:off x="6236208" y="3035807"/>
            <a:ext cx="292608" cy="292608"/>
          </a:xfrm>
          <a:prstGeom prst="rect">
            <a:avLst/>
          </a:prstGeom>
        </p:spPr>
      </p:pic>
      <p:sp>
        <p:nvSpPr>
          <p:cNvPr id="15" name="TextBox 14"/>
          <p:cNvSpPr txBox="1"/>
          <p:nvPr/>
        </p:nvSpPr>
        <p:spPr>
          <a:xfrm>
            <a:off x="6693408" y="2907791"/>
            <a:ext cx="3657600" cy="274320"/>
          </a:xfrm>
          <a:prstGeom prst="rect">
            <a:avLst/>
          </a:prstGeom>
          <a:noFill/>
        </p:spPr>
        <p:txBody>
          <a:bodyPr wrap="square" lIns="0" rIns="0" tIns="0" bIns="0">
            <a:spAutoFit/>
          </a:bodyPr>
          <a:lstStyle/>
          <a:p>
            <a:pPr>
              <a:spcAft>
                <a:spcPts val="0"/>
              </a:spcAft>
              <a:defRPr sz="1600" b="1">
                <a:solidFill>
                  <a:srgbClr val="20262D"/>
                </a:solidFill>
                <a:latin typeface="Aptos"/>
              </a:defRPr>
            </a:pPr>
            <a:r>
              <a:rPr sz="1600" b="1">
                <a:solidFill>
                  <a:srgbClr val="20262D"/>
                </a:solidFill>
                <a:latin typeface="Aptos"/>
              </a:rPr>
              <a:t>Pay on time and pay NT$35k</a:t>
            </a:r>
          </a:p>
        </p:txBody>
      </p:sp>
      <p:sp>
        <p:nvSpPr>
          <p:cNvPr id="16" name="TextBox 15"/>
          <p:cNvSpPr txBox="1"/>
          <p:nvPr/>
        </p:nvSpPr>
        <p:spPr>
          <a:xfrm>
            <a:off x="6693408" y="3227831"/>
            <a:ext cx="3749039" cy="274320"/>
          </a:xfrm>
          <a:prstGeom prst="rect">
            <a:avLst/>
          </a:prstGeom>
          <a:noFill/>
        </p:spPr>
        <p:txBody>
          <a:bodyPr wrap="square" lIns="0" rIns="0" tIns="0" bIns="0">
            <a:spAutoFit/>
          </a:bodyPr>
          <a:lstStyle/>
          <a:p>
            <a:pPr>
              <a:spcAft>
                <a:spcPts val="0"/>
              </a:spcAft>
              <a:defRPr sz="1300" b="0">
                <a:solidFill>
                  <a:srgbClr val="5B6570"/>
                </a:solidFill>
                <a:latin typeface="Aptos"/>
              </a:defRPr>
            </a:pPr>
            <a:r>
              <a:rPr sz="1300" b="0">
                <a:solidFill>
                  <a:srgbClr val="5B6570"/>
                </a:solidFill>
                <a:latin typeface="Aptos"/>
              </a:rPr>
              <a:t>DiCE, only this month’s changes allowed</a:t>
            </a:r>
          </a:p>
        </p:txBody>
      </p:sp>
      <p:sp>
        <p:nvSpPr>
          <p:cNvPr id="17" name="TextBox 16"/>
          <p:cNvSpPr txBox="1"/>
          <p:nvPr/>
        </p:nvSpPr>
        <p:spPr>
          <a:xfrm>
            <a:off x="10378440" y="2944367"/>
            <a:ext cx="1005840" cy="457200"/>
          </a:xfrm>
          <a:prstGeom prst="rect">
            <a:avLst/>
          </a:prstGeom>
          <a:noFill/>
        </p:spPr>
        <p:txBody>
          <a:bodyPr wrap="square" lIns="0" rIns="0" tIns="0" bIns="0">
            <a:spAutoFit/>
          </a:bodyPr>
          <a:lstStyle/>
          <a:p>
            <a:pPr algn="r">
              <a:spcAft>
                <a:spcPts val="0"/>
              </a:spcAft>
              <a:defRPr sz="2600" b="1">
                <a:solidFill>
                  <a:srgbClr val="1E7A4F"/>
                </a:solidFill>
                <a:latin typeface="Georgia"/>
              </a:defRPr>
            </a:pPr>
            <a:r>
              <a:rPr sz="2600" b="1">
                <a:solidFill>
                  <a:srgbClr val="1E7A4F"/>
                </a:solidFill>
                <a:latin typeface="Georgia"/>
              </a:rPr>
              <a:t>25%</a:t>
            </a:r>
          </a:p>
        </p:txBody>
      </p:sp>
      <p:sp>
        <p:nvSpPr>
          <p:cNvPr id="18" name="Rounded Rectangle 17"/>
          <p:cNvSpPr/>
          <p:nvPr/>
        </p:nvSpPr>
        <p:spPr>
          <a:xfrm>
            <a:off x="6035040" y="3703319"/>
            <a:ext cx="5532120" cy="786384"/>
          </a:xfrm>
          <a:prstGeom prst="roundRect">
            <a:avLst>
              <a:gd name="adj" fmla="val 8000"/>
            </a:avLst>
          </a:prstGeom>
          <a:solidFill>
            <a:srgbClr val="F3F5F6"/>
          </a:solidFill>
          <a:ln>
            <a:noFill/>
          </a:ln>
          <a:effectLst/>
        </p:spPr>
        <p:txBody>
          <a:bodyPr rtlCol="0" anchor="ctr"/>
          <a:lstStyle/>
          <a:p>
            <a:pPr algn="ctr"/>
          </a:p>
        </p:txBody>
      </p:sp>
      <p:pic>
        <p:nvPicPr>
          <p:cNvPr id="19" name="Picture 18" descr="cross.png"/>
          <p:cNvPicPr>
            <a:picLocks noChangeAspect="1"/>
          </p:cNvPicPr>
          <p:nvPr/>
        </p:nvPicPr>
        <p:blipFill>
          <a:blip r:embed="rId4"/>
          <a:stretch>
            <a:fillRect/>
          </a:stretch>
        </p:blipFill>
        <p:spPr>
          <a:xfrm>
            <a:off x="6236208" y="3950207"/>
            <a:ext cx="292608" cy="292608"/>
          </a:xfrm>
          <a:prstGeom prst="rect">
            <a:avLst/>
          </a:prstGeom>
        </p:spPr>
      </p:pic>
      <p:sp>
        <p:nvSpPr>
          <p:cNvPr id="20" name="TextBox 19"/>
          <p:cNvSpPr txBox="1"/>
          <p:nvPr/>
        </p:nvSpPr>
        <p:spPr>
          <a:xfrm>
            <a:off x="6693408" y="3822191"/>
            <a:ext cx="3657600" cy="274320"/>
          </a:xfrm>
          <a:prstGeom prst="rect">
            <a:avLst/>
          </a:prstGeom>
          <a:noFill/>
        </p:spPr>
        <p:txBody>
          <a:bodyPr wrap="square" lIns="0" rIns="0" tIns="0" bIns="0">
            <a:spAutoFit/>
          </a:bodyPr>
          <a:lstStyle/>
          <a:p>
            <a:pPr>
              <a:spcAft>
                <a:spcPts val="0"/>
              </a:spcAft>
              <a:defRPr sz="1600" b="1">
                <a:solidFill>
                  <a:srgbClr val="20262D"/>
                </a:solidFill>
                <a:latin typeface="Aptos"/>
              </a:defRPr>
            </a:pPr>
            <a:r>
              <a:rPr sz="1600" b="1">
                <a:solidFill>
                  <a:srgbClr val="20262D"/>
                </a:solidFill>
                <a:latin typeface="Aptos"/>
              </a:rPr>
              <a:t>Become 29 years older</a:t>
            </a:r>
          </a:p>
        </p:txBody>
      </p:sp>
      <p:sp>
        <p:nvSpPr>
          <p:cNvPr id="21" name="TextBox 20"/>
          <p:cNvSpPr txBox="1"/>
          <p:nvPr/>
        </p:nvSpPr>
        <p:spPr>
          <a:xfrm>
            <a:off x="6693408" y="4142231"/>
            <a:ext cx="3749039" cy="274320"/>
          </a:xfrm>
          <a:prstGeom prst="rect">
            <a:avLst/>
          </a:prstGeom>
          <a:noFill/>
        </p:spPr>
        <p:txBody>
          <a:bodyPr wrap="square" lIns="0" rIns="0" tIns="0" bIns="0">
            <a:spAutoFit/>
          </a:bodyPr>
          <a:lstStyle/>
          <a:p>
            <a:pPr>
              <a:spcAft>
                <a:spcPts val="0"/>
              </a:spcAft>
              <a:defRPr sz="1300" b="0">
                <a:solidFill>
                  <a:srgbClr val="5B6570"/>
                </a:solidFill>
                <a:latin typeface="Aptos"/>
              </a:defRPr>
            </a:pPr>
            <a:r>
              <a:rPr sz="1300" b="0">
                <a:solidFill>
                  <a:srgbClr val="5B6570"/>
                </a:solidFill>
                <a:latin typeface="Aptos"/>
              </a:rPr>
              <a:t>Unconstrained DiCE: an impossible change</a:t>
            </a:r>
          </a:p>
        </p:txBody>
      </p:sp>
      <p:sp>
        <p:nvSpPr>
          <p:cNvPr id="22" name="TextBox 21"/>
          <p:cNvSpPr txBox="1"/>
          <p:nvPr/>
        </p:nvSpPr>
        <p:spPr>
          <a:xfrm>
            <a:off x="10378440" y="3858767"/>
            <a:ext cx="1005840" cy="457200"/>
          </a:xfrm>
          <a:prstGeom prst="rect">
            <a:avLst/>
          </a:prstGeom>
          <a:noFill/>
        </p:spPr>
        <p:txBody>
          <a:bodyPr wrap="square" lIns="0" rIns="0" tIns="0" bIns="0">
            <a:spAutoFit/>
          </a:bodyPr>
          <a:lstStyle/>
          <a:p>
            <a:pPr algn="r">
              <a:spcAft>
                <a:spcPts val="0"/>
              </a:spcAft>
              <a:defRPr sz="2600" b="1">
                <a:solidFill>
                  <a:srgbClr val="B23A3A"/>
                </a:solidFill>
                <a:latin typeface="Georgia"/>
              </a:defRPr>
            </a:pPr>
            <a:r>
              <a:rPr sz="2600" b="1">
                <a:solidFill>
                  <a:srgbClr val="B23A3A"/>
                </a:solidFill>
                <a:latin typeface="Georgia"/>
              </a:rPr>
              <a:t>41%</a:t>
            </a:r>
          </a:p>
        </p:txBody>
      </p:sp>
      <p:sp>
        <p:nvSpPr>
          <p:cNvPr id="23" name="TextBox 22"/>
          <p:cNvSpPr txBox="1"/>
          <p:nvPr/>
        </p:nvSpPr>
        <p:spPr>
          <a:xfrm>
            <a:off x="6035040" y="4754880"/>
            <a:ext cx="5532120" cy="640080"/>
          </a:xfrm>
          <a:prstGeom prst="rect">
            <a:avLst/>
          </a:prstGeom>
          <a:noFill/>
        </p:spPr>
        <p:txBody>
          <a:bodyPr wrap="square" lIns="0" rIns="0" tIns="0" bIns="0">
            <a:spAutoFit/>
          </a:bodyPr>
          <a:lstStyle/>
          <a:p>
            <a:pPr>
              <a:spcAft>
                <a:spcPts val="0"/>
              </a:spcAft>
              <a:defRPr sz="1800" b="1">
                <a:solidFill>
                  <a:srgbClr val="24586B"/>
                </a:solidFill>
                <a:latin typeface="Georgia"/>
              </a:defRPr>
            </a:pPr>
            <a:r>
              <a:rPr sz="1800" b="1">
                <a:solidFill>
                  <a:srgbClr val="24586B"/>
                </a:solidFill>
                <a:latin typeface="Georgia"/>
              </a:rPr>
              <a:t>Valid for the model is not the same as possible for the client.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04 / COUNTERFACTUALS</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Counterfactuals: valid, but often impossible</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13</a:t>
            </a:r>
          </a:p>
        </p:txBody>
      </p:sp>
      <p:sp>
        <p:nvSpPr>
          <p:cNvPr id="6" name="TextBox 5"/>
          <p:cNvSpPr txBox="1"/>
          <p:nvPr/>
        </p:nvSpPr>
        <p:spPr>
          <a:xfrm>
            <a:off x="594360" y="1325880"/>
            <a:ext cx="10972800" cy="320040"/>
          </a:xfrm>
          <a:prstGeom prst="rect">
            <a:avLst/>
          </a:prstGeom>
          <a:noFill/>
        </p:spPr>
        <p:txBody>
          <a:bodyPr wrap="square" lIns="0" rIns="0" tIns="0" bIns="0">
            <a:spAutoFit/>
          </a:bodyPr>
          <a:lstStyle/>
          <a:p>
            <a:pPr>
              <a:spcAft>
                <a:spcPts val="0"/>
              </a:spcAft>
              <a:defRPr sz="1700" b="0">
                <a:solidFill>
                  <a:srgbClr val="24586B"/>
                </a:solidFill>
                <a:latin typeface="Aptos"/>
              </a:defRPr>
            </a:pPr>
            <a:r>
              <a:rPr sz="1700" b="0">
                <a:solidFill>
                  <a:srgbClr val="24586B"/>
                </a:solidFill>
                <a:latin typeface="Aptos"/>
              </a:rPr>
              <a:t>Client 24155 · DiCE searches for changes that bring P(default) below 50%</a:t>
            </a:r>
          </a:p>
        </p:txBody>
      </p:sp>
      <p:graphicFrame>
        <p:nvGraphicFramePr>
          <p:cNvPr id="7" name="Table 6"/>
          <p:cNvGraphicFramePr>
            <a:graphicFrameLocks noGrp="1"/>
          </p:cNvGraphicFramePr>
          <p:nvPr/>
        </p:nvGraphicFramePr>
        <p:xfrm>
          <a:off x="594360" y="1783080"/>
          <a:ext cx="10972800" cy="3474720"/>
        </p:xfrm>
        <a:graphic>
          <a:graphicData uri="http://schemas.openxmlformats.org/drawingml/2006/table">
            <a:tbl>
              <a:tblPr firstRow="1" bandRow="1">
                <a:tableStyleId>{5C22544A-7EE6-4342-B048-85BDC9FD1C3A}</a:tableStyleId>
              </a:tblPr>
              <a:tblGrid>
                <a:gridCol w="2194560"/>
                <a:gridCol w="4389120"/>
                <a:gridCol w="4389120"/>
              </a:tblGrid>
              <a:tr h="868680">
                <a:tc>
                  <a:txBody>
                    <a:bodyPr wrap="square"/>
                    <a:lstStyle/>
                    <a:p>
                      <a:pPr>
                        <a:defRPr sz="1600" b="1">
                          <a:solidFill>
                            <a:srgbClr val="24586B"/>
                          </a:solidFill>
                          <a:latin typeface="Aptos"/>
                        </a:defRPr>
                      </a:pPr>
                      <a:r>
                        <a:rPr sz="1600" b="1">
                          <a:solidFill>
                            <a:srgbClr val="24586B"/>
                          </a:solidFill>
                          <a:latin typeface="Aptos"/>
                        </a:rPr>
                        <a:t>Search</a:t>
                      </a:r>
                    </a:p>
                  </a:txBody>
                  <a:tcPr marL="128016" marR="109728" marT="54864" marB="45720" anchor="ctr">
                    <a:solidFill>
                      <a:srgbClr val="F3F5F6"/>
                    </a:solidFill>
                  </a:tcPr>
                </a:tc>
                <a:tc>
                  <a:txBody>
                    <a:bodyPr wrap="square"/>
                    <a:lstStyle/>
                    <a:p>
                      <a:pPr>
                        <a:defRPr sz="1600" b="1">
                          <a:solidFill>
                            <a:srgbClr val="24586B"/>
                          </a:solidFill>
                          <a:latin typeface="Aptos"/>
                        </a:defRPr>
                      </a:pPr>
                      <a:r>
                        <a:rPr sz="1600" b="1">
                          <a:solidFill>
                            <a:srgbClr val="24586B"/>
                          </a:solidFill>
                          <a:latin typeface="Aptos"/>
                        </a:rPr>
                        <a:t>XGBoost</a:t>
                      </a:r>
                    </a:p>
                  </a:txBody>
                  <a:tcPr marL="128016" marR="109728" marT="54864" marB="45720" anchor="ctr">
                    <a:solidFill>
                      <a:srgbClr val="F3F5F6"/>
                    </a:solidFill>
                  </a:tcPr>
                </a:tc>
                <a:tc>
                  <a:txBody>
                    <a:bodyPr wrap="square"/>
                    <a:lstStyle/>
                    <a:p>
                      <a:pPr>
                        <a:defRPr sz="1600" b="1">
                          <a:solidFill>
                            <a:srgbClr val="24586B"/>
                          </a:solidFill>
                          <a:latin typeface="Aptos"/>
                        </a:defRPr>
                      </a:pPr>
                      <a:r>
                        <a:rPr sz="1600" b="1">
                          <a:solidFill>
                            <a:srgbClr val="24586B"/>
                          </a:solidFill>
                          <a:latin typeface="Aptos"/>
                        </a:rPr>
                        <a:t>Neural network</a:t>
                      </a:r>
                    </a:p>
                  </a:txBody>
                  <a:tcPr marL="128016" marR="109728" marT="54864" marB="45720" anchor="ctr">
                    <a:solidFill>
                      <a:srgbClr val="F3F5F6"/>
                    </a:solidFill>
                  </a:tcPr>
                </a:tc>
              </a:tr>
              <a:tr h="868680">
                <a:tc>
                  <a:txBody>
                    <a:bodyPr wrap="square"/>
                    <a:lstStyle/>
                    <a:p>
                      <a:pPr>
                        <a:defRPr sz="1600" b="0">
                          <a:solidFill>
                            <a:srgbClr val="20262D"/>
                          </a:solidFill>
                          <a:latin typeface="Aptos"/>
                        </a:defRPr>
                      </a:pPr>
                      <a:r>
                        <a:rPr sz="1600" b="0">
                          <a:solidFill>
                            <a:srgbClr val="20262D"/>
                          </a:solidFill>
                          <a:latin typeface="Aptos"/>
                        </a:rPr>
                        <a:t>Anything may change</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Become 29 years older; September bill −NT$145,764  </a:t>
                      </a:r>
                      <a:r>
                        <a:rPr sz="1600" b="1">
                          <a:solidFill>
                            <a:srgbClr val="B23A3A"/>
                          </a:solidFill>
                          <a:latin typeface="Aptos"/>
                        </a:rPr>
                        <a:t>41%</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Pay NT$134,508 in June, a month already past  </a:t>
                      </a:r>
                      <a:r>
                        <a:rPr sz="1600" b="1">
                          <a:solidFill>
                            <a:srgbClr val="B23A3A"/>
                          </a:solidFill>
                          <a:latin typeface="Aptos"/>
                        </a:rPr>
                        <a:t>49%</a:t>
                      </a:r>
                    </a:p>
                  </a:txBody>
                  <a:tcPr marL="128016" marR="109728" marT="54864" marB="45720" anchor="ctr">
                    <a:solidFill>
                      <a:srgbClr val="FFFFFF"/>
                    </a:solidFill>
                  </a:tcPr>
                </a:tc>
              </a:tr>
              <a:tr h="868680">
                <a:tc>
                  <a:txBody>
                    <a:bodyPr wrap="square"/>
                    <a:lstStyle/>
                    <a:p>
                      <a:pPr>
                        <a:defRPr sz="1600" b="0">
                          <a:solidFill>
                            <a:srgbClr val="20262D"/>
                          </a:solidFill>
                          <a:latin typeface="Aptos"/>
                        </a:defRPr>
                      </a:pPr>
                      <a:r>
                        <a:rPr sz="1600" b="0">
                          <a:solidFill>
                            <a:srgbClr val="20262D"/>
                          </a:solidFill>
                          <a:latin typeface="Aptos"/>
                        </a:rPr>
                        <a:t>Anything may change</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Get current; September bill NT$836,583  </a:t>
                      </a:r>
                      <a:r>
                        <a:rPr sz="1600" b="1">
                          <a:solidFill>
                            <a:srgbClr val="B23A3A"/>
                          </a:solidFill>
                          <a:latin typeface="Aptos"/>
                        </a:rPr>
                        <a:t>42%</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Pay NT$1.08M over two past months, ~10× the limit  </a:t>
                      </a:r>
                      <a:r>
                        <a:rPr sz="1600" b="1">
                          <a:solidFill>
                            <a:srgbClr val="B23A3A"/>
                          </a:solidFill>
                          <a:latin typeface="Aptos"/>
                        </a:rPr>
                        <a:t>42%</a:t>
                      </a:r>
                    </a:p>
                  </a:txBody>
                  <a:tcPr marL="128016" marR="109728" marT="54864" marB="45720" anchor="ctr">
                    <a:solidFill>
                      <a:srgbClr val="FFFFFF"/>
                    </a:solidFill>
                  </a:tcPr>
                </a:tc>
              </a:tr>
              <a:tr h="868680">
                <a:tc>
                  <a:txBody>
                    <a:bodyPr wrap="square"/>
                    <a:lstStyle/>
                    <a:p>
                      <a:pPr>
                        <a:defRPr sz="1600" b="0">
                          <a:solidFill>
                            <a:srgbClr val="20262D"/>
                          </a:solidFill>
                          <a:latin typeface="Aptos"/>
                        </a:defRPr>
                      </a:pPr>
                      <a:r>
                        <a:rPr sz="1600" b="0">
                          <a:solidFill>
                            <a:srgbClr val="20262D"/>
                          </a:solidFill>
                          <a:latin typeface="Aptos"/>
                        </a:rPr>
                        <a:t>Only September’s status, bill and payment</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Pay on time and pay NT$35,355  </a:t>
                      </a:r>
                      <a:r>
                        <a:rPr sz="1600" b="1">
                          <a:solidFill>
                            <a:srgbClr val="1E7A4F"/>
                          </a:solidFill>
                          <a:latin typeface="Aptos"/>
                        </a:rPr>
                        <a:t>25%</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0">
                          <a:solidFill>
                            <a:srgbClr val="20262D"/>
                          </a:solidFill>
                          <a:latin typeface="Aptos"/>
                        </a:rPr>
                        <a:t>Catch up one month (2 → 1 month late)  </a:t>
                      </a:r>
                      <a:r>
                        <a:rPr sz="1600" b="1">
                          <a:solidFill>
                            <a:srgbClr val="1E7A4F"/>
                          </a:solidFill>
                          <a:latin typeface="Aptos"/>
                        </a:rPr>
                        <a:t>39%</a:t>
                      </a:r>
                    </a:p>
                  </a:txBody>
                  <a:tcPr marL="128016" marR="109728" marT="54864" marB="45720" anchor="ctr">
                    <a:solidFill>
                      <a:srgbClr val="FFFFFF"/>
                    </a:solidFill>
                  </a:tcPr>
                </a:tc>
              </a:tr>
            </a:tbl>
          </a:graphicData>
        </a:graphic>
      </p:graphicFrame>
      <p:sp>
        <p:nvSpPr>
          <p:cNvPr id="8" name="TextBox 7"/>
          <p:cNvSpPr txBox="1"/>
          <p:nvPr/>
        </p:nvSpPr>
        <p:spPr>
          <a:xfrm>
            <a:off x="594360" y="5486400"/>
            <a:ext cx="10972800" cy="365760"/>
          </a:xfrm>
          <a:prstGeom prst="rect">
            <a:avLst/>
          </a:prstGeom>
          <a:noFill/>
        </p:spPr>
        <p:txBody>
          <a:bodyPr wrap="square" lIns="0" rIns="0" tIns="0" bIns="0">
            <a:spAutoFit/>
          </a:bodyPr>
          <a:lstStyle/>
          <a:p>
            <a:pPr>
              <a:spcAft>
                <a:spcPts val="0"/>
              </a:spcAft>
              <a:defRPr sz="1800" b="1">
                <a:solidFill>
                  <a:srgbClr val="24586B"/>
                </a:solidFill>
                <a:latin typeface="Georgia"/>
              </a:defRPr>
            </a:pPr>
            <a:r>
              <a:rPr sz="1800" b="1">
                <a:solidFill>
                  <a:srgbClr val="24586B"/>
                </a:solidFill>
                <a:latin typeface="Georgia"/>
              </a:rPr>
              <a:t>Constraints make the advice possible, but a person has to choose them, and every fix still rewrites September.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04 / COUNTERFACTUALS</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A tree’s steps turn into strange advice</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14</a:t>
            </a:r>
          </a:p>
        </p:txBody>
      </p:sp>
      <p:pic>
        <p:nvPicPr>
          <p:cNvPr id="6" name="Picture 5" descr="cell26_0.png"/>
          <p:cNvPicPr>
            <a:picLocks noChangeAspect="1"/>
          </p:cNvPicPr>
          <p:nvPr/>
        </p:nvPicPr>
        <p:blipFill>
          <a:blip r:embed="rId2"/>
          <a:stretch>
            <a:fillRect/>
          </a:stretch>
        </p:blipFill>
        <p:spPr>
          <a:xfrm>
            <a:off x="594360" y="1371600"/>
            <a:ext cx="4510941" cy="3611880"/>
          </a:xfrm>
          <a:prstGeom prst="rect">
            <a:avLst/>
          </a:prstGeom>
        </p:spPr>
      </p:pic>
      <p:sp>
        <p:nvSpPr>
          <p:cNvPr id="7" name="TextBox 6"/>
          <p:cNvSpPr txBox="1"/>
          <p:nvPr/>
        </p:nvSpPr>
        <p:spPr>
          <a:xfrm>
            <a:off x="594360" y="5047488"/>
            <a:ext cx="6309360" cy="274320"/>
          </a:xfrm>
          <a:prstGeom prst="rect">
            <a:avLst/>
          </a:prstGeom>
          <a:noFill/>
        </p:spPr>
        <p:txBody>
          <a:bodyPr wrap="square" lIns="0" rIns="0" tIns="0" bIns="0">
            <a:spAutoFit/>
          </a:bodyPr>
          <a:lstStyle/>
          <a:p>
            <a:pPr>
              <a:spcAft>
                <a:spcPts val="0"/>
              </a:spcAft>
              <a:defRPr sz="1400" b="0">
                <a:solidFill>
                  <a:srgbClr val="5B6570"/>
                </a:solidFill>
                <a:latin typeface="Aptos"/>
              </a:defRPr>
            </a:pPr>
            <a:r>
              <a:rPr sz="1400" b="0">
                <a:solidFill>
                  <a:srgbClr val="5B6570"/>
                </a:solidFill>
                <a:latin typeface="Aptos"/>
              </a:rPr>
              <a:t>XGBoost, client 24155: paying September’s bill off still gives 52.3%. Only a NT$320–525 bill is approved.</a:t>
            </a:r>
          </a:p>
        </p:txBody>
      </p:sp>
      <p:graphicFrame>
        <p:nvGraphicFramePr>
          <p:cNvPr id="8" name="Table 7"/>
          <p:cNvGraphicFramePr>
            <a:graphicFrameLocks noGrp="1"/>
          </p:cNvGraphicFramePr>
          <p:nvPr/>
        </p:nvGraphicFramePr>
        <p:xfrm>
          <a:off x="7086600" y="1463040"/>
          <a:ext cx="4480560" cy="1920240"/>
        </p:xfrm>
        <a:graphic>
          <a:graphicData uri="http://schemas.openxmlformats.org/drawingml/2006/table">
            <a:tbl>
              <a:tblPr firstRow="1" bandRow="1">
                <a:tableStyleId>{5C22544A-7EE6-4342-B048-85BDC9FD1C3A}</a:tableStyleId>
              </a:tblPr>
              <a:tblGrid>
                <a:gridCol w="2103120"/>
                <a:gridCol w="1188720"/>
                <a:gridCol w="1188720"/>
              </a:tblGrid>
              <a:tr h="640080">
                <a:tc>
                  <a:txBody>
                    <a:bodyPr wrap="square"/>
                    <a:lstStyle/>
                    <a:p>
                      <a:pPr>
                        <a:defRPr sz="1600" b="1">
                          <a:solidFill>
                            <a:srgbClr val="24586B"/>
                          </a:solidFill>
                          <a:latin typeface="Aptos"/>
                        </a:defRPr>
                      </a:pPr>
                      <a:r>
                        <a:rPr sz="1600" b="1">
                          <a:solidFill>
                            <a:srgbClr val="24586B"/>
                          </a:solidFill>
                          <a:latin typeface="Aptos"/>
                        </a:rPr>
                        <a:t>What if…</a:t>
                      </a:r>
                    </a:p>
                  </a:txBody>
                  <a:tcPr marL="128016" marR="109728" marT="54864" marB="45720" anchor="ctr">
                    <a:solidFill>
                      <a:srgbClr val="F3F5F6"/>
                    </a:solidFill>
                  </a:tcPr>
                </a:tc>
                <a:tc>
                  <a:txBody>
                    <a:bodyPr wrap="square"/>
                    <a:lstStyle/>
                    <a:p>
                      <a:pPr>
                        <a:defRPr sz="1600" b="1">
                          <a:solidFill>
                            <a:srgbClr val="24586B"/>
                          </a:solidFill>
                          <a:latin typeface="Aptos"/>
                        </a:defRPr>
                      </a:pPr>
                      <a:r>
                        <a:rPr sz="1600" b="1">
                          <a:solidFill>
                            <a:srgbClr val="24586B"/>
                          </a:solidFill>
                          <a:latin typeface="Aptos"/>
                        </a:rPr>
                        <a:t>XGBoost</a:t>
                      </a:r>
                    </a:p>
                  </a:txBody>
                  <a:tcPr marL="128016" marR="109728" marT="54864" marB="45720" anchor="ctr">
                    <a:solidFill>
                      <a:srgbClr val="F3F5F6"/>
                    </a:solidFill>
                  </a:tcPr>
                </a:tc>
                <a:tc>
                  <a:txBody>
                    <a:bodyPr wrap="square"/>
                    <a:lstStyle/>
                    <a:p>
                      <a:pPr>
                        <a:defRPr sz="1600" b="1">
                          <a:solidFill>
                            <a:srgbClr val="24586B"/>
                          </a:solidFill>
                          <a:latin typeface="Aptos"/>
                        </a:defRPr>
                      </a:pPr>
                      <a:r>
                        <a:rPr sz="1600" b="1">
                          <a:solidFill>
                            <a:srgbClr val="24586B"/>
                          </a:solidFill>
                          <a:latin typeface="Aptos"/>
                        </a:rPr>
                        <a:t>Network</a:t>
                      </a:r>
                    </a:p>
                  </a:txBody>
                  <a:tcPr marL="128016" marR="109728" marT="54864" marB="45720" anchor="ctr">
                    <a:solidFill>
                      <a:srgbClr val="F3F5F6"/>
                    </a:solidFill>
                  </a:tcPr>
                </a:tc>
              </a:tr>
              <a:tr h="640080">
                <a:tc>
                  <a:txBody>
                    <a:bodyPr wrap="square"/>
                    <a:lstStyle/>
                    <a:p>
                      <a:pPr>
                        <a:defRPr sz="1600" b="0">
                          <a:solidFill>
                            <a:srgbClr val="20262D"/>
                          </a:solidFill>
                          <a:latin typeface="Aptos"/>
                        </a:defRPr>
                      </a:pPr>
                      <a:r>
                        <a:rPr sz="1600" b="0">
                          <a:solidFill>
                            <a:srgbClr val="20262D"/>
                          </a:solidFill>
                          <a:latin typeface="Aptos"/>
                        </a:rPr>
                        <a:t>Get current this month</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1">
                          <a:solidFill>
                            <a:srgbClr val="1E7A4F"/>
                          </a:solidFill>
                          <a:latin typeface="Aptos"/>
                        </a:rPr>
                        <a:t>29.6%</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1">
                          <a:solidFill>
                            <a:srgbClr val="1E7A4F"/>
                          </a:solidFill>
                          <a:latin typeface="Aptos"/>
                        </a:rPr>
                        <a:t>21.2%</a:t>
                      </a:r>
                    </a:p>
                  </a:txBody>
                  <a:tcPr marL="128016" marR="109728" marT="54864" marB="45720" anchor="ctr">
                    <a:solidFill>
                      <a:srgbClr val="FFFFFF"/>
                    </a:solidFill>
                  </a:tcPr>
                </a:tc>
              </a:tr>
              <a:tr h="640080">
                <a:tc>
                  <a:txBody>
                    <a:bodyPr wrap="square"/>
                    <a:lstStyle/>
                    <a:p>
                      <a:pPr>
                        <a:defRPr sz="1600" b="0">
                          <a:solidFill>
                            <a:srgbClr val="20262D"/>
                          </a:solidFill>
                          <a:latin typeface="Aptos"/>
                        </a:defRPr>
                      </a:pPr>
                      <a:r>
                        <a:rPr sz="1600" b="0">
                          <a:solidFill>
                            <a:srgbClr val="20262D"/>
                          </a:solidFill>
                          <a:latin typeface="Aptos"/>
                        </a:rPr>
                        <a:t>Be 8 months late in April</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1">
                          <a:solidFill>
                            <a:srgbClr val="B23A3A"/>
                          </a:solidFill>
                          <a:latin typeface="Aptos"/>
                        </a:rPr>
                        <a:t>73.6%</a:t>
                      </a:r>
                    </a:p>
                  </a:txBody>
                  <a:tcPr marL="128016" marR="109728" marT="54864" marB="45720" anchor="ctr">
                    <a:solidFill>
                      <a:srgbClr val="FFFFFF"/>
                    </a:solidFill>
                  </a:tcPr>
                </a:tc>
                <a:tc>
                  <a:txBody>
                    <a:bodyPr wrap="square"/>
                    <a:lstStyle/>
                    <a:p>
                      <a:pPr>
                        <a:defRPr sz="1600" b="0">
                          <a:solidFill>
                            <a:srgbClr val="20262D"/>
                          </a:solidFill>
                          <a:latin typeface="Aptos"/>
                        </a:defRPr>
                      </a:pPr>
                      <a:r>
                        <a:rPr sz="1600" b="1">
                          <a:solidFill>
                            <a:srgbClr val="B23A3A"/>
                          </a:solidFill>
                          <a:latin typeface="Aptos"/>
                        </a:rPr>
                        <a:t>78.7%</a:t>
                      </a:r>
                    </a:p>
                  </a:txBody>
                  <a:tcPr marL="128016" marR="109728" marT="54864" marB="45720" anchor="ctr">
                    <a:solidFill>
                      <a:srgbClr val="FFFFFF"/>
                    </a:solidFill>
                  </a:tcPr>
                </a:tc>
              </a:tr>
            </a:tbl>
          </a:graphicData>
        </a:graphic>
      </p:graphicFrame>
      <p:sp>
        <p:nvSpPr>
          <p:cNvPr id="9" name="TextBox 8"/>
          <p:cNvSpPr txBox="1"/>
          <p:nvPr/>
        </p:nvSpPr>
        <p:spPr>
          <a:xfrm>
            <a:off x="7086600" y="3566160"/>
            <a:ext cx="4480560" cy="1097280"/>
          </a:xfrm>
          <a:prstGeom prst="rect">
            <a:avLst/>
          </a:prstGeom>
          <a:noFill/>
        </p:spPr>
        <p:txBody>
          <a:bodyPr wrap="square" lIns="0" rIns="0" tIns="0" bIns="0">
            <a:spAutoFit/>
          </a:bodyPr>
          <a:lstStyle/>
          <a:p>
            <a:pPr>
              <a:spcAft>
                <a:spcPts val="0"/>
              </a:spcAft>
              <a:defRPr sz="1600" b="0">
                <a:solidFill>
                  <a:srgbClr val="20262D"/>
                </a:solidFill>
                <a:latin typeface="Aptos"/>
              </a:defRPr>
            </a:pPr>
            <a:r>
              <a:rPr sz="1600" b="0">
                <a:solidFill>
                  <a:srgbClr val="20262D"/>
                </a:solidFill>
                <a:latin typeface="Aptos"/>
              </a:rPr>
              <a:t>Sensible advice holds on both models. The bill quirk belongs to one model, and only probing it reveals it.</a:t>
            </a:r>
          </a:p>
        </p:txBody>
      </p:sp>
      <p:sp>
        <p:nvSpPr>
          <p:cNvPr id="10" name="TextBox 9"/>
          <p:cNvSpPr txBox="1"/>
          <p:nvPr/>
        </p:nvSpPr>
        <p:spPr>
          <a:xfrm>
            <a:off x="594360" y="5788152"/>
            <a:ext cx="10972800" cy="365760"/>
          </a:xfrm>
          <a:prstGeom prst="rect">
            <a:avLst/>
          </a:prstGeom>
          <a:noFill/>
        </p:spPr>
        <p:txBody>
          <a:bodyPr wrap="square" lIns="0" rIns="0" tIns="0" bIns="0">
            <a:spAutoFit/>
          </a:bodyPr>
          <a:lstStyle/>
          <a:p>
            <a:pPr>
              <a:spcAft>
                <a:spcPts val="0"/>
              </a:spcAft>
              <a:defRPr sz="1800" b="1">
                <a:solidFill>
                  <a:srgbClr val="24586B"/>
                </a:solidFill>
                <a:latin typeface="Georgia"/>
              </a:defRPr>
            </a:pPr>
            <a:r>
              <a:rPr sz="1800" b="1">
                <a:solidFill>
                  <a:srgbClr val="24586B"/>
                </a:solidFill>
                <a:latin typeface="Georgia"/>
              </a:rPr>
              <a:t>A glass box shows this in one coefficient; a black box hides it.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228600"/>
            <a:ext cx="10058400" cy="228600"/>
          </a:xfrm>
          <a:prstGeom prst="rect">
            <a:avLst/>
          </a:prstGeom>
          <a:noFill/>
        </p:spPr>
        <p:txBody>
          <a:bodyPr wrap="square" lIns="0" rIns="0" tIns="0" bIns="0">
            <a:spAutoFit/>
          </a:bodyPr>
          <a:lstStyle/>
          <a:p>
            <a:pPr>
              <a:spcAft>
                <a:spcPts val="0"/>
              </a:spcAft>
              <a:defRPr sz="1100" b="1">
                <a:solidFill>
                  <a:srgbClr val="24586B"/>
                </a:solidFill>
                <a:latin typeface="Aptos"/>
              </a:defRPr>
            </a:pPr>
            <a:r>
              <a:rPr sz="1100" b="1">
                <a:solidFill>
                  <a:srgbClr val="24586B"/>
                </a:solidFill>
                <a:latin typeface="Aptos"/>
              </a:rPr>
              <a:t>WHAT WE LEARNED</a:t>
            </a:r>
          </a:p>
        </p:txBody>
      </p:sp>
      <p:sp>
        <p:nvSpPr>
          <p:cNvPr id="3" name="TextBox 2"/>
          <p:cNvSpPr txBox="1"/>
          <p:nvPr/>
        </p:nvSpPr>
        <p:spPr>
          <a:xfrm>
            <a:off x="594360" y="685800"/>
            <a:ext cx="10972800" cy="685800"/>
          </a:xfrm>
          <a:prstGeom prst="rect">
            <a:avLst/>
          </a:prstGeom>
          <a:noFill/>
        </p:spPr>
        <p:txBody>
          <a:bodyPr wrap="square" lIns="0" rIns="0" tIns="0" bIns="0">
            <a:spAutoFit/>
          </a:bodyPr>
          <a:lstStyle/>
          <a:p>
            <a:pPr>
              <a:spcAft>
                <a:spcPts val="0"/>
              </a:spcAft>
              <a:defRPr sz="3000" b="1">
                <a:solidFill>
                  <a:srgbClr val="20262D"/>
                </a:solidFill>
                <a:latin typeface="Georgia"/>
              </a:defRPr>
            </a:pPr>
            <a:r>
              <a:rPr sz="3000" b="1">
                <a:solidFill>
                  <a:srgbClr val="20262D"/>
                </a:solidFill>
                <a:latin typeface="Georgia"/>
              </a:rPr>
              <a:t>Where each tool falls short</a:t>
            </a:r>
          </a:p>
        </p:txBody>
      </p:sp>
      <p:sp>
        <p:nvSpPr>
          <p:cNvPr id="4" name="TextBox 3"/>
          <p:cNvSpPr txBox="1"/>
          <p:nvPr/>
        </p:nvSpPr>
        <p:spPr>
          <a:xfrm>
            <a:off x="594360" y="6510528"/>
            <a:ext cx="8229600" cy="210312"/>
          </a:xfrm>
          <a:prstGeom prst="rect">
            <a:avLst/>
          </a:prstGeom>
          <a:noFill/>
        </p:spPr>
        <p:txBody>
          <a:bodyPr wrap="square" lIns="0" rIns="0" tIns="0" bIns="0">
            <a:spAutoFit/>
          </a:bodyPr>
          <a:lstStyle/>
          <a:p>
            <a:pPr>
              <a:spcAft>
                <a:spcPts val="0"/>
              </a:spcAft>
              <a:defRPr sz="1000" b="0">
                <a:solidFill>
                  <a:srgbClr val="5B6570"/>
                </a:solidFill>
                <a:latin typeface="Aptos"/>
              </a:defRPr>
            </a:pPr>
            <a:r>
              <a:rPr sz="1000" b="0">
                <a:solidFill>
                  <a:srgbClr val="5B6570"/>
                </a:solidFill>
                <a:latin typeface="Aptos"/>
              </a:rPr>
              <a:t>Explainable Credit Risk</a:t>
            </a:r>
          </a:p>
        </p:txBody>
      </p:sp>
      <p:sp>
        <p:nvSpPr>
          <p:cNvPr id="5" name="TextBox 4"/>
          <p:cNvSpPr txBox="1"/>
          <p:nvPr/>
        </p:nvSpPr>
        <p:spPr>
          <a:xfrm>
            <a:off x="10972800" y="6510528"/>
            <a:ext cx="594360" cy="228600"/>
          </a:xfrm>
          <a:prstGeom prst="rect">
            <a:avLst/>
          </a:prstGeom>
          <a:noFill/>
        </p:spPr>
        <p:txBody>
          <a:bodyPr wrap="square" lIns="0" rIns="0" tIns="0" bIns="0">
            <a:spAutoFit/>
          </a:bodyPr>
          <a:lstStyle/>
          <a:p>
            <a:pPr algn="r">
              <a:spcAft>
                <a:spcPts val="0"/>
              </a:spcAft>
              <a:defRPr sz="1100" b="0">
                <a:solidFill>
                  <a:srgbClr val="5B6570"/>
                </a:solidFill>
                <a:latin typeface="Aptos"/>
              </a:defRPr>
            </a:pPr>
            <a:r>
              <a:rPr sz="1100" b="0">
                <a:solidFill>
                  <a:srgbClr val="5B6570"/>
                </a:solidFill>
                <a:latin typeface="Aptos"/>
              </a:rPr>
              <a:t>15</a:t>
            </a:r>
          </a:p>
        </p:txBody>
      </p:sp>
      <p:sp>
        <p:nvSpPr>
          <p:cNvPr id="6" name="TextBox 5"/>
          <p:cNvSpPr txBox="1"/>
          <p:nvPr/>
        </p:nvSpPr>
        <p:spPr>
          <a:xfrm>
            <a:off x="777240" y="1554480"/>
            <a:ext cx="2743200" cy="365760"/>
          </a:xfrm>
          <a:prstGeom prst="rect">
            <a:avLst/>
          </a:prstGeom>
          <a:noFill/>
        </p:spPr>
        <p:txBody>
          <a:bodyPr wrap="square" lIns="0" rIns="0" tIns="0" bIns="0">
            <a:spAutoFit/>
          </a:bodyPr>
          <a:lstStyle/>
          <a:p>
            <a:pPr>
              <a:spcAft>
                <a:spcPts val="0"/>
              </a:spcAft>
              <a:defRPr sz="2200" b="1">
                <a:solidFill>
                  <a:srgbClr val="24586B"/>
                </a:solidFill>
                <a:latin typeface="Georgia"/>
              </a:defRPr>
            </a:pPr>
            <a:r>
              <a:rPr sz="2200" b="1">
                <a:solidFill>
                  <a:srgbClr val="24586B"/>
                </a:solidFill>
                <a:latin typeface="Georgia"/>
              </a:rPr>
              <a:t>The glass box</a:t>
            </a:r>
          </a:p>
        </p:txBody>
      </p:sp>
      <p:sp>
        <p:nvSpPr>
          <p:cNvPr id="7" name="TextBox 6"/>
          <p:cNvSpPr txBox="1"/>
          <p:nvPr/>
        </p:nvSpPr>
        <p:spPr>
          <a:xfrm>
            <a:off x="3657600" y="1581912"/>
            <a:ext cx="7772400" cy="640080"/>
          </a:xfrm>
          <a:prstGeom prst="rect">
            <a:avLst/>
          </a:prstGeom>
          <a:noFill/>
        </p:spPr>
        <p:txBody>
          <a:bodyPr wrap="square" lIns="0" rIns="0" tIns="0" bIns="0">
            <a:spAutoFit/>
          </a:bodyPr>
          <a:lstStyle/>
          <a:p>
            <a:pPr>
              <a:spcAft>
                <a:spcPts val="0"/>
              </a:spcAft>
              <a:defRPr sz="1900" b="0">
                <a:solidFill>
                  <a:srgbClr val="20262D"/>
                </a:solidFill>
                <a:latin typeface="Aptos"/>
              </a:defRPr>
            </a:pPr>
            <a:r>
              <a:rPr sz="1900" b="0">
                <a:solidFill>
                  <a:srgbClr val="20262D"/>
                </a:solidFill>
                <a:latin typeface="Aptos"/>
              </a:rPr>
              <a:t>Logistic: the calculation is visible, but a large coefficient still needs interpretation.</a:t>
            </a:r>
          </a:p>
        </p:txBody>
      </p:sp>
      <p:sp>
        <p:nvSpPr>
          <p:cNvPr id="8" name="TextBox 7"/>
          <p:cNvSpPr txBox="1"/>
          <p:nvPr/>
        </p:nvSpPr>
        <p:spPr>
          <a:xfrm>
            <a:off x="777240" y="2423160"/>
            <a:ext cx="2743200" cy="365760"/>
          </a:xfrm>
          <a:prstGeom prst="rect">
            <a:avLst/>
          </a:prstGeom>
          <a:noFill/>
        </p:spPr>
        <p:txBody>
          <a:bodyPr wrap="square" lIns="0" rIns="0" tIns="0" bIns="0">
            <a:spAutoFit/>
          </a:bodyPr>
          <a:lstStyle/>
          <a:p>
            <a:pPr>
              <a:spcAft>
                <a:spcPts val="0"/>
              </a:spcAft>
              <a:defRPr sz="2200" b="1">
                <a:solidFill>
                  <a:srgbClr val="24586B"/>
                </a:solidFill>
                <a:latin typeface="Georgia"/>
              </a:defRPr>
            </a:pPr>
            <a:r>
              <a:rPr sz="2200" b="1">
                <a:solidFill>
                  <a:srgbClr val="24586B"/>
                </a:solidFill>
                <a:latin typeface="Georgia"/>
              </a:rPr>
              <a:t>SHAP</a:t>
            </a:r>
          </a:p>
        </p:txBody>
      </p:sp>
      <p:sp>
        <p:nvSpPr>
          <p:cNvPr id="9" name="TextBox 8"/>
          <p:cNvSpPr txBox="1"/>
          <p:nvPr/>
        </p:nvSpPr>
        <p:spPr>
          <a:xfrm>
            <a:off x="3657600" y="2450592"/>
            <a:ext cx="7772400" cy="640080"/>
          </a:xfrm>
          <a:prstGeom prst="rect">
            <a:avLst/>
          </a:prstGeom>
          <a:noFill/>
        </p:spPr>
        <p:txBody>
          <a:bodyPr wrap="square" lIns="0" rIns="0" tIns="0" bIns="0">
            <a:spAutoFit/>
          </a:bodyPr>
          <a:lstStyle/>
          <a:p>
            <a:pPr>
              <a:spcAft>
                <a:spcPts val="0"/>
              </a:spcAft>
              <a:defRPr sz="1900" b="0">
                <a:solidFill>
                  <a:srgbClr val="20262D"/>
                </a:solidFill>
                <a:latin typeface="Aptos"/>
              </a:defRPr>
            </a:pPr>
            <a:r>
              <a:rPr sz="1900" b="0">
                <a:solidFill>
                  <a:srgbClr val="20262D"/>
                </a:solidFill>
                <a:latin typeface="Aptos"/>
              </a:rPr>
              <a:t>Exact on trees, only estimated on the network; correlated inputs split credit arbitrarily.</a:t>
            </a:r>
          </a:p>
        </p:txBody>
      </p:sp>
      <p:sp>
        <p:nvSpPr>
          <p:cNvPr id="10" name="TextBox 9"/>
          <p:cNvSpPr txBox="1"/>
          <p:nvPr/>
        </p:nvSpPr>
        <p:spPr>
          <a:xfrm>
            <a:off x="777240" y="3291840"/>
            <a:ext cx="2743200" cy="365760"/>
          </a:xfrm>
          <a:prstGeom prst="rect">
            <a:avLst/>
          </a:prstGeom>
          <a:noFill/>
        </p:spPr>
        <p:txBody>
          <a:bodyPr wrap="square" lIns="0" rIns="0" tIns="0" bIns="0">
            <a:spAutoFit/>
          </a:bodyPr>
          <a:lstStyle/>
          <a:p>
            <a:pPr>
              <a:spcAft>
                <a:spcPts val="0"/>
              </a:spcAft>
              <a:defRPr sz="2200" b="1">
                <a:solidFill>
                  <a:srgbClr val="24586B"/>
                </a:solidFill>
                <a:latin typeface="Georgia"/>
              </a:defRPr>
            </a:pPr>
            <a:r>
              <a:rPr sz="2200" b="1">
                <a:solidFill>
                  <a:srgbClr val="24586B"/>
                </a:solidFill>
                <a:latin typeface="Georgia"/>
              </a:rPr>
              <a:t>LIME</a:t>
            </a:r>
          </a:p>
        </p:txBody>
      </p:sp>
      <p:sp>
        <p:nvSpPr>
          <p:cNvPr id="11" name="TextBox 10"/>
          <p:cNvSpPr txBox="1"/>
          <p:nvPr/>
        </p:nvSpPr>
        <p:spPr>
          <a:xfrm>
            <a:off x="3657600" y="3319272"/>
            <a:ext cx="7772400" cy="640080"/>
          </a:xfrm>
          <a:prstGeom prst="rect">
            <a:avLst/>
          </a:prstGeom>
          <a:noFill/>
        </p:spPr>
        <p:txBody>
          <a:bodyPr wrap="square" lIns="0" rIns="0" tIns="0" bIns="0">
            <a:spAutoFit/>
          </a:bodyPr>
          <a:lstStyle/>
          <a:p>
            <a:pPr>
              <a:spcAft>
                <a:spcPts val="0"/>
              </a:spcAft>
              <a:defRPr sz="1900" b="0">
                <a:solidFill>
                  <a:srgbClr val="20262D"/>
                </a:solidFill>
                <a:latin typeface="Aptos"/>
              </a:defRPr>
            </a:pPr>
            <a:r>
              <a:rPr sz="1900" b="0">
                <a:solidFill>
                  <a:srgbClr val="20262D"/>
                </a:solidFill>
                <a:latin typeface="Aptos"/>
              </a:rPr>
              <a:t>Matches SHAP on XGBoost (4/4), less on the network (3/4); its line fits poorly (R² 0.29).</a:t>
            </a:r>
          </a:p>
        </p:txBody>
      </p:sp>
      <p:sp>
        <p:nvSpPr>
          <p:cNvPr id="12" name="TextBox 11"/>
          <p:cNvSpPr txBox="1"/>
          <p:nvPr/>
        </p:nvSpPr>
        <p:spPr>
          <a:xfrm>
            <a:off x="777240" y="4160520"/>
            <a:ext cx="2743200" cy="365760"/>
          </a:xfrm>
          <a:prstGeom prst="rect">
            <a:avLst/>
          </a:prstGeom>
          <a:noFill/>
        </p:spPr>
        <p:txBody>
          <a:bodyPr wrap="square" lIns="0" rIns="0" tIns="0" bIns="0">
            <a:spAutoFit/>
          </a:bodyPr>
          <a:lstStyle/>
          <a:p>
            <a:pPr>
              <a:spcAft>
                <a:spcPts val="0"/>
              </a:spcAft>
              <a:defRPr sz="2200" b="1">
                <a:solidFill>
                  <a:srgbClr val="24586B"/>
                </a:solidFill>
                <a:latin typeface="Georgia"/>
              </a:defRPr>
            </a:pPr>
            <a:r>
              <a:rPr sz="2200" b="1">
                <a:solidFill>
                  <a:srgbClr val="24586B"/>
                </a:solidFill>
                <a:latin typeface="Georgia"/>
              </a:rPr>
              <a:t>Counterfactuals</a:t>
            </a:r>
          </a:p>
        </p:txBody>
      </p:sp>
      <p:sp>
        <p:nvSpPr>
          <p:cNvPr id="13" name="TextBox 12"/>
          <p:cNvSpPr txBox="1"/>
          <p:nvPr/>
        </p:nvSpPr>
        <p:spPr>
          <a:xfrm>
            <a:off x="3657600" y="4187952"/>
            <a:ext cx="7772400" cy="640080"/>
          </a:xfrm>
          <a:prstGeom prst="rect">
            <a:avLst/>
          </a:prstGeom>
          <a:noFill/>
        </p:spPr>
        <p:txBody>
          <a:bodyPr wrap="square" lIns="0" rIns="0" tIns="0" bIns="0">
            <a:spAutoFit/>
          </a:bodyPr>
          <a:lstStyle/>
          <a:p>
            <a:pPr>
              <a:spcAft>
                <a:spcPts val="0"/>
              </a:spcAft>
              <a:defRPr sz="1900" b="0">
                <a:solidFill>
                  <a:srgbClr val="20262D"/>
                </a:solidFill>
                <a:latin typeface="Aptos"/>
              </a:defRPr>
            </a:pPr>
            <a:r>
              <a:rPr sz="1900" b="0">
                <a:solidFill>
                  <a:srgbClr val="20262D"/>
                </a:solidFill>
                <a:latin typeface="Aptos"/>
              </a:rPr>
              <a:t>Valid is not feasible: impossible changes on both models; constraints need human judgment.</a:t>
            </a:r>
          </a:p>
        </p:txBody>
      </p:sp>
      <p:sp>
        <p:nvSpPr>
          <p:cNvPr id="14" name="Rectangle 13"/>
          <p:cNvSpPr/>
          <p:nvPr/>
        </p:nvSpPr>
        <p:spPr>
          <a:xfrm>
            <a:off x="777240" y="5074920"/>
            <a:ext cx="10652760" cy="10972"/>
          </a:xfrm>
          <a:prstGeom prst="rect">
            <a:avLst/>
          </a:prstGeom>
          <a:solidFill>
            <a:srgbClr val="DDE2E5"/>
          </a:solidFill>
          <a:ln>
            <a:noFill/>
          </a:ln>
          <a:effectLst/>
        </p:spPr>
        <p:txBody>
          <a:bodyPr rtlCol="0" anchor="ctr"/>
          <a:lstStyle/>
          <a:p>
            <a:pPr algn="ctr"/>
          </a:p>
        </p:txBody>
      </p:sp>
      <p:sp>
        <p:nvSpPr>
          <p:cNvPr id="15" name="TextBox 14"/>
          <p:cNvSpPr txBox="1"/>
          <p:nvPr/>
        </p:nvSpPr>
        <p:spPr>
          <a:xfrm>
            <a:off x="777240" y="5303520"/>
            <a:ext cx="10652760" cy="457200"/>
          </a:xfrm>
          <a:prstGeom prst="rect">
            <a:avLst/>
          </a:prstGeom>
          <a:noFill/>
        </p:spPr>
        <p:txBody>
          <a:bodyPr wrap="square" lIns="0" rIns="0" tIns="0" bIns="0">
            <a:spAutoFit/>
          </a:bodyPr>
          <a:lstStyle/>
          <a:p>
            <a:pPr>
              <a:spcAft>
                <a:spcPts val="0"/>
              </a:spcAft>
              <a:defRPr sz="2500" b="1">
                <a:solidFill>
                  <a:srgbClr val="20262D"/>
                </a:solidFill>
                <a:latin typeface="Georgia"/>
              </a:defRPr>
            </a:pPr>
            <a:r>
              <a:rPr sz="2500" b="1">
                <a:solidFill>
                  <a:srgbClr val="20262D"/>
                </a:solidFill>
                <a:latin typeface="Georgia"/>
              </a:rPr>
              <a:t>Evidence about model behavior—not proof of a real-world cause.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Explainable Credit Risk — Final Group Presentation</dc:title>
  <dc:subject>Ten-minute empirical presentation: interpretation, importance and post-hoc explanation</dc:subject>
  <dc:creator>Explainable Credit Risk project group</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
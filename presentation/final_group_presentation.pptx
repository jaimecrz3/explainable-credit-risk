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credit analyst sees a high-risk score. Accuracy is only the first question. Why this score, would the reasons change, and what would change the decision?</a:t>
            </a:r>
          </a:p>
          <a:p/>
          <a:p>
            <a:r>
              <a:t>Our group studied logistic regression, XGBoost and a neural network to see what their tools reveal. We compare explanations, not a competition between models.</a:t>
            </a:r>
          </a:p>
          <a:p/>
          <a:p>
            <a:r>
              <a:t>Source note — not spoken: Motivation adapted from XAI_in_Finance_v4.pptx slides 2–3 and its presenter script; no regulatory claim or real lending decision is implied. Scientific scope: README.md and RESULTS.md. Notebooks 01–03 share Configuration A: 30,000 Excel rows, 23 predictors, stratified 80/20 split, seed 42. Notebook 04 separately trains Configuration B: 24,000 CSV rows, 21 predictors excluding SEX/MARRIAGE, stratified 75/25 split, seed 42. The talk compares types of explanation, not controlled effects across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gives us a useful starting point: the fitted equation is readable. For standardized numeric inputs, a coefficient describes the change in log-odds for a one-standard-deviation increase, holding other inputs fixed.</a:t>
            </a:r>
          </a:p>
          <a:p/>
          <a:p>
            <a:r>
              <a:t>The latest repayment status, PAY_0, has coefficient 0.661. Its exponential, 1.937, means that increase multiplies the model's conditional odds by about 1.94. The latest payment amount has a negative fitted association.</a:t>
            </a:r>
          </a:p>
          <a:p/>
          <a:p>
            <a:r>
              <a:t>But the largest absolute coefficients belong to small, undocumented education and marriage categories. A large number is not automatically a meaningful financial reason. We retain every category, so category effects need within-variable contrasts. Correlated monthly bills add another difficulty. The model is transparent, but interpretation still needs judgment.</a:t>
            </a:r>
          </a:p>
          <a:p/>
          <a:p>
            <a:r>
              <a:t>Source note — not spoken: 01_logistic_regression.ipynb cell 39, saved coefficient/exp(coefficient) table: PAY_0 0.661/1.937; PAY_AMT1 -0.200/0.819; BILL_AMT1 -0.321/0.726; EDUCATION_5 -1.040/0.353; MARRIAGE_0 -0.995/0.370. Cell 43 bill correlations: 0.80–0.95 off-diagonal. The editable table transcribes selected original rows. Numeric and binary coefficients have different scales. Category exponentials are not odds ratios against an absent reference category. These associations are not causal.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test applicant, we can follow the calculation all the way through. Multiplying the transformed inputs by their coefficients, adding the intercept and converting to probability gives 0.9927, exactly matching the recorded model output at that precision.</a:t>
            </a:r>
          </a:p>
          <a:p/>
          <a:p>
            <a:r>
              <a:t>In the local breakdown, PAY_0 contributes plus 4.717 to log-odds. Other repayment terms add risk, while some features offset it. This is more informative than a high-risk label: we see the calculation behind it.</a:t>
            </a:r>
          </a:p>
          <a:p/>
          <a:p>
            <a:r>
              <a:t>Still, exact arithmetic does not make the explanation causal. The terms depend on coding and scaling, and this is the riskiest test case, not a typical applicant. Our second speaker now asks what we can learn when there is no short coefficient equation to read.</a:t>
            </a:r>
          </a:p>
          <a:p/>
          <a:p>
            <a:r>
              <a:t>Source note — not spoken: 01_logistic_regression.ipynb cells 46, 48–49. Full original calculation: index 4387, probability 0.9927. Recorded local terms: PAY_0 4.717; PAY_2 0.548; PAY_3 0.488; SEX_1 -0.438; EDUCATION_2 0.288; PAY_4 0.275; BILL_AMT1 -0.269. The slide redraws these seven saved terms for readability; it is a selection, not the complete sum used to reconstruct probability. Original full local plot remains in cell 49. This intrinsic decomposition is not SHAP and uses a different case from the network. Prior verification reproduced the logistic outputs at recorded precision.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combines many trees. Our completed interpretation asks which features help those trees divide the training data, rather than trying to read one coefficient per input.</a:t>
            </a:r>
          </a:p>
          <a:p/>
          <a:p>
            <a:r>
              <a:t>The original gain plot puts PAY_0 first, followed by other repayment-status variables. Gain measures the average improvement in the training objective when a feature is used for a split. So recent repayment history helps produce useful splits in this fitted ensemble.</a:t>
            </a:r>
          </a:p>
          <a:p/>
          <a:p>
            <a:r>
              <a:t>But gain is only one definition. Weight counts how often a feature is used in splits. Cover summarizes the coverage of those splits; here it is based on the model's training curvature, or Hessians. A frequently used variable need not deliver the biggest average improvement.</a:t>
            </a:r>
          </a:p>
          <a:p/>
          <a:p>
            <a:r>
              <a:t>This distinction matters for interpretation. Importance tells us something about the trees collectively, but it does not tell us whether a feature raised this applicant's risk. Next, we ask whether the three definitions even produce the same ranking.</a:t>
            </a:r>
          </a:p>
          <a:p/>
          <a:p>
            <a:r>
              <a:t>Source note — not spoken: 03_xgboost.ipynb cells 27–29. The slide displays the six highest-gain rows from the stored plot in cell 29, retaining the original bar lengths and horizontal axis; no gain values were inferred or recomputed. PAY_0, PAY_2, PAY_4, PAY_3, PAY_5, PAY_6 lead. Gain is average loss reduction, weight split frequency, cover average Hessian-based coverage for binary logistic boosting. Training outcomes were not exactly reproduced: RESULTS.md records 284 historical best trees versus 328 in verification and a changed applicant. This presentation uses historical importance evidence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lines follow three features through gain, weight and cover. A smaller rank means greater importance. PAY_0 moves from first by gain to eighth by weight and third by cover. BILL_AMT1, the latest bill amount, moves from tenth to first to eleventh. Credit limit also changes substantially.</a:t>
            </a:r>
          </a:p>
          <a:p/>
          <a:p>
            <a:r>
              <a:t>Nothing in this comparison says the model is contradicting itself. Each definition summarizes a different property: improvement, frequency or coverage. It does mean that reporting a feature as important without naming the definition can mislead.</a:t>
            </a:r>
          </a:p>
          <a:p/>
          <a:p>
            <a:r>
              <a:t>Our XGBoost notebook prepares a prediction wrapper and selects an applicant, but does not complete SHAP, LIME or DiCE experiments. We cannot fill that gap with results from another presentation that lack supporting code. The historical fit also differed in verification, so these remain recorded rankings. Our third speaker now turns to the separate neural-network explanation study.</a:t>
            </a:r>
          </a:p>
          <a:p/>
          <a:p>
            <a:r>
              <a:t>Source note — not spoken: 03_xgboost.ipynb cell 28. Editable rank plot transcribes original gain/weight/cover ranks: PAY_0 1/8/3; BILL_AMT1 10/1/11; LIMIT_BAL 8/2/15. Lines join definitions, not observations or a time trend. The plot is a readable rendering of saved data, not a new experiment. Cells 31–38 contain wrappers, applicant selection and correlations, not TreeSHAP, LIME or DiCE results. Teammate deck claims about XGBoost post-hoc experiments are excluded. Historic applicant index 24154, ID 24155; verification index 4366, ID 4367, as documented in RESULTS.md.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an important boundary here. The original network uses the thirty-thousand-row configuration shared with the other models. The explanation study trains a separate network on twenty-four thousand records, with fewer predictors and a seventy-five/twenty-five split. These explanations belong to that second network, not to every model in the project.</a:t>
            </a:r>
          </a:p>
          <a:p/>
          <a:p>
            <a:r>
              <a:t>SHAP divides the difference from a reference expectation into feature contributions. This global view contains two hundred sampled test cases. Each dot is an applicant. Position shows the contribution in log-odds, and color shows the feature value.</a:t>
            </a:r>
          </a:p>
          <a:p/>
          <a:p>
            <a:r>
              <a:t>Recent repayment status has the largest mean absolute attribution, about 0.602. Higher values generally sit on the risk-increasing side. Credit limit comes next. We learn which inputs matter across this sample, not just how well the model predicts. But a sample-level attribution is not a causal finding, and it is not the whole test population.</a:t>
            </a:r>
          </a:p>
          <a:p/>
          <a:p>
            <a:r>
              <a:t>Source note — not spoken: Configuration A from 02_neural_network.ipynb; Configuration B from 04_neural_network_explainability.ipynb cells 2, 8–14. In B, SEX/MARRIAGE are excluded; 18,000 training and 6,000 test rows, seed 42. SHAP cell 30 uses 100 real background rows and a logit link. Cell 34: 200 sampled cases, 500 SHAP samples each. The slide enlarges the first eight rows of the saved beeswarm, preserving original points and horizontal axis; its existing color legend is resized. Cell 35: mean absolute PAY_0 0.601663, LIMIT_BAL 0.239477. No controlled cross-configuration comparison is claimed. PyCaret is only the CSV source.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applicant 15110 in that CSV, the network's recorded default probability is 0.685. With our hypothetical 0.50 threshold, this case is classified as high risk.</a:t>
            </a:r>
          </a:p>
          <a:p/>
          <a:p>
            <a:r>
              <a:t>Read the waterfall as a bridge from the reference expectation to this prediction. PAY_0 adds about 1.56 to log-odds; credit limit adds about 0.23. Two bill amounts push the other way. The final value of about 0.778 is log-odds, which corresponds to probability 0.685. It is not another probability.</a:t>
            </a:r>
          </a:p>
          <a:p/>
          <a:p>
            <a:r>
              <a:t>So a high-risk score can contain both risk-increasing and offsetting contributions. SHAP makes that balance visible. However, the reference population matters, correlated histories complicate attribution, and the proposed correlated-feature stress test was not completed. This is also a selected real defaulter, not the earlier logistic case. Our fourth speaker will test whether the local explanation stays consistent, then ask what could change the predicted decision.</a:t>
            </a:r>
          </a:p>
          <a:p/>
          <a:p>
            <a:r>
              <a:t>Source note — not spoken: 04_neural_network_explainability.ipynb cell 28 profile and recorded probability; original full saved waterfall in cell 31. Cell 42: PAY_0 1.556, LIMIT_BAL 0.232, BILL_AMT3 -0.164, BILL_AMT2 -0.135. Local Kernel SHAP: 2,000 samples, 100 real background rows, logit link. The diagram “reference + contributions → prediction” is a conceptual reading guide, not an extra experiment. CSV index 15110 is not a shared client ID. The teammate's “same client, different model” results are not substituted for this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LIME samples nearby profiles, obtains predictions, weights the neighborhood, then fits a simple local surrogate. PAY_0 is again its strongest positive term. Yet SHAP and the mean LIME explanation share only two of their top four features: repayment status and credit limit.</a:t>
            </a:r>
          </a:p>
          <a:p/>
          <a:p>
            <a:r>
              <a:t>Repeat LIME with twenty seeds and the average pairwise overlap is 2.61 of four features. The plot shows weaker terms moving. Five SHAP runs keep the same top four against the first run; the maximum attribution range is 0.012.</a:t>
            </a:r>
          </a:p>
          <a:p/>
          <a:p>
            <a:r>
              <a:t>These are different stability definitions for one fixed model and applicant. They establish no universal winner. We compare ranks, not incompatible weight magnitudes; LIME means exclude absent features. Its surrogate fidelity was not reported. Consistent reasons are useful evidence, not proof of truth.</a:t>
            </a:r>
          </a:p>
          <a:p/>
          <a:p>
            <a:r>
              <a:t>Source note — not spoken: LIME conceptual four-step explanation adapted from teammate slide 5, applied only to the verified network study. 04_neural_network_explainability.ipynb cell 37: 5,000 samples, dominant PAY_0. Saved scatter cell 40; first six feature rows enlarged with original x-axis retained. Cells 33, 39, 42: SHAP [4,4,4,4,4] top-four overlaps vs run zero (including itself), max range 0.012; LIME 20 seeds, mean pairwise overlap 2.61/4; cross-method overlap 2/4, PAY_0 and LIMIT_BAL. Means omit runs absent from top-ten selection. These are not multi-applicant/retraining tests, and local fidelity is unreported.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DiCE asks what input profile would cross the model's boundary. It found five unrestricted and five constrained examples below the threshold.</a:t>
            </a:r>
          </a:p>
          <a:p/>
          <a:p>
            <a:r>
              <a:t>One unrestricted example raises an older bill to almost eight hundred thousand Taiwan dollars, giving probability 0.025. Restricting the search produces alternatives such as raising the latest payment from two thousand to about fifty-five thousand, giving 0.246. Another changes historical repayment status, giving 0.212.</a:t>
            </a:r>
          </a:p>
          <a:p/>
          <a:p>
            <a:r>
              <a:t>These are successful changes to model inputs, not established financial advice. We have not demonstrated affordability, consistency or causal effects, and past records cannot simply be rewritten. Two constrained probabilities differed slightly in verification; the table retains the recorded values. Constraints expose assumptions, but do not prove feasibility.</a:t>
            </a:r>
          </a:p>
          <a:p/>
          <a:p>
            <a:r>
              <a:t>Source note — not spoken: 04_neural_network_explainability.ipynb cells 44–47; existing wrapper independently rescores the displayed DiCE rows. Free row 1: BILL_AMT4 8,826→795,321.9, probability 0.025. Constrained row 0: PAY_AMT1 2,000→55,225.3, probability 0.246. Constrained row 3: PAY_0 2→-1, probability 0.212. Constrained variables: PAY_0/BILL_AMT1 downward; PAY_AMT1/PAY_AMT2 upward with training-percentile caps; others frozen. RESULTS.md preserves [0.246,0.320,0.176,0.212,0.450] recorded vs [0.246,0.321,0.176,0.210,0.450] verification; all still below 0.50. No smallest-change optimality, real recourse or retraining robustness is established. Teammate conceptual question/contrast inspired the layout, not its unsupported numerical examples.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our opening questions: logistic regression exposes a calculation. XGBoost shows that importance depends on its definition. SHAP and LIME reveal contributions, local patterns and variation. DiCE finds alternative predictions and exposes feasibility assumptions. Together they provide evidence about model behavior, not proof of a real-world cause. Thank you.</a:t>
            </a:r>
          </a:p>
          <a:p/>
          <a:p>
            <a:r>
              <a:t>Source note — not spoken: Full-project synthesis from notebooks 01–04, README.md and RESULTS.md. Closing “evidence, not proof” framing is adapted from teammate slide 13, with claims limited to verified experiments. No statistical significance, fairness audit, causality, calibration, population-wide robustness or production readiness is claimed. Unresolved issues include inner-validation preprocessing influence, ambiguous repayment codes, rare categories, correlated predictors and unassessed duplicate overlap. Four speakers have 150 scheduled seconds each; live delivery requires rehearsal.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01 / READ THE MODEL</a:t>
            </a:r>
          </a:p>
        </p:txBody>
      </p:sp>
      <p:sp>
        <p:nvSpPr>
          <p:cNvPr id="3" name="TextBox 2"/>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1</a:t>
            </a:r>
          </a:p>
        </p:txBody>
      </p:sp>
      <p:sp>
        <p:nvSpPr>
          <p:cNvPr id="4" name="TextBox 3"/>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01</a:t>
            </a:r>
          </a:p>
        </p:txBody>
      </p:sp>
      <p:sp>
        <p:nvSpPr>
          <p:cNvPr id="5" name="TextBox 4"/>
          <p:cNvSpPr txBox="1"/>
          <p:nvPr/>
        </p:nvSpPr>
        <p:spPr>
          <a:xfrm>
            <a:off x="640080" y="960120"/>
            <a:ext cx="10881360" cy="1737360"/>
          </a:xfrm>
          <a:prstGeom prst="rect">
            <a:avLst/>
          </a:prstGeom>
          <a:noFill/>
          <a:effectLst/>
        </p:spPr>
        <p:txBody>
          <a:bodyPr wrap="square" lIns="0" rIns="0" tIns="0" bIns="0">
            <a:spAutoFit/>
          </a:bodyPr>
          <a:lstStyle/>
          <a:p>
            <a:pPr>
              <a:spcAft>
                <a:spcPts val="0"/>
              </a:spcAft>
              <a:defRPr sz="4300" b="1">
                <a:solidFill>
                  <a:srgbClr val="20262D"/>
                </a:solidFill>
                <a:latin typeface="Georgia"/>
              </a:defRPr>
            </a:pPr>
            <a:r>
              <a:t>The model flags risk.</a:t>
            </a:r>
          </a:p>
          <a:p>
            <a:pPr>
              <a:spcAft>
                <a:spcPts val="0"/>
              </a:spcAft>
              <a:defRPr sz="4300" b="1">
                <a:solidFill>
                  <a:srgbClr val="20262D"/>
                </a:solidFill>
                <a:latin typeface="Georgia"/>
              </a:defRPr>
            </a:pPr>
            <a:r>
              <a:t>What can we explain?</a:t>
            </a:r>
          </a:p>
        </p:txBody>
      </p:sp>
      <p:sp>
        <p:nvSpPr>
          <p:cNvPr id="6" name="TextBox 5"/>
          <p:cNvSpPr txBox="1"/>
          <p:nvPr/>
        </p:nvSpPr>
        <p:spPr>
          <a:xfrm>
            <a:off x="685800" y="3063240"/>
            <a:ext cx="10515600" cy="685800"/>
          </a:xfrm>
          <a:prstGeom prst="rect">
            <a:avLst/>
          </a:prstGeom>
          <a:noFill/>
          <a:effectLst/>
        </p:spPr>
        <p:txBody>
          <a:bodyPr wrap="square" lIns="0" rIns="0" tIns="0" bIns="0">
            <a:spAutoFit/>
          </a:bodyPr>
          <a:lstStyle/>
          <a:p>
            <a:pPr>
              <a:spcAft>
                <a:spcPts val="0"/>
              </a:spcAft>
              <a:defRPr sz="2500" b="0">
                <a:solidFill>
                  <a:srgbClr val="24586B"/>
                </a:solidFill>
                <a:latin typeface="Aptos"/>
              </a:defRPr>
            </a:pPr>
            <a:r>
              <a:t>Three model families. Different ways to understand a prediction.</a:t>
            </a:r>
          </a:p>
        </p:txBody>
      </p:sp>
      <p:sp>
        <p:nvSpPr>
          <p:cNvPr id="7" name="Rectangle 6"/>
          <p:cNvSpPr/>
          <p:nvPr/>
        </p:nvSpPr>
        <p:spPr>
          <a:xfrm>
            <a:off x="685800" y="4261104"/>
            <a:ext cx="10789920" cy="10972"/>
          </a:xfrm>
          <a:prstGeom prst="rect">
            <a:avLst/>
          </a:prstGeom>
          <a:solidFill>
            <a:srgbClr val="DD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681728"/>
            <a:ext cx="3337560" cy="731520"/>
          </a:xfrm>
          <a:prstGeom prst="rect">
            <a:avLst/>
          </a:prstGeom>
          <a:noFill/>
          <a:effectLst/>
        </p:spPr>
        <p:txBody>
          <a:bodyPr wrap="square" lIns="0" rIns="0" tIns="0" bIns="0">
            <a:spAutoFit/>
          </a:bodyPr>
          <a:lstStyle/>
          <a:p>
            <a:pPr>
              <a:spcAft>
                <a:spcPts val="0"/>
              </a:spcAft>
              <a:defRPr sz="2500" b="1">
                <a:solidFill>
                  <a:srgbClr val="20262D"/>
                </a:solidFill>
                <a:latin typeface="Georgia"/>
              </a:defRPr>
            </a:pPr>
            <a:r>
              <a:t>Why this score?</a:t>
            </a:r>
          </a:p>
        </p:txBody>
      </p:sp>
      <p:sp>
        <p:nvSpPr>
          <p:cNvPr id="9" name="TextBox 8"/>
          <p:cNvSpPr txBox="1"/>
          <p:nvPr/>
        </p:nvSpPr>
        <p:spPr>
          <a:xfrm>
            <a:off x="685800" y="5532120"/>
            <a:ext cx="3337560" cy="658368"/>
          </a:xfrm>
          <a:prstGeom prst="rect">
            <a:avLst/>
          </a:prstGeom>
          <a:noFill/>
          <a:effectLst/>
        </p:spPr>
        <p:txBody>
          <a:bodyPr wrap="square" lIns="0" rIns="0" tIns="0" bIns="0">
            <a:spAutoFit/>
          </a:bodyPr>
          <a:lstStyle/>
          <a:p>
            <a:pPr>
              <a:spcAft>
                <a:spcPts val="0"/>
              </a:spcAft>
              <a:defRPr sz="2000" b="0">
                <a:solidFill>
                  <a:srgbClr val="5B6570"/>
                </a:solidFill>
                <a:latin typeface="Aptos"/>
              </a:defRPr>
            </a:pPr>
            <a:r>
              <a:t>Logistic interpretation</a:t>
            </a:r>
          </a:p>
          <a:p>
            <a:pPr>
              <a:spcAft>
                <a:spcPts val="0"/>
              </a:spcAft>
              <a:defRPr sz="2000" b="0">
                <a:solidFill>
                  <a:srgbClr val="5B6570"/>
                </a:solidFill>
                <a:latin typeface="Aptos"/>
              </a:defRPr>
            </a:pPr>
            <a:r>
              <a:t>and feature attribution</a:t>
            </a:r>
          </a:p>
        </p:txBody>
      </p:sp>
      <p:sp>
        <p:nvSpPr>
          <p:cNvPr id="10" name="TextBox 9"/>
          <p:cNvSpPr txBox="1"/>
          <p:nvPr/>
        </p:nvSpPr>
        <p:spPr>
          <a:xfrm>
            <a:off x="4434840" y="4681728"/>
            <a:ext cx="3337560" cy="731520"/>
          </a:xfrm>
          <a:prstGeom prst="rect">
            <a:avLst/>
          </a:prstGeom>
          <a:noFill/>
          <a:effectLst/>
        </p:spPr>
        <p:txBody>
          <a:bodyPr wrap="square" lIns="0" rIns="0" tIns="0" bIns="0">
            <a:spAutoFit/>
          </a:bodyPr>
          <a:lstStyle/>
          <a:p>
            <a:pPr>
              <a:spcAft>
                <a:spcPts val="0"/>
              </a:spcAft>
              <a:defRPr sz="2500" b="1">
                <a:solidFill>
                  <a:srgbClr val="20262D"/>
                </a:solidFill>
                <a:latin typeface="Georgia"/>
              </a:defRPr>
            </a:pPr>
            <a:r>
              <a:t>Would reasons change?</a:t>
            </a:r>
          </a:p>
        </p:txBody>
      </p:sp>
      <p:sp>
        <p:nvSpPr>
          <p:cNvPr id="11" name="TextBox 10"/>
          <p:cNvSpPr txBox="1"/>
          <p:nvPr/>
        </p:nvSpPr>
        <p:spPr>
          <a:xfrm>
            <a:off x="4434840" y="5532120"/>
            <a:ext cx="3337560" cy="658368"/>
          </a:xfrm>
          <a:prstGeom prst="rect">
            <a:avLst/>
          </a:prstGeom>
          <a:noFill/>
          <a:effectLst/>
        </p:spPr>
        <p:txBody>
          <a:bodyPr wrap="square" lIns="0" rIns="0" tIns="0" bIns="0">
            <a:spAutoFit/>
          </a:bodyPr>
          <a:lstStyle/>
          <a:p>
            <a:pPr>
              <a:spcAft>
                <a:spcPts val="0"/>
              </a:spcAft>
              <a:defRPr sz="2000" b="0">
                <a:solidFill>
                  <a:srgbClr val="5B6570"/>
                </a:solidFill>
                <a:latin typeface="Aptos"/>
              </a:defRPr>
            </a:pPr>
            <a:r>
              <a:t>Importance definitions</a:t>
            </a:r>
          </a:p>
          <a:p>
            <a:pPr>
              <a:spcAft>
                <a:spcPts val="0"/>
              </a:spcAft>
              <a:defRPr sz="2000" b="0">
                <a:solidFill>
                  <a:srgbClr val="5B6570"/>
                </a:solidFill>
                <a:latin typeface="Aptos"/>
              </a:defRPr>
            </a:pPr>
            <a:r>
              <a:t>and repeated explanations</a:t>
            </a:r>
          </a:p>
        </p:txBody>
      </p:sp>
      <p:sp>
        <p:nvSpPr>
          <p:cNvPr id="12" name="TextBox 11"/>
          <p:cNvSpPr txBox="1"/>
          <p:nvPr/>
        </p:nvSpPr>
        <p:spPr>
          <a:xfrm>
            <a:off x="8183879" y="4681728"/>
            <a:ext cx="3337560" cy="731520"/>
          </a:xfrm>
          <a:prstGeom prst="rect">
            <a:avLst/>
          </a:prstGeom>
          <a:noFill/>
          <a:effectLst/>
        </p:spPr>
        <p:txBody>
          <a:bodyPr wrap="square" lIns="0" rIns="0" tIns="0" bIns="0">
            <a:spAutoFit/>
          </a:bodyPr>
          <a:lstStyle/>
          <a:p>
            <a:pPr>
              <a:spcAft>
                <a:spcPts val="0"/>
              </a:spcAft>
              <a:defRPr sz="2500" b="1">
                <a:solidFill>
                  <a:srgbClr val="20262D"/>
                </a:solidFill>
                <a:latin typeface="Georgia"/>
              </a:defRPr>
            </a:pPr>
            <a:r>
              <a:t>What would flip it?</a:t>
            </a:r>
          </a:p>
        </p:txBody>
      </p:sp>
      <p:sp>
        <p:nvSpPr>
          <p:cNvPr id="13" name="TextBox 12"/>
          <p:cNvSpPr txBox="1"/>
          <p:nvPr/>
        </p:nvSpPr>
        <p:spPr>
          <a:xfrm>
            <a:off x="8183879" y="5532120"/>
            <a:ext cx="3337560" cy="658368"/>
          </a:xfrm>
          <a:prstGeom prst="rect">
            <a:avLst/>
          </a:prstGeom>
          <a:noFill/>
          <a:effectLst/>
        </p:spPr>
        <p:txBody>
          <a:bodyPr wrap="square" lIns="0" rIns="0" tIns="0" bIns="0">
            <a:spAutoFit/>
          </a:bodyPr>
          <a:lstStyle/>
          <a:p>
            <a:pPr>
              <a:spcAft>
                <a:spcPts val="0"/>
              </a:spcAft>
              <a:defRPr sz="2000" b="0">
                <a:solidFill>
                  <a:srgbClr val="5B6570"/>
                </a:solidFill>
                <a:latin typeface="Aptos"/>
              </a:defRPr>
            </a:pPr>
            <a:r>
              <a:t>Counterfactual search</a:t>
            </a:r>
          </a:p>
          <a:p>
            <a:pPr>
              <a:spcAft>
                <a:spcPts val="0"/>
              </a:spcAft>
              <a:defRPr sz="2000" b="0">
                <a:solidFill>
                  <a:srgbClr val="5B6570"/>
                </a:solidFill>
                <a:latin typeface="Aptos"/>
              </a:defRPr>
            </a:pPr>
            <a:r>
              <a:t>and feasibility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01 / READ THE MODEL</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Readable coefficients still need interpretation</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1</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02</a:t>
            </a:r>
          </a:p>
        </p:txBody>
      </p:sp>
      <p:graphicFrame>
        <p:nvGraphicFramePr>
          <p:cNvPr id="6" name="Table 5"/>
          <p:cNvGraphicFramePr>
            <a:graphicFrameLocks noGrp="1"/>
          </p:cNvGraphicFramePr>
          <p:nvPr/>
        </p:nvGraphicFramePr>
        <p:xfrm>
          <a:off x="594360" y="1691640"/>
          <a:ext cx="7315199" cy="3511296"/>
        </p:xfrm>
        <a:graphic>
          <a:graphicData uri="http://schemas.openxmlformats.org/drawingml/2006/table">
            <a:tbl>
              <a:tblPr firstRow="1" bandRow="1">
                <a:tableStyleId>{5C22544A-7EE6-4342-B048-85BDC9FD1C3A}</a:tableStyleId>
              </a:tblPr>
              <a:tblGrid>
                <a:gridCol w="3017520"/>
                <a:gridCol w="1874519"/>
                <a:gridCol w="2423160"/>
              </a:tblGrid>
              <a:tr h="585216">
                <a:tc>
                  <a:txBody>
                    <a:bodyPr/>
                    <a:lstStyle/>
                    <a:p>
                      <a:pPr>
                        <a:defRPr sz="2200" b="1">
                          <a:solidFill>
                            <a:srgbClr val="24586B"/>
                          </a:solidFill>
                          <a:latin typeface="Aptos"/>
                        </a:defRPr>
                      </a:pPr>
                      <a:r>
                        <a:t>Selected feature</a:t>
                      </a:r>
                    </a:p>
                  </a:txBody>
                  <a:tcPr marL="128016" marR="109728" marT="73152" marB="45720" anchor="ctr">
                    <a:solidFill>
                      <a:srgbClr val="F3F5F6"/>
                    </a:solidFill>
                  </a:tcPr>
                </a:tc>
                <a:tc>
                  <a:txBody>
                    <a:bodyPr/>
                    <a:lstStyle/>
                    <a:p>
                      <a:pPr>
                        <a:defRPr sz="2200" b="1">
                          <a:solidFill>
                            <a:srgbClr val="24586B"/>
                          </a:solidFill>
                          <a:latin typeface="Aptos"/>
                        </a:defRPr>
                      </a:pPr>
                      <a:r>
                        <a:t>Coefficient</a:t>
                      </a:r>
                    </a:p>
                  </a:txBody>
                  <a:tcPr marL="128016" marR="109728" marT="73152" marB="45720" anchor="ctr">
                    <a:solidFill>
                      <a:srgbClr val="F3F5F6"/>
                    </a:solidFill>
                  </a:tcPr>
                </a:tc>
                <a:tc>
                  <a:txBody>
                    <a:bodyPr/>
                    <a:lstStyle/>
                    <a:p>
                      <a:pPr>
                        <a:defRPr sz="2200" b="1">
                          <a:solidFill>
                            <a:srgbClr val="24586B"/>
                          </a:solidFill>
                          <a:latin typeface="Aptos"/>
                        </a:defRPr>
                      </a:pPr>
                      <a:r>
                        <a:t>exp(coefficient)</a:t>
                      </a:r>
                    </a:p>
                  </a:txBody>
                  <a:tcPr marL="128016" marR="109728" marT="73152" marB="45720" anchor="ctr">
                    <a:solidFill>
                      <a:srgbClr val="F3F5F6"/>
                    </a:solidFill>
                  </a:tcPr>
                </a:tc>
              </a:tr>
              <a:tr h="585216">
                <a:tc>
                  <a:txBody>
                    <a:bodyPr/>
                    <a:lstStyle/>
                    <a:p>
                      <a:pPr>
                        <a:defRPr sz="2200" b="0">
                          <a:solidFill>
                            <a:srgbClr val="20262D"/>
                          </a:solidFill>
                          <a:latin typeface="Aptos"/>
                        </a:defRPr>
                      </a:pPr>
                      <a:r>
                        <a:t>PAY_0</a:t>
                      </a:r>
                    </a:p>
                  </a:txBody>
                  <a:tcPr marL="128016" marR="109728" marT="73152" marB="45720" anchor="ctr">
                    <a:solidFill>
                      <a:srgbClr val="FFFFFF"/>
                    </a:solidFill>
                  </a:tcPr>
                </a:tc>
                <a:tc>
                  <a:txBody>
                    <a:bodyPr/>
                    <a:lstStyle/>
                    <a:p>
                      <a:pPr>
                        <a:defRPr sz="2200" b="0">
                          <a:solidFill>
                            <a:srgbClr val="20262D"/>
                          </a:solidFill>
                          <a:latin typeface="Aptos"/>
                        </a:defRPr>
                      </a:pPr>
                      <a:r>
                        <a:t>0.661</a:t>
                      </a:r>
                    </a:p>
                  </a:txBody>
                  <a:tcPr marL="128016" marR="109728" marT="73152" marB="45720" anchor="ctr">
                    <a:solidFill>
                      <a:srgbClr val="FFFFFF"/>
                    </a:solidFill>
                  </a:tcPr>
                </a:tc>
                <a:tc>
                  <a:txBody>
                    <a:bodyPr/>
                    <a:lstStyle/>
                    <a:p>
                      <a:pPr>
                        <a:defRPr sz="2200" b="0">
                          <a:solidFill>
                            <a:srgbClr val="20262D"/>
                          </a:solidFill>
                          <a:latin typeface="Aptos"/>
                        </a:defRPr>
                      </a:pPr>
                      <a:r>
                        <a:t>1.937</a:t>
                      </a:r>
                    </a:p>
                  </a:txBody>
                  <a:tcPr marL="128016" marR="109728" marT="73152" marB="45720" anchor="ctr">
                    <a:solidFill>
                      <a:srgbClr val="FFFFFF"/>
                    </a:solidFill>
                  </a:tcPr>
                </a:tc>
              </a:tr>
              <a:tr h="585216">
                <a:tc>
                  <a:txBody>
                    <a:bodyPr/>
                    <a:lstStyle/>
                    <a:p>
                      <a:pPr>
                        <a:defRPr sz="2200" b="0">
                          <a:solidFill>
                            <a:srgbClr val="20262D"/>
                          </a:solidFill>
                          <a:latin typeface="Aptos"/>
                        </a:defRPr>
                      </a:pPr>
                      <a:r>
                        <a:t>PAY_AMT1</a:t>
                      </a:r>
                    </a:p>
                  </a:txBody>
                  <a:tcPr marL="128016" marR="109728" marT="73152" marB="45720" anchor="ctr">
                    <a:solidFill>
                      <a:srgbClr val="FFFFFF"/>
                    </a:solidFill>
                  </a:tcPr>
                </a:tc>
                <a:tc>
                  <a:txBody>
                    <a:bodyPr/>
                    <a:lstStyle/>
                    <a:p>
                      <a:pPr>
                        <a:defRPr sz="2200" b="0">
                          <a:solidFill>
                            <a:srgbClr val="20262D"/>
                          </a:solidFill>
                          <a:latin typeface="Aptos"/>
                        </a:defRPr>
                      </a:pPr>
                      <a:r>
                        <a:t>-0.200</a:t>
                      </a:r>
                    </a:p>
                  </a:txBody>
                  <a:tcPr marL="128016" marR="109728" marT="73152" marB="45720" anchor="ctr">
                    <a:solidFill>
                      <a:srgbClr val="FFFFFF"/>
                    </a:solidFill>
                  </a:tcPr>
                </a:tc>
                <a:tc>
                  <a:txBody>
                    <a:bodyPr/>
                    <a:lstStyle/>
                    <a:p>
                      <a:pPr>
                        <a:defRPr sz="2200" b="0">
                          <a:solidFill>
                            <a:srgbClr val="20262D"/>
                          </a:solidFill>
                          <a:latin typeface="Aptos"/>
                        </a:defRPr>
                      </a:pPr>
                      <a:r>
                        <a:t>0.819</a:t>
                      </a:r>
                    </a:p>
                  </a:txBody>
                  <a:tcPr marL="128016" marR="109728" marT="73152" marB="45720" anchor="ctr">
                    <a:solidFill>
                      <a:srgbClr val="FFFFFF"/>
                    </a:solidFill>
                  </a:tcPr>
                </a:tc>
              </a:tr>
              <a:tr h="585216">
                <a:tc>
                  <a:txBody>
                    <a:bodyPr/>
                    <a:lstStyle/>
                    <a:p>
                      <a:pPr>
                        <a:defRPr sz="2200" b="0">
                          <a:solidFill>
                            <a:srgbClr val="20262D"/>
                          </a:solidFill>
                          <a:latin typeface="Aptos"/>
                        </a:defRPr>
                      </a:pPr>
                      <a:r>
                        <a:t>BILL_AMT1</a:t>
                      </a:r>
                    </a:p>
                  </a:txBody>
                  <a:tcPr marL="128016" marR="109728" marT="73152" marB="45720" anchor="ctr">
                    <a:solidFill>
                      <a:srgbClr val="FFFFFF"/>
                    </a:solidFill>
                  </a:tcPr>
                </a:tc>
                <a:tc>
                  <a:txBody>
                    <a:bodyPr/>
                    <a:lstStyle/>
                    <a:p>
                      <a:pPr>
                        <a:defRPr sz="2200" b="0">
                          <a:solidFill>
                            <a:srgbClr val="20262D"/>
                          </a:solidFill>
                          <a:latin typeface="Aptos"/>
                        </a:defRPr>
                      </a:pPr>
                      <a:r>
                        <a:t>-0.321</a:t>
                      </a:r>
                    </a:p>
                  </a:txBody>
                  <a:tcPr marL="128016" marR="109728" marT="73152" marB="45720" anchor="ctr">
                    <a:solidFill>
                      <a:srgbClr val="FFFFFF"/>
                    </a:solidFill>
                  </a:tcPr>
                </a:tc>
                <a:tc>
                  <a:txBody>
                    <a:bodyPr/>
                    <a:lstStyle/>
                    <a:p>
                      <a:pPr>
                        <a:defRPr sz="2200" b="0">
                          <a:solidFill>
                            <a:srgbClr val="20262D"/>
                          </a:solidFill>
                          <a:latin typeface="Aptos"/>
                        </a:defRPr>
                      </a:pPr>
                      <a:r>
                        <a:t>0.726</a:t>
                      </a:r>
                    </a:p>
                  </a:txBody>
                  <a:tcPr marL="128016" marR="109728" marT="73152" marB="45720" anchor="ctr">
                    <a:solidFill>
                      <a:srgbClr val="FFFFFF"/>
                    </a:solidFill>
                  </a:tcPr>
                </a:tc>
              </a:tr>
              <a:tr h="585216">
                <a:tc>
                  <a:txBody>
                    <a:bodyPr/>
                    <a:lstStyle/>
                    <a:p>
                      <a:pPr>
                        <a:defRPr sz="2200" b="0">
                          <a:solidFill>
                            <a:srgbClr val="20262D"/>
                          </a:solidFill>
                          <a:latin typeface="Aptos"/>
                        </a:defRPr>
                      </a:pPr>
                      <a:r>
                        <a:t>EDUCATION_5</a:t>
                      </a:r>
                    </a:p>
                  </a:txBody>
                  <a:tcPr marL="128016" marR="109728" marT="73152" marB="45720" anchor="ctr">
                    <a:solidFill>
                      <a:srgbClr val="FFFFFF"/>
                    </a:solidFill>
                  </a:tcPr>
                </a:tc>
                <a:tc>
                  <a:txBody>
                    <a:bodyPr/>
                    <a:lstStyle/>
                    <a:p>
                      <a:pPr>
                        <a:defRPr sz="2200" b="0">
                          <a:solidFill>
                            <a:srgbClr val="20262D"/>
                          </a:solidFill>
                          <a:latin typeface="Aptos"/>
                        </a:defRPr>
                      </a:pPr>
                      <a:r>
                        <a:t>-1.040</a:t>
                      </a:r>
                    </a:p>
                  </a:txBody>
                  <a:tcPr marL="128016" marR="109728" marT="73152" marB="45720" anchor="ctr">
                    <a:solidFill>
                      <a:srgbClr val="FFFFFF"/>
                    </a:solidFill>
                  </a:tcPr>
                </a:tc>
                <a:tc>
                  <a:txBody>
                    <a:bodyPr/>
                    <a:lstStyle/>
                    <a:p>
                      <a:pPr>
                        <a:defRPr sz="2200" b="0">
                          <a:solidFill>
                            <a:srgbClr val="20262D"/>
                          </a:solidFill>
                          <a:latin typeface="Aptos"/>
                        </a:defRPr>
                      </a:pPr>
                      <a:r>
                        <a:t>0.353</a:t>
                      </a:r>
                    </a:p>
                  </a:txBody>
                  <a:tcPr marL="128016" marR="109728" marT="73152" marB="45720" anchor="ctr">
                    <a:solidFill>
                      <a:srgbClr val="FFFFFF"/>
                    </a:solidFill>
                  </a:tcPr>
                </a:tc>
              </a:tr>
              <a:tr h="585216">
                <a:tc>
                  <a:txBody>
                    <a:bodyPr/>
                    <a:lstStyle/>
                    <a:p>
                      <a:pPr>
                        <a:defRPr sz="2200" b="0">
                          <a:solidFill>
                            <a:srgbClr val="20262D"/>
                          </a:solidFill>
                          <a:latin typeface="Aptos"/>
                        </a:defRPr>
                      </a:pPr>
                      <a:r>
                        <a:t>MARRIAGE_0</a:t>
                      </a:r>
                    </a:p>
                  </a:txBody>
                  <a:tcPr marL="128016" marR="109728" marT="73152" marB="45720" anchor="ctr">
                    <a:solidFill>
                      <a:srgbClr val="FFFFFF"/>
                    </a:solidFill>
                  </a:tcPr>
                </a:tc>
                <a:tc>
                  <a:txBody>
                    <a:bodyPr/>
                    <a:lstStyle/>
                    <a:p>
                      <a:pPr>
                        <a:defRPr sz="2200" b="0">
                          <a:solidFill>
                            <a:srgbClr val="20262D"/>
                          </a:solidFill>
                          <a:latin typeface="Aptos"/>
                        </a:defRPr>
                      </a:pPr>
                      <a:r>
                        <a:t>-0.995</a:t>
                      </a:r>
                    </a:p>
                  </a:txBody>
                  <a:tcPr marL="128016" marR="109728" marT="73152" marB="45720" anchor="ctr">
                    <a:solidFill>
                      <a:srgbClr val="FFFFFF"/>
                    </a:solidFill>
                  </a:tcPr>
                </a:tc>
                <a:tc>
                  <a:txBody>
                    <a:bodyPr/>
                    <a:lstStyle/>
                    <a:p>
                      <a:pPr>
                        <a:defRPr sz="2200" b="0">
                          <a:solidFill>
                            <a:srgbClr val="20262D"/>
                          </a:solidFill>
                          <a:latin typeface="Aptos"/>
                        </a:defRPr>
                      </a:pPr>
                      <a:r>
                        <a:t>0.370</a:t>
                      </a:r>
                    </a:p>
                  </a:txBody>
                  <a:tcPr marL="128016" marR="109728" marT="73152" marB="45720" anchor="ctr">
                    <a:solidFill>
                      <a:srgbClr val="FFFFFF"/>
                    </a:solidFill>
                  </a:tcPr>
                </a:tc>
              </a:tr>
            </a:tbl>
          </a:graphicData>
        </a:graphic>
      </p:graphicFrame>
      <p:sp>
        <p:nvSpPr>
          <p:cNvPr id="7" name="TextBox 6"/>
          <p:cNvSpPr txBox="1"/>
          <p:nvPr/>
        </p:nvSpPr>
        <p:spPr>
          <a:xfrm>
            <a:off x="8412480" y="1847088"/>
            <a:ext cx="3017520" cy="384048"/>
          </a:xfrm>
          <a:prstGeom prst="rect">
            <a:avLst/>
          </a:prstGeom>
          <a:noFill/>
          <a:effectLst/>
        </p:spPr>
        <p:txBody>
          <a:bodyPr wrap="square" lIns="0" rIns="0" tIns="0" bIns="0">
            <a:spAutoFit/>
          </a:bodyPr>
          <a:lstStyle/>
          <a:p>
            <a:pPr>
              <a:spcAft>
                <a:spcPts val="0"/>
              </a:spcAft>
              <a:defRPr sz="2300" b="1">
                <a:solidFill>
                  <a:srgbClr val="24586B"/>
                </a:solidFill>
                <a:latin typeface="Aptos"/>
              </a:defRPr>
            </a:pPr>
            <a:r>
              <a:t>PAY_0</a:t>
            </a:r>
          </a:p>
        </p:txBody>
      </p:sp>
      <p:sp>
        <p:nvSpPr>
          <p:cNvPr id="8" name="TextBox 7"/>
          <p:cNvSpPr txBox="1"/>
          <p:nvPr/>
        </p:nvSpPr>
        <p:spPr>
          <a:xfrm>
            <a:off x="8412480" y="2450592"/>
            <a:ext cx="3017520" cy="685800"/>
          </a:xfrm>
          <a:prstGeom prst="rect">
            <a:avLst/>
          </a:prstGeom>
          <a:noFill/>
          <a:effectLst/>
        </p:spPr>
        <p:txBody>
          <a:bodyPr wrap="square" lIns="0" rIns="0" tIns="0" bIns="0">
            <a:spAutoFit/>
          </a:bodyPr>
          <a:lstStyle/>
          <a:p>
            <a:pPr>
              <a:spcAft>
                <a:spcPts val="0"/>
              </a:spcAft>
              <a:defRPr sz="3800" b="1">
                <a:solidFill>
                  <a:srgbClr val="24586B"/>
                </a:solidFill>
                <a:latin typeface="Georgia"/>
              </a:defRPr>
            </a:pPr>
            <a:r>
              <a:t>×1.937</a:t>
            </a:r>
          </a:p>
        </p:txBody>
      </p:sp>
      <p:sp>
        <p:nvSpPr>
          <p:cNvPr id="9" name="TextBox 8"/>
          <p:cNvSpPr txBox="1"/>
          <p:nvPr/>
        </p:nvSpPr>
        <p:spPr>
          <a:xfrm>
            <a:off x="8412480" y="3337560"/>
            <a:ext cx="3017520" cy="10058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Conditional odds per</a:t>
            </a:r>
          </a:p>
          <a:p>
            <a:pPr>
              <a:spcAft>
                <a:spcPts val="0"/>
              </a:spcAft>
              <a:defRPr sz="2100" b="0">
                <a:solidFill>
                  <a:srgbClr val="20262D"/>
                </a:solidFill>
                <a:latin typeface="Aptos"/>
              </a:defRPr>
            </a:pPr>
            <a:r>
              <a:t>standard-deviation</a:t>
            </a:r>
          </a:p>
          <a:p>
            <a:pPr>
              <a:spcAft>
                <a:spcPts val="0"/>
              </a:spcAft>
              <a:defRPr sz="2100" b="0">
                <a:solidFill>
                  <a:srgbClr val="20262D"/>
                </a:solidFill>
                <a:latin typeface="Aptos"/>
              </a:defRPr>
            </a:pPr>
            <a:r>
              <a:t>increase</a:t>
            </a:r>
          </a:p>
        </p:txBody>
      </p:sp>
      <p:sp>
        <p:nvSpPr>
          <p:cNvPr id="10" name="Rectangle 9"/>
          <p:cNvSpPr/>
          <p:nvPr/>
        </p:nvSpPr>
        <p:spPr>
          <a:xfrm>
            <a:off x="8412480" y="4626864"/>
            <a:ext cx="3017520" cy="10972"/>
          </a:xfrm>
          <a:prstGeom prst="rect">
            <a:avLst/>
          </a:prstGeom>
          <a:solidFill>
            <a:srgbClr val="DD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956048"/>
            <a:ext cx="3017520" cy="1097280"/>
          </a:xfrm>
          <a:prstGeom prst="rect">
            <a:avLst/>
          </a:prstGeom>
          <a:noFill/>
          <a:effectLst/>
        </p:spPr>
        <p:txBody>
          <a:bodyPr wrap="square" lIns="0" rIns="0" tIns="0" bIns="0">
            <a:spAutoFit/>
          </a:bodyPr>
          <a:lstStyle/>
          <a:p>
            <a:pPr>
              <a:spcAft>
                <a:spcPts val="0"/>
              </a:spcAft>
              <a:defRPr sz="2100" b="0">
                <a:solidFill>
                  <a:srgbClr val="5B6570"/>
                </a:solidFill>
                <a:latin typeface="Aptos"/>
              </a:defRPr>
            </a:pPr>
            <a:r>
              <a:t>A large coefficient</a:t>
            </a:r>
          </a:p>
          <a:p>
            <a:pPr>
              <a:spcAft>
                <a:spcPts val="0"/>
              </a:spcAft>
              <a:defRPr sz="2100" b="0">
                <a:solidFill>
                  <a:srgbClr val="5B6570"/>
                </a:solidFill>
                <a:latin typeface="Aptos"/>
              </a:defRPr>
            </a:pPr>
            <a:r>
              <a:t>is not automatically</a:t>
            </a:r>
          </a:p>
          <a:p>
            <a:pPr>
              <a:spcAft>
                <a:spcPts val="0"/>
              </a:spcAft>
              <a:defRPr sz="2100" b="0">
                <a:solidFill>
                  <a:srgbClr val="5B6570"/>
                </a:solidFill>
                <a:latin typeface="Aptos"/>
              </a:defRPr>
            </a:pPr>
            <a:r>
              <a:t>a useful explanation.</a:t>
            </a:r>
          </a:p>
        </p:txBody>
      </p:sp>
      <p:sp>
        <p:nvSpPr>
          <p:cNvPr id="12" name="TextBox 11"/>
          <p:cNvSpPr txBox="1"/>
          <p:nvPr/>
        </p:nvSpPr>
        <p:spPr>
          <a:xfrm>
            <a:off x="731520" y="5943600"/>
            <a:ext cx="7223760" cy="36576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Numeric inputs are standardized; category effects require contrasts.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01 / READ THE MODEL</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We can rebuild this prediction exactly</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1</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03</a:t>
            </a:r>
          </a:p>
        </p:txBody>
      </p:sp>
      <p:sp>
        <p:nvSpPr>
          <p:cNvPr id="6" name="TextBox 5"/>
          <p:cNvSpPr txBox="1"/>
          <p:nvPr/>
        </p:nvSpPr>
        <p:spPr>
          <a:xfrm>
            <a:off x="731520" y="1508760"/>
            <a:ext cx="6858000" cy="365760"/>
          </a:xfrm>
          <a:prstGeom prst="rect">
            <a:avLst/>
          </a:prstGeom>
          <a:noFill/>
          <a:effectLst/>
        </p:spPr>
        <p:txBody>
          <a:bodyPr wrap="square" lIns="0" rIns="0" tIns="0" bIns="0">
            <a:spAutoFit/>
          </a:bodyPr>
          <a:lstStyle/>
          <a:p>
            <a:pPr>
              <a:spcAft>
                <a:spcPts val="0"/>
              </a:spcAft>
              <a:defRPr sz="1900" b="1">
                <a:solidFill>
                  <a:srgbClr val="24586B"/>
                </a:solidFill>
                <a:latin typeface="Aptos"/>
              </a:defRPr>
            </a:pPr>
            <a:r>
              <a:t>Selected contributions to log-odds · applicant 4387</a:t>
            </a:r>
          </a:p>
        </p:txBody>
      </p:sp>
      <p:sp>
        <p:nvSpPr>
          <p:cNvPr id="7" name="TextBox 6"/>
          <p:cNvSpPr txBox="1"/>
          <p:nvPr/>
        </p:nvSpPr>
        <p:spPr>
          <a:xfrm>
            <a:off x="8641080" y="1463040"/>
            <a:ext cx="2834640" cy="457200"/>
          </a:xfrm>
          <a:prstGeom prst="rect">
            <a:avLst/>
          </a:prstGeom>
          <a:noFill/>
          <a:effectLst/>
        </p:spPr>
        <p:txBody>
          <a:bodyPr wrap="square" lIns="0" rIns="0" tIns="0" bIns="0">
            <a:spAutoFit/>
          </a:bodyPr>
          <a:lstStyle/>
          <a:p>
            <a:pPr>
              <a:spcAft>
                <a:spcPts val="0"/>
              </a:spcAft>
              <a:defRPr sz="2500" b="1">
                <a:solidFill>
                  <a:srgbClr val="24586B"/>
                </a:solidFill>
                <a:latin typeface="Aptos"/>
              </a:defRPr>
            </a:pPr>
            <a:r>
              <a:t>P(default) = 0.9927</a:t>
            </a:r>
          </a:p>
        </p:txBody>
      </p:sp>
      <p:cxnSp>
        <p:nvCxnSpPr>
          <p:cNvPr id="8" name="Connector 7"/>
          <p:cNvCxnSpPr/>
          <p:nvPr/>
        </p:nvCxnSpPr>
        <p:spPr>
          <a:xfrm>
            <a:off x="3703320" y="2103120"/>
            <a:ext cx="0" cy="3520440"/>
          </a:xfrm>
          <a:prstGeom prst="line">
            <a:avLst/>
          </a:prstGeom>
          <a:ln w="12700">
            <a:solidFill>
              <a:srgbClr val="DDE2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1579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PAY_0</a:t>
            </a:r>
          </a:p>
        </p:txBody>
      </p:sp>
      <p:sp>
        <p:nvSpPr>
          <p:cNvPr id="10" name="Rectangle 9"/>
          <p:cNvSpPr/>
          <p:nvPr/>
        </p:nvSpPr>
        <p:spPr>
          <a:xfrm>
            <a:off x="3703320" y="2189988"/>
            <a:ext cx="6297308"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0" y="2157984"/>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+4.717</a:t>
            </a:r>
          </a:p>
        </p:txBody>
      </p:sp>
      <p:sp>
        <p:nvSpPr>
          <p:cNvPr id="12" name="TextBox 11"/>
          <p:cNvSpPr txBox="1"/>
          <p:nvPr/>
        </p:nvSpPr>
        <p:spPr>
          <a:xfrm>
            <a:off x="822960" y="26151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PAY_2</a:t>
            </a:r>
          </a:p>
        </p:txBody>
      </p:sp>
      <p:sp>
        <p:nvSpPr>
          <p:cNvPr id="13" name="Rectangle 12"/>
          <p:cNvSpPr/>
          <p:nvPr/>
        </p:nvSpPr>
        <p:spPr>
          <a:xfrm>
            <a:off x="3703320" y="2647188"/>
            <a:ext cx="731593"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0" y="2615184"/>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+0.548</a:t>
            </a:r>
          </a:p>
        </p:txBody>
      </p:sp>
      <p:sp>
        <p:nvSpPr>
          <p:cNvPr id="15" name="TextBox 14"/>
          <p:cNvSpPr txBox="1"/>
          <p:nvPr/>
        </p:nvSpPr>
        <p:spPr>
          <a:xfrm>
            <a:off x="822960" y="30723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PAY_3</a:t>
            </a:r>
          </a:p>
        </p:txBody>
      </p:sp>
      <p:sp>
        <p:nvSpPr>
          <p:cNvPr id="16" name="Rectangle 15"/>
          <p:cNvSpPr/>
          <p:nvPr/>
        </p:nvSpPr>
        <p:spPr>
          <a:xfrm>
            <a:off x="3703320" y="3104388"/>
            <a:ext cx="651491"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0" y="3072384"/>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+0.488</a:t>
            </a:r>
          </a:p>
        </p:txBody>
      </p:sp>
      <p:sp>
        <p:nvSpPr>
          <p:cNvPr id="18" name="TextBox 17"/>
          <p:cNvSpPr txBox="1"/>
          <p:nvPr/>
        </p:nvSpPr>
        <p:spPr>
          <a:xfrm>
            <a:off x="822960" y="35295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SEX_1</a:t>
            </a:r>
          </a:p>
        </p:txBody>
      </p:sp>
      <p:sp>
        <p:nvSpPr>
          <p:cNvPr id="19" name="Rectangle 18"/>
          <p:cNvSpPr/>
          <p:nvPr/>
        </p:nvSpPr>
        <p:spPr>
          <a:xfrm>
            <a:off x="3118579" y="3561588"/>
            <a:ext cx="584740" cy="237744"/>
          </a:xfrm>
          <a:prstGeom prst="rect">
            <a:avLst/>
          </a:prstGeom>
          <a:solidFill>
            <a:srgbClr val="7B8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0" y="3529584"/>
            <a:ext cx="1143000" cy="320040"/>
          </a:xfrm>
          <a:prstGeom prst="rect">
            <a:avLst/>
          </a:prstGeom>
          <a:noFill/>
          <a:effectLst/>
        </p:spPr>
        <p:txBody>
          <a:bodyPr wrap="square" lIns="0" rIns="0" tIns="0" bIns="0">
            <a:spAutoFit/>
          </a:bodyPr>
          <a:lstStyle/>
          <a:p>
            <a:pPr>
              <a:spcAft>
                <a:spcPts val="0"/>
              </a:spcAft>
              <a:defRPr sz="2000" b="0">
                <a:solidFill>
                  <a:srgbClr val="20262D"/>
                </a:solidFill>
                <a:latin typeface="Aptos"/>
              </a:defRPr>
            </a:pPr>
            <a:r>
              <a:t>-0.438</a:t>
            </a:r>
          </a:p>
        </p:txBody>
      </p:sp>
      <p:sp>
        <p:nvSpPr>
          <p:cNvPr id="21" name="TextBox 20"/>
          <p:cNvSpPr txBox="1"/>
          <p:nvPr/>
        </p:nvSpPr>
        <p:spPr>
          <a:xfrm>
            <a:off x="822960" y="3986783"/>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EDUCATION_2</a:t>
            </a:r>
          </a:p>
        </p:txBody>
      </p:sp>
      <p:sp>
        <p:nvSpPr>
          <p:cNvPr id="22" name="Rectangle 21"/>
          <p:cNvSpPr/>
          <p:nvPr/>
        </p:nvSpPr>
        <p:spPr>
          <a:xfrm>
            <a:off x="3703320" y="4018787"/>
            <a:ext cx="384486"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0" y="3986783"/>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+0.288</a:t>
            </a:r>
          </a:p>
        </p:txBody>
      </p:sp>
      <p:sp>
        <p:nvSpPr>
          <p:cNvPr id="24" name="TextBox 23"/>
          <p:cNvSpPr txBox="1"/>
          <p:nvPr/>
        </p:nvSpPr>
        <p:spPr>
          <a:xfrm>
            <a:off x="822960" y="4443983"/>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PAY_4</a:t>
            </a:r>
          </a:p>
        </p:txBody>
      </p:sp>
      <p:sp>
        <p:nvSpPr>
          <p:cNvPr id="25" name="Rectangle 24"/>
          <p:cNvSpPr/>
          <p:nvPr/>
        </p:nvSpPr>
        <p:spPr>
          <a:xfrm>
            <a:off x="3703320" y="4475988"/>
            <a:ext cx="367131"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20" y="4443983"/>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+0.275</a:t>
            </a:r>
          </a:p>
        </p:txBody>
      </p:sp>
      <p:sp>
        <p:nvSpPr>
          <p:cNvPr id="27" name="TextBox 26"/>
          <p:cNvSpPr txBox="1"/>
          <p:nvPr/>
        </p:nvSpPr>
        <p:spPr>
          <a:xfrm>
            <a:off x="822960" y="4901183"/>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BILL_AMT1</a:t>
            </a:r>
          </a:p>
        </p:txBody>
      </p:sp>
      <p:sp>
        <p:nvSpPr>
          <p:cNvPr id="28" name="Rectangle 27"/>
          <p:cNvSpPr/>
          <p:nvPr/>
        </p:nvSpPr>
        <p:spPr>
          <a:xfrm>
            <a:off x="3344198" y="4933188"/>
            <a:ext cx="359121" cy="237744"/>
          </a:xfrm>
          <a:prstGeom prst="rect">
            <a:avLst/>
          </a:prstGeom>
          <a:solidFill>
            <a:srgbClr val="7B8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0" y="4901183"/>
            <a:ext cx="1143000" cy="320040"/>
          </a:xfrm>
          <a:prstGeom prst="rect">
            <a:avLst/>
          </a:prstGeom>
          <a:noFill/>
          <a:effectLst/>
        </p:spPr>
        <p:txBody>
          <a:bodyPr wrap="square" lIns="0" rIns="0" tIns="0" bIns="0">
            <a:spAutoFit/>
          </a:bodyPr>
          <a:lstStyle/>
          <a:p>
            <a:pPr>
              <a:spcAft>
                <a:spcPts val="0"/>
              </a:spcAft>
              <a:defRPr sz="2000" b="0">
                <a:solidFill>
                  <a:srgbClr val="20262D"/>
                </a:solidFill>
                <a:latin typeface="Aptos"/>
              </a:defRPr>
            </a:pPr>
            <a:r>
              <a:t>-0.269</a:t>
            </a:r>
          </a:p>
        </p:txBody>
      </p:sp>
      <p:sp>
        <p:nvSpPr>
          <p:cNvPr id="30" name="TextBox 29"/>
          <p:cNvSpPr txBox="1"/>
          <p:nvPr/>
        </p:nvSpPr>
        <p:spPr>
          <a:xfrm>
            <a:off x="3575303"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0</a:t>
            </a:r>
          </a:p>
        </p:txBody>
      </p:sp>
      <p:sp>
        <p:nvSpPr>
          <p:cNvPr id="31" name="TextBox 30"/>
          <p:cNvSpPr txBox="1"/>
          <p:nvPr/>
        </p:nvSpPr>
        <p:spPr>
          <a:xfrm>
            <a:off x="4910328"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1</a:t>
            </a:r>
          </a:p>
        </p:txBody>
      </p:sp>
      <p:sp>
        <p:nvSpPr>
          <p:cNvPr id="32" name="TextBox 31"/>
          <p:cNvSpPr txBox="1"/>
          <p:nvPr/>
        </p:nvSpPr>
        <p:spPr>
          <a:xfrm>
            <a:off x="6245352"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2</a:t>
            </a:r>
          </a:p>
        </p:txBody>
      </p:sp>
      <p:sp>
        <p:nvSpPr>
          <p:cNvPr id="33" name="TextBox 32"/>
          <p:cNvSpPr txBox="1"/>
          <p:nvPr/>
        </p:nvSpPr>
        <p:spPr>
          <a:xfrm>
            <a:off x="7580375"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3</a:t>
            </a:r>
          </a:p>
        </p:txBody>
      </p:sp>
      <p:sp>
        <p:nvSpPr>
          <p:cNvPr id="34" name="TextBox 33"/>
          <p:cNvSpPr txBox="1"/>
          <p:nvPr/>
        </p:nvSpPr>
        <p:spPr>
          <a:xfrm>
            <a:off x="8915400"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4</a:t>
            </a:r>
          </a:p>
        </p:txBody>
      </p:sp>
      <p:sp>
        <p:nvSpPr>
          <p:cNvPr id="35" name="TextBox 34"/>
          <p:cNvSpPr txBox="1"/>
          <p:nvPr/>
        </p:nvSpPr>
        <p:spPr>
          <a:xfrm>
            <a:off x="822960" y="6071616"/>
            <a:ext cx="10698480" cy="27432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Full equation reconstructs the probability. These seven terms are a selection, not the complete sum.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02 / QUESTION IMPORTANCE</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Which features help XGBoost split the data?</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2</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04</a:t>
            </a:r>
          </a:p>
        </p:txBody>
      </p:sp>
      <p:sp>
        <p:nvSpPr>
          <p:cNvPr id="6" name="TextBox 5"/>
          <p:cNvSpPr txBox="1"/>
          <p:nvPr/>
        </p:nvSpPr>
        <p:spPr>
          <a:xfrm>
            <a:off x="777240" y="1426464"/>
            <a:ext cx="10607040" cy="32004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Six highest-gain features · excerpt of the recorded plot</a:t>
            </a:r>
          </a:p>
        </p:txBody>
      </p:sp>
      <p:pic>
        <p:nvPicPr>
          <p:cNvPr id="7" name="Picture 6" descr="image.png"/>
          <p:cNvPicPr>
            <a:picLocks noChangeAspect="1"/>
          </p:cNvPicPr>
          <p:nvPr/>
        </p:nvPicPr>
        <p:blipFill>
          <a:blip r:embed="rId3"/>
          <a:stretch>
            <a:fillRect/>
          </a:stretch>
        </p:blipFill>
        <p:spPr>
          <a:xfrm>
            <a:off x="642495" y="1828800"/>
            <a:ext cx="10876529" cy="3648456"/>
          </a:xfrm>
          <a:prstGeom prst="rect">
            <a:avLst/>
          </a:prstGeom>
          <a:effectLst/>
        </p:spPr>
      </p:pic>
      <p:sp>
        <p:nvSpPr>
          <p:cNvPr id="8" name="TextBox 7"/>
          <p:cNvSpPr txBox="1"/>
          <p:nvPr/>
        </p:nvSpPr>
        <p:spPr>
          <a:xfrm>
            <a:off x="777240" y="5632704"/>
            <a:ext cx="3108960" cy="32004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Gain</a:t>
            </a:r>
          </a:p>
        </p:txBody>
      </p:sp>
      <p:sp>
        <p:nvSpPr>
          <p:cNvPr id="9" name="TextBox 8"/>
          <p:cNvSpPr txBox="1"/>
          <p:nvPr/>
        </p:nvSpPr>
        <p:spPr>
          <a:xfrm>
            <a:off x="777240" y="6080760"/>
            <a:ext cx="3108960" cy="27432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Average objective improvement</a:t>
            </a:r>
          </a:p>
        </p:txBody>
      </p:sp>
      <p:sp>
        <p:nvSpPr>
          <p:cNvPr id="10" name="TextBox 9"/>
          <p:cNvSpPr txBox="1"/>
          <p:nvPr/>
        </p:nvSpPr>
        <p:spPr>
          <a:xfrm>
            <a:off x="4572000" y="5632704"/>
            <a:ext cx="3108960" cy="32004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Weight</a:t>
            </a:r>
          </a:p>
        </p:txBody>
      </p:sp>
      <p:sp>
        <p:nvSpPr>
          <p:cNvPr id="11" name="TextBox 10"/>
          <p:cNvSpPr txBox="1"/>
          <p:nvPr/>
        </p:nvSpPr>
        <p:spPr>
          <a:xfrm>
            <a:off x="4572000" y="6080760"/>
            <a:ext cx="3108960" cy="27432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Split frequency</a:t>
            </a:r>
          </a:p>
        </p:txBody>
      </p:sp>
      <p:sp>
        <p:nvSpPr>
          <p:cNvPr id="12" name="TextBox 11"/>
          <p:cNvSpPr txBox="1"/>
          <p:nvPr/>
        </p:nvSpPr>
        <p:spPr>
          <a:xfrm>
            <a:off x="8366760" y="5632704"/>
            <a:ext cx="3108960" cy="32004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Cover</a:t>
            </a:r>
          </a:p>
        </p:txBody>
      </p:sp>
      <p:sp>
        <p:nvSpPr>
          <p:cNvPr id="13" name="TextBox 12"/>
          <p:cNvSpPr txBox="1"/>
          <p:nvPr/>
        </p:nvSpPr>
        <p:spPr>
          <a:xfrm>
            <a:off x="8366760" y="6080760"/>
            <a:ext cx="3108960" cy="27432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Hessian-based coverage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02 / QUESTION IMPORTANCE</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Ask “important” three ways, get three rankings</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2</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05</a:t>
            </a:r>
          </a:p>
        </p:txBody>
      </p:sp>
      <p:sp>
        <p:nvSpPr>
          <p:cNvPr id="6" name="TextBox 5"/>
          <p:cNvSpPr txBox="1"/>
          <p:nvPr/>
        </p:nvSpPr>
        <p:spPr>
          <a:xfrm>
            <a:off x="822960" y="1508760"/>
            <a:ext cx="10607040" cy="320040"/>
          </a:xfrm>
          <a:prstGeom prst="rect">
            <a:avLst/>
          </a:prstGeom>
          <a:noFill/>
          <a:effectLst/>
        </p:spPr>
        <p:txBody>
          <a:bodyPr wrap="square" lIns="0" rIns="0" tIns="0" bIns="0">
            <a:spAutoFit/>
          </a:bodyPr>
          <a:lstStyle/>
          <a:p>
            <a:pPr>
              <a:spcAft>
                <a:spcPts val="0"/>
              </a:spcAft>
              <a:defRPr sz="1800" b="0">
                <a:solidFill>
                  <a:srgbClr val="5B6570"/>
                </a:solidFill>
                <a:latin typeface="Aptos"/>
              </a:defRPr>
            </a:pPr>
            <a:r>
              <a:t>Selected recorded ranks · 1 means highest importance</a:t>
            </a:r>
          </a:p>
        </p:txBody>
      </p:sp>
      <p:sp>
        <p:nvSpPr>
          <p:cNvPr id="7" name="TextBox 6"/>
          <p:cNvSpPr txBox="1"/>
          <p:nvPr/>
        </p:nvSpPr>
        <p:spPr>
          <a:xfrm>
            <a:off x="3108960" y="1810512"/>
            <a:ext cx="1554480" cy="274320"/>
          </a:xfrm>
          <a:prstGeom prst="rect">
            <a:avLst/>
          </a:prstGeom>
          <a:noFill/>
          <a:effectLst/>
        </p:spPr>
        <p:txBody>
          <a:bodyPr wrap="square" lIns="0" rIns="0" tIns="0" bIns="0">
            <a:spAutoFit/>
          </a:bodyPr>
          <a:lstStyle/>
          <a:p>
            <a:pPr algn="ctr">
              <a:spcAft>
                <a:spcPts val="0"/>
              </a:spcAft>
              <a:defRPr sz="1800" b="1">
                <a:solidFill>
                  <a:srgbClr val="24586B"/>
                </a:solidFill>
                <a:latin typeface="Aptos"/>
              </a:defRPr>
            </a:pPr>
            <a:r>
              <a:t>GAIN</a:t>
            </a:r>
          </a:p>
        </p:txBody>
      </p:sp>
      <p:cxnSp>
        <p:nvCxnSpPr>
          <p:cNvPr id="8" name="Connector 7"/>
          <p:cNvCxnSpPr/>
          <p:nvPr/>
        </p:nvCxnSpPr>
        <p:spPr>
          <a:xfrm>
            <a:off x="3657600" y="2103120"/>
            <a:ext cx="0" cy="3456432"/>
          </a:xfrm>
          <a:prstGeom prst="line">
            <a:avLst/>
          </a:prstGeom>
          <a:ln w="12700">
            <a:solidFill>
              <a:srgbClr val="DDE2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1810512"/>
            <a:ext cx="1554480" cy="274320"/>
          </a:xfrm>
          <a:prstGeom prst="rect">
            <a:avLst/>
          </a:prstGeom>
          <a:noFill/>
          <a:effectLst/>
        </p:spPr>
        <p:txBody>
          <a:bodyPr wrap="square" lIns="0" rIns="0" tIns="0" bIns="0">
            <a:spAutoFit/>
          </a:bodyPr>
          <a:lstStyle/>
          <a:p>
            <a:pPr algn="ctr">
              <a:spcAft>
                <a:spcPts val="0"/>
              </a:spcAft>
              <a:defRPr sz="1800" b="1">
                <a:solidFill>
                  <a:srgbClr val="24586B"/>
                </a:solidFill>
                <a:latin typeface="Aptos"/>
              </a:defRPr>
            </a:pPr>
            <a:r>
              <a:t>WEIGHT</a:t>
            </a:r>
          </a:p>
        </p:txBody>
      </p:sp>
      <p:cxnSp>
        <p:nvCxnSpPr>
          <p:cNvPr id="10" name="Connector 9"/>
          <p:cNvCxnSpPr/>
          <p:nvPr/>
        </p:nvCxnSpPr>
        <p:spPr>
          <a:xfrm>
            <a:off x="6766560" y="2103120"/>
            <a:ext cx="0" cy="3456432"/>
          </a:xfrm>
          <a:prstGeom prst="line">
            <a:avLst/>
          </a:prstGeom>
          <a:ln w="12700">
            <a:solidFill>
              <a:srgbClr val="DDE2E5"/>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326880" y="1810512"/>
            <a:ext cx="1554480" cy="274320"/>
          </a:xfrm>
          <a:prstGeom prst="rect">
            <a:avLst/>
          </a:prstGeom>
          <a:noFill/>
          <a:effectLst/>
        </p:spPr>
        <p:txBody>
          <a:bodyPr wrap="square" lIns="0" rIns="0" tIns="0" bIns="0">
            <a:spAutoFit/>
          </a:bodyPr>
          <a:lstStyle/>
          <a:p>
            <a:pPr algn="ctr">
              <a:spcAft>
                <a:spcPts val="0"/>
              </a:spcAft>
              <a:defRPr sz="1800" b="1">
                <a:solidFill>
                  <a:srgbClr val="24586B"/>
                </a:solidFill>
                <a:latin typeface="Aptos"/>
              </a:defRPr>
            </a:pPr>
            <a:r>
              <a:t>COVER</a:t>
            </a:r>
          </a:p>
        </p:txBody>
      </p:sp>
      <p:cxnSp>
        <p:nvCxnSpPr>
          <p:cNvPr id="12" name="Connector 11"/>
          <p:cNvCxnSpPr/>
          <p:nvPr/>
        </p:nvCxnSpPr>
        <p:spPr>
          <a:xfrm>
            <a:off x="9875520" y="2103120"/>
            <a:ext cx="0" cy="3456432"/>
          </a:xfrm>
          <a:prstGeom prst="line">
            <a:avLst/>
          </a:prstGeom>
          <a:ln w="12700">
            <a:solidFill>
              <a:srgbClr val="DDE2E5"/>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29000" y="2148840"/>
            <a:ext cx="6720840" cy="0"/>
          </a:xfrm>
          <a:prstGeom prst="line">
            <a:avLst/>
          </a:prstGeom>
          <a:ln w="8255">
            <a:solidFill>
              <a:srgbClr val="E9ECEE"/>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429000" y="3081528"/>
            <a:ext cx="6720840" cy="0"/>
          </a:xfrm>
          <a:prstGeom prst="line">
            <a:avLst/>
          </a:prstGeom>
          <a:ln w="8255">
            <a:solidFill>
              <a:srgbClr val="E9ECEE"/>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29000" y="4247388"/>
            <a:ext cx="6720840" cy="0"/>
          </a:xfrm>
          <a:prstGeom prst="line">
            <a:avLst/>
          </a:prstGeom>
          <a:ln w="8255">
            <a:solidFill>
              <a:srgbClr val="E9ECEE"/>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29000" y="5413248"/>
            <a:ext cx="6720840" cy="0"/>
          </a:xfrm>
          <a:prstGeom prst="line">
            <a:avLst/>
          </a:prstGeom>
          <a:ln w="8255">
            <a:solidFill>
              <a:srgbClr val="E9ECE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993392"/>
            <a:ext cx="2468880" cy="36576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PAY_0</a:t>
            </a:r>
          </a:p>
        </p:txBody>
      </p:sp>
      <p:cxnSp>
        <p:nvCxnSpPr>
          <p:cNvPr id="18" name="Connector 17"/>
          <p:cNvCxnSpPr/>
          <p:nvPr/>
        </p:nvCxnSpPr>
        <p:spPr>
          <a:xfrm>
            <a:off x="3657600" y="2148840"/>
            <a:ext cx="3108960" cy="1632204"/>
          </a:xfrm>
          <a:prstGeom prst="line">
            <a:avLst/>
          </a:prstGeom>
          <a:ln w="25400">
            <a:solidFill>
              <a:srgbClr val="24586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766560" y="2615184"/>
            <a:ext cx="3108960" cy="1165860"/>
          </a:xfrm>
          <a:prstGeom prst="line">
            <a:avLst/>
          </a:prstGeom>
          <a:ln w="25400">
            <a:solidFill>
              <a:srgbClr val="24586B"/>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607308" y="2098548"/>
            <a:ext cx="100584" cy="100584"/>
          </a:xfrm>
          <a:prstGeom prst="ellipse">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85615" y="2020824"/>
            <a:ext cx="502920" cy="274320"/>
          </a:xfrm>
          <a:prstGeom prst="rect">
            <a:avLst/>
          </a:prstGeom>
          <a:noFill/>
          <a:effectLst/>
        </p:spPr>
        <p:txBody>
          <a:bodyPr wrap="square" lIns="0" rIns="0" tIns="0" bIns="0">
            <a:spAutoFit/>
          </a:bodyPr>
          <a:lstStyle/>
          <a:p>
            <a:pPr>
              <a:spcAft>
                <a:spcPts val="0"/>
              </a:spcAft>
              <a:defRPr sz="1700" b="1">
                <a:solidFill>
                  <a:srgbClr val="24586B"/>
                </a:solidFill>
                <a:latin typeface="Aptos"/>
              </a:defRPr>
            </a:pPr>
            <a:r>
              <a:t>1</a:t>
            </a:r>
          </a:p>
        </p:txBody>
      </p:sp>
      <p:sp>
        <p:nvSpPr>
          <p:cNvPr id="22" name="Oval 21"/>
          <p:cNvSpPr/>
          <p:nvPr/>
        </p:nvSpPr>
        <p:spPr>
          <a:xfrm>
            <a:off x="6716268" y="3730752"/>
            <a:ext cx="100584" cy="100584"/>
          </a:xfrm>
          <a:prstGeom prst="ellipse">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94576" y="3653027"/>
            <a:ext cx="502920" cy="274320"/>
          </a:xfrm>
          <a:prstGeom prst="rect">
            <a:avLst/>
          </a:prstGeom>
          <a:noFill/>
          <a:effectLst/>
        </p:spPr>
        <p:txBody>
          <a:bodyPr wrap="square" lIns="0" rIns="0" tIns="0" bIns="0">
            <a:spAutoFit/>
          </a:bodyPr>
          <a:lstStyle/>
          <a:p>
            <a:pPr>
              <a:spcAft>
                <a:spcPts val="0"/>
              </a:spcAft>
              <a:defRPr sz="1700" b="1">
                <a:solidFill>
                  <a:srgbClr val="24586B"/>
                </a:solidFill>
                <a:latin typeface="Aptos"/>
              </a:defRPr>
            </a:pPr>
            <a:r>
              <a:t>8</a:t>
            </a:r>
          </a:p>
        </p:txBody>
      </p:sp>
      <p:sp>
        <p:nvSpPr>
          <p:cNvPr id="24" name="Oval 23"/>
          <p:cNvSpPr/>
          <p:nvPr/>
        </p:nvSpPr>
        <p:spPr>
          <a:xfrm>
            <a:off x="9825228" y="2564892"/>
            <a:ext cx="100584" cy="100584"/>
          </a:xfrm>
          <a:prstGeom prst="ellipse">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3536" y="2487168"/>
            <a:ext cx="502920" cy="274320"/>
          </a:xfrm>
          <a:prstGeom prst="rect">
            <a:avLst/>
          </a:prstGeom>
          <a:noFill/>
          <a:effectLst/>
        </p:spPr>
        <p:txBody>
          <a:bodyPr wrap="square" lIns="0" rIns="0" tIns="0" bIns="0">
            <a:spAutoFit/>
          </a:bodyPr>
          <a:lstStyle/>
          <a:p>
            <a:pPr>
              <a:spcAft>
                <a:spcPts val="0"/>
              </a:spcAft>
              <a:defRPr sz="1700" b="1">
                <a:solidFill>
                  <a:srgbClr val="24586B"/>
                </a:solidFill>
                <a:latin typeface="Aptos"/>
              </a:defRPr>
            </a:pPr>
            <a:r>
              <a:t>3</a:t>
            </a:r>
          </a:p>
        </p:txBody>
      </p:sp>
      <p:sp>
        <p:nvSpPr>
          <p:cNvPr id="26" name="TextBox 25"/>
          <p:cNvSpPr txBox="1"/>
          <p:nvPr/>
        </p:nvSpPr>
        <p:spPr>
          <a:xfrm>
            <a:off x="822960" y="4091939"/>
            <a:ext cx="2468880" cy="365760"/>
          </a:xfrm>
          <a:prstGeom prst="rect">
            <a:avLst/>
          </a:prstGeom>
          <a:noFill/>
          <a:effectLst/>
        </p:spPr>
        <p:txBody>
          <a:bodyPr wrap="square" lIns="0" rIns="0" tIns="0" bIns="0">
            <a:spAutoFit/>
          </a:bodyPr>
          <a:lstStyle/>
          <a:p>
            <a:pPr>
              <a:spcAft>
                <a:spcPts val="0"/>
              </a:spcAft>
              <a:defRPr sz="2200" b="1">
                <a:solidFill>
                  <a:srgbClr val="66717B"/>
                </a:solidFill>
                <a:latin typeface="Aptos"/>
              </a:defRPr>
            </a:pPr>
            <a:r>
              <a:t>BILL_AMT1</a:t>
            </a:r>
          </a:p>
        </p:txBody>
      </p:sp>
      <p:cxnSp>
        <p:nvCxnSpPr>
          <p:cNvPr id="27" name="Connector 26"/>
          <p:cNvCxnSpPr/>
          <p:nvPr/>
        </p:nvCxnSpPr>
        <p:spPr>
          <a:xfrm flipV="1">
            <a:off x="3657600" y="2148840"/>
            <a:ext cx="3108960" cy="2098548"/>
          </a:xfrm>
          <a:prstGeom prst="line">
            <a:avLst/>
          </a:prstGeom>
          <a:ln w="25400">
            <a:solidFill>
              <a:srgbClr val="66717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766560" y="2148840"/>
            <a:ext cx="3108960" cy="2331720"/>
          </a:xfrm>
          <a:prstGeom prst="line">
            <a:avLst/>
          </a:prstGeom>
          <a:ln w="25400">
            <a:solidFill>
              <a:srgbClr val="66717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607308" y="4197096"/>
            <a:ext cx="100584" cy="100584"/>
          </a:xfrm>
          <a:prstGeom prst="ellipse">
            <a:avLst/>
          </a:prstGeom>
          <a:solidFill>
            <a:srgbClr val="6671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85615" y="4119372"/>
            <a:ext cx="502920" cy="274320"/>
          </a:xfrm>
          <a:prstGeom prst="rect">
            <a:avLst/>
          </a:prstGeom>
          <a:noFill/>
          <a:effectLst/>
        </p:spPr>
        <p:txBody>
          <a:bodyPr wrap="square" lIns="0" rIns="0" tIns="0" bIns="0">
            <a:spAutoFit/>
          </a:bodyPr>
          <a:lstStyle/>
          <a:p>
            <a:pPr>
              <a:spcAft>
                <a:spcPts val="0"/>
              </a:spcAft>
              <a:defRPr sz="1700" b="1">
                <a:solidFill>
                  <a:srgbClr val="66717B"/>
                </a:solidFill>
                <a:latin typeface="Aptos"/>
              </a:defRPr>
            </a:pPr>
            <a:r>
              <a:t>10</a:t>
            </a:r>
          </a:p>
        </p:txBody>
      </p:sp>
      <p:sp>
        <p:nvSpPr>
          <p:cNvPr id="31" name="Oval 30"/>
          <p:cNvSpPr/>
          <p:nvPr/>
        </p:nvSpPr>
        <p:spPr>
          <a:xfrm>
            <a:off x="6716268" y="2098548"/>
            <a:ext cx="100584" cy="100584"/>
          </a:xfrm>
          <a:prstGeom prst="ellipse">
            <a:avLst/>
          </a:prstGeom>
          <a:solidFill>
            <a:srgbClr val="6671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94576" y="2020824"/>
            <a:ext cx="502920" cy="274320"/>
          </a:xfrm>
          <a:prstGeom prst="rect">
            <a:avLst/>
          </a:prstGeom>
          <a:noFill/>
          <a:effectLst/>
        </p:spPr>
        <p:txBody>
          <a:bodyPr wrap="square" lIns="0" rIns="0" tIns="0" bIns="0">
            <a:spAutoFit/>
          </a:bodyPr>
          <a:lstStyle/>
          <a:p>
            <a:pPr>
              <a:spcAft>
                <a:spcPts val="0"/>
              </a:spcAft>
              <a:defRPr sz="1700" b="1">
                <a:solidFill>
                  <a:srgbClr val="66717B"/>
                </a:solidFill>
                <a:latin typeface="Aptos"/>
              </a:defRPr>
            </a:pPr>
            <a:r>
              <a:t>1</a:t>
            </a:r>
          </a:p>
        </p:txBody>
      </p:sp>
      <p:sp>
        <p:nvSpPr>
          <p:cNvPr id="33" name="Oval 32"/>
          <p:cNvSpPr/>
          <p:nvPr/>
        </p:nvSpPr>
        <p:spPr>
          <a:xfrm>
            <a:off x="9825228" y="4430268"/>
            <a:ext cx="100584" cy="100584"/>
          </a:xfrm>
          <a:prstGeom prst="ellipse">
            <a:avLst/>
          </a:prstGeom>
          <a:solidFill>
            <a:srgbClr val="6671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03536" y="4352544"/>
            <a:ext cx="502920" cy="274320"/>
          </a:xfrm>
          <a:prstGeom prst="rect">
            <a:avLst/>
          </a:prstGeom>
          <a:noFill/>
          <a:effectLst/>
        </p:spPr>
        <p:txBody>
          <a:bodyPr wrap="square" lIns="0" rIns="0" tIns="0" bIns="0">
            <a:spAutoFit/>
          </a:bodyPr>
          <a:lstStyle/>
          <a:p>
            <a:pPr>
              <a:spcAft>
                <a:spcPts val="0"/>
              </a:spcAft>
              <a:defRPr sz="1700" b="1">
                <a:solidFill>
                  <a:srgbClr val="66717B"/>
                </a:solidFill>
                <a:latin typeface="Aptos"/>
              </a:defRPr>
            </a:pPr>
            <a:r>
              <a:t>11</a:t>
            </a:r>
          </a:p>
        </p:txBody>
      </p:sp>
      <p:sp>
        <p:nvSpPr>
          <p:cNvPr id="35" name="TextBox 34"/>
          <p:cNvSpPr txBox="1"/>
          <p:nvPr/>
        </p:nvSpPr>
        <p:spPr>
          <a:xfrm>
            <a:off x="822960" y="3625596"/>
            <a:ext cx="2468880" cy="365760"/>
          </a:xfrm>
          <a:prstGeom prst="rect">
            <a:avLst/>
          </a:prstGeom>
          <a:noFill/>
          <a:effectLst/>
        </p:spPr>
        <p:txBody>
          <a:bodyPr wrap="square" lIns="0" rIns="0" tIns="0" bIns="0">
            <a:spAutoFit/>
          </a:bodyPr>
          <a:lstStyle/>
          <a:p>
            <a:pPr>
              <a:spcAft>
                <a:spcPts val="0"/>
              </a:spcAft>
              <a:defRPr sz="2200" b="1">
                <a:solidFill>
                  <a:srgbClr val="20262D"/>
                </a:solidFill>
                <a:latin typeface="Aptos"/>
              </a:defRPr>
            </a:pPr>
            <a:r>
              <a:t>LIMIT_BAL</a:t>
            </a:r>
          </a:p>
        </p:txBody>
      </p:sp>
      <p:cxnSp>
        <p:nvCxnSpPr>
          <p:cNvPr id="36" name="Connector 35"/>
          <p:cNvCxnSpPr/>
          <p:nvPr/>
        </p:nvCxnSpPr>
        <p:spPr>
          <a:xfrm flipV="1">
            <a:off x="3657600" y="2382012"/>
            <a:ext cx="3108960" cy="1399032"/>
          </a:xfrm>
          <a:prstGeom prst="line">
            <a:avLst/>
          </a:prstGeom>
          <a:ln w="25400">
            <a:solidFill>
              <a:srgbClr val="20262D"/>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766560" y="2382012"/>
            <a:ext cx="3108960" cy="3031236"/>
          </a:xfrm>
          <a:prstGeom prst="line">
            <a:avLst/>
          </a:prstGeom>
          <a:ln w="25400">
            <a:solidFill>
              <a:srgbClr val="20262D"/>
            </a:solidFill>
            <a:prstDash val="dash"/>
          </a:ln>
          <a:effectLst/>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3607308" y="3730752"/>
            <a:ext cx="100584" cy="100584"/>
          </a:xfrm>
          <a:prstGeom prst="ellipse">
            <a:avLst/>
          </a:prstGeom>
          <a:solidFill>
            <a:srgbClr val="20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5615" y="3653027"/>
            <a:ext cx="502920" cy="274320"/>
          </a:xfrm>
          <a:prstGeom prst="rect">
            <a:avLst/>
          </a:prstGeom>
          <a:noFill/>
          <a:effectLst/>
        </p:spPr>
        <p:txBody>
          <a:bodyPr wrap="square" lIns="0" rIns="0" tIns="0" bIns="0">
            <a:spAutoFit/>
          </a:bodyPr>
          <a:lstStyle/>
          <a:p>
            <a:pPr>
              <a:spcAft>
                <a:spcPts val="0"/>
              </a:spcAft>
              <a:defRPr sz="1700" b="1">
                <a:solidFill>
                  <a:srgbClr val="20262D"/>
                </a:solidFill>
                <a:latin typeface="Aptos"/>
              </a:defRPr>
            </a:pPr>
            <a:r>
              <a:t>8</a:t>
            </a:r>
          </a:p>
        </p:txBody>
      </p:sp>
      <p:sp>
        <p:nvSpPr>
          <p:cNvPr id="40" name="Oval 39"/>
          <p:cNvSpPr/>
          <p:nvPr/>
        </p:nvSpPr>
        <p:spPr>
          <a:xfrm>
            <a:off x="6716268" y="2331720"/>
            <a:ext cx="100584" cy="100584"/>
          </a:xfrm>
          <a:prstGeom prst="ellipse">
            <a:avLst/>
          </a:prstGeom>
          <a:solidFill>
            <a:srgbClr val="20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94576" y="2253996"/>
            <a:ext cx="502920" cy="274320"/>
          </a:xfrm>
          <a:prstGeom prst="rect">
            <a:avLst/>
          </a:prstGeom>
          <a:noFill/>
          <a:effectLst/>
        </p:spPr>
        <p:txBody>
          <a:bodyPr wrap="square" lIns="0" rIns="0" tIns="0" bIns="0">
            <a:spAutoFit/>
          </a:bodyPr>
          <a:lstStyle/>
          <a:p>
            <a:pPr>
              <a:spcAft>
                <a:spcPts val="0"/>
              </a:spcAft>
              <a:defRPr sz="1700" b="1">
                <a:solidFill>
                  <a:srgbClr val="20262D"/>
                </a:solidFill>
                <a:latin typeface="Aptos"/>
              </a:defRPr>
            </a:pPr>
            <a:r>
              <a:t>2</a:t>
            </a:r>
          </a:p>
        </p:txBody>
      </p:sp>
      <p:sp>
        <p:nvSpPr>
          <p:cNvPr id="42" name="Oval 41"/>
          <p:cNvSpPr/>
          <p:nvPr/>
        </p:nvSpPr>
        <p:spPr>
          <a:xfrm>
            <a:off x="9825228" y="5362956"/>
            <a:ext cx="100584" cy="100584"/>
          </a:xfrm>
          <a:prstGeom prst="ellipse">
            <a:avLst/>
          </a:prstGeom>
          <a:solidFill>
            <a:srgbClr val="20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03536" y="5285232"/>
            <a:ext cx="502920" cy="274320"/>
          </a:xfrm>
          <a:prstGeom prst="rect">
            <a:avLst/>
          </a:prstGeom>
          <a:noFill/>
          <a:effectLst/>
        </p:spPr>
        <p:txBody>
          <a:bodyPr wrap="square" lIns="0" rIns="0" tIns="0" bIns="0">
            <a:spAutoFit/>
          </a:bodyPr>
          <a:lstStyle/>
          <a:p>
            <a:pPr>
              <a:spcAft>
                <a:spcPts val="0"/>
              </a:spcAft>
              <a:defRPr sz="1700" b="1">
                <a:solidFill>
                  <a:srgbClr val="20262D"/>
                </a:solidFill>
                <a:latin typeface="Aptos"/>
              </a:defRPr>
            </a:pPr>
            <a:r>
              <a:t>15</a:t>
            </a:r>
          </a:p>
        </p:txBody>
      </p:sp>
      <p:sp>
        <p:nvSpPr>
          <p:cNvPr id="44" name="TextBox 43"/>
          <p:cNvSpPr txBox="1"/>
          <p:nvPr/>
        </p:nvSpPr>
        <p:spPr>
          <a:xfrm>
            <a:off x="822960" y="5998464"/>
            <a:ext cx="10607040" cy="36576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Global importance is not a signed explanation of an individual prediction.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03 / ATTRIBUTE THE SCORE</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Across 200 cases, recent repayment status stands out</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3</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06</a:t>
            </a:r>
          </a:p>
        </p:txBody>
      </p:sp>
      <p:pic>
        <p:nvPicPr>
          <p:cNvPr id="6" name="Picture 5" descr="image.png"/>
          <p:cNvPicPr>
            <a:picLocks noChangeAspect="1"/>
          </p:cNvPicPr>
          <p:nvPr/>
        </p:nvPicPr>
        <p:blipFill>
          <a:blip r:embed="rId3"/>
          <a:stretch>
            <a:fillRect/>
          </a:stretch>
        </p:blipFill>
        <p:spPr>
          <a:xfrm>
            <a:off x="502920" y="1391181"/>
            <a:ext cx="8823960" cy="4980893"/>
          </a:xfrm>
          <a:prstGeom prst="rect">
            <a:avLst/>
          </a:prstGeom>
          <a:effectLst/>
        </p:spPr>
      </p:pic>
      <p:sp>
        <p:nvSpPr>
          <p:cNvPr id="7" name="TextBox 6"/>
          <p:cNvSpPr txBox="1"/>
          <p:nvPr/>
        </p:nvSpPr>
        <p:spPr>
          <a:xfrm>
            <a:off x="9509760" y="1828800"/>
            <a:ext cx="2011680" cy="731520"/>
          </a:xfrm>
          <a:prstGeom prst="rect">
            <a:avLst/>
          </a:prstGeom>
          <a:noFill/>
          <a:effectLst/>
        </p:spPr>
        <p:txBody>
          <a:bodyPr wrap="square" lIns="0" rIns="0" tIns="0" bIns="0">
            <a:spAutoFit/>
          </a:bodyPr>
          <a:lstStyle/>
          <a:p>
            <a:pPr>
              <a:spcAft>
                <a:spcPts val="0"/>
              </a:spcAft>
              <a:defRPr sz="4200" b="1">
                <a:solidFill>
                  <a:srgbClr val="24586B"/>
                </a:solidFill>
                <a:latin typeface="Georgia"/>
              </a:defRPr>
            </a:pPr>
            <a:r>
              <a:t>200</a:t>
            </a:r>
          </a:p>
        </p:txBody>
      </p:sp>
      <p:sp>
        <p:nvSpPr>
          <p:cNvPr id="8" name="TextBox 7"/>
          <p:cNvSpPr txBox="1"/>
          <p:nvPr/>
        </p:nvSpPr>
        <p:spPr>
          <a:xfrm>
            <a:off x="9509760" y="2651760"/>
            <a:ext cx="2011680" cy="914400"/>
          </a:xfrm>
          <a:prstGeom prst="rect">
            <a:avLst/>
          </a:prstGeom>
          <a:noFill/>
          <a:effectLst/>
        </p:spPr>
        <p:txBody>
          <a:bodyPr wrap="square" lIns="0" rIns="0" tIns="0" bIns="0">
            <a:spAutoFit/>
          </a:bodyPr>
          <a:lstStyle/>
          <a:p>
            <a:pPr>
              <a:spcAft>
                <a:spcPts val="0"/>
              </a:spcAft>
              <a:defRPr sz="2200" b="0">
                <a:solidFill>
                  <a:srgbClr val="20262D"/>
                </a:solidFill>
                <a:latin typeface="Aptos"/>
              </a:defRPr>
            </a:pPr>
            <a:r>
              <a:t>sampled test</a:t>
            </a:r>
          </a:p>
          <a:p>
            <a:pPr>
              <a:spcAft>
                <a:spcPts val="0"/>
              </a:spcAft>
              <a:defRPr sz="2200" b="0">
                <a:solidFill>
                  <a:srgbClr val="20262D"/>
                </a:solidFill>
                <a:latin typeface="Aptos"/>
              </a:defRPr>
            </a:pPr>
            <a:r>
              <a:t>cases</a:t>
            </a:r>
          </a:p>
        </p:txBody>
      </p:sp>
      <p:sp>
        <p:nvSpPr>
          <p:cNvPr id="9" name="Rectangle 8"/>
          <p:cNvSpPr/>
          <p:nvPr/>
        </p:nvSpPr>
        <p:spPr>
          <a:xfrm>
            <a:off x="9509760" y="3877056"/>
            <a:ext cx="2011680" cy="10972"/>
          </a:xfrm>
          <a:prstGeom prst="rect">
            <a:avLst/>
          </a:prstGeom>
          <a:solidFill>
            <a:srgbClr val="DD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4251960"/>
            <a:ext cx="2011680" cy="411480"/>
          </a:xfrm>
          <a:prstGeom prst="rect">
            <a:avLst/>
          </a:prstGeom>
          <a:noFill/>
          <a:effectLst/>
        </p:spPr>
        <p:txBody>
          <a:bodyPr wrap="square" lIns="0" rIns="0" tIns="0" bIns="0">
            <a:spAutoFit/>
          </a:bodyPr>
          <a:lstStyle/>
          <a:p>
            <a:pPr>
              <a:spcAft>
                <a:spcPts val="0"/>
              </a:spcAft>
              <a:defRPr sz="2400" b="1">
                <a:solidFill>
                  <a:srgbClr val="24586B"/>
                </a:solidFill>
                <a:latin typeface="Aptos"/>
              </a:defRPr>
            </a:pPr>
            <a:r>
              <a:t>PAY_0</a:t>
            </a:r>
          </a:p>
        </p:txBody>
      </p:sp>
      <p:sp>
        <p:nvSpPr>
          <p:cNvPr id="11" name="TextBox 10"/>
          <p:cNvSpPr txBox="1"/>
          <p:nvPr/>
        </p:nvSpPr>
        <p:spPr>
          <a:xfrm>
            <a:off x="9509760" y="4855464"/>
            <a:ext cx="2011680" cy="457200"/>
          </a:xfrm>
          <a:prstGeom prst="rect">
            <a:avLst/>
          </a:prstGeom>
          <a:noFill/>
          <a:effectLst/>
        </p:spPr>
        <p:txBody>
          <a:bodyPr wrap="square" lIns="0" rIns="0" tIns="0" bIns="0">
            <a:spAutoFit/>
          </a:bodyPr>
          <a:lstStyle/>
          <a:p>
            <a:pPr>
              <a:spcAft>
                <a:spcPts val="0"/>
              </a:spcAft>
              <a:defRPr sz="2900" b="1">
                <a:solidFill>
                  <a:srgbClr val="24586B"/>
                </a:solidFill>
                <a:latin typeface="Aptos"/>
              </a:defRPr>
            </a:pPr>
            <a:r>
              <a:t>≈ 0.602</a:t>
            </a:r>
          </a:p>
        </p:txBody>
      </p:sp>
      <p:sp>
        <p:nvSpPr>
          <p:cNvPr id="12" name="TextBox 11"/>
          <p:cNvSpPr txBox="1"/>
          <p:nvPr/>
        </p:nvSpPr>
        <p:spPr>
          <a:xfrm>
            <a:off x="9509760" y="5468112"/>
            <a:ext cx="2011680" cy="594360"/>
          </a:xfrm>
          <a:prstGeom prst="rect">
            <a:avLst/>
          </a:prstGeom>
          <a:noFill/>
          <a:effectLst/>
        </p:spPr>
        <p:txBody>
          <a:bodyPr wrap="square" lIns="0" rIns="0" tIns="0" bIns="0">
            <a:spAutoFit/>
          </a:bodyPr>
          <a:lstStyle/>
          <a:p>
            <a:pPr>
              <a:spcAft>
                <a:spcPts val="0"/>
              </a:spcAft>
              <a:defRPr sz="1800" b="0">
                <a:solidFill>
                  <a:srgbClr val="5B6570"/>
                </a:solidFill>
                <a:latin typeface="Aptos"/>
              </a:defRPr>
            </a:pPr>
            <a:r>
              <a:t>mean absolute</a:t>
            </a:r>
          </a:p>
          <a:p>
            <a:pPr>
              <a:spcAft>
                <a:spcPts val="0"/>
              </a:spcAft>
              <a:defRPr sz="1800" b="0">
                <a:solidFill>
                  <a:srgbClr val="5B6570"/>
                </a:solidFill>
                <a:latin typeface="Aptos"/>
              </a:defRPr>
            </a:pPr>
            <a:r>
              <a:t>SHAP value</a:t>
            </a:r>
          </a:p>
        </p:txBody>
      </p:sp>
      <p:sp>
        <p:nvSpPr>
          <p:cNvPr id="13" name="TextBox 12"/>
          <p:cNvSpPr txBox="1"/>
          <p:nvPr/>
        </p:nvSpPr>
        <p:spPr>
          <a:xfrm>
            <a:off x="777240" y="6163056"/>
            <a:ext cx="8046720" cy="228600"/>
          </a:xfrm>
          <a:prstGeom prst="rect">
            <a:avLst/>
          </a:prstGeom>
          <a:noFill/>
          <a:effectLst/>
        </p:spPr>
        <p:txBody>
          <a:bodyPr wrap="square" lIns="0" rIns="0" tIns="0" bIns="0">
            <a:spAutoFit/>
          </a:bodyPr>
          <a:lstStyle/>
          <a:p>
            <a:pPr>
              <a:spcAft>
                <a:spcPts val="0"/>
              </a:spcAft>
              <a:defRPr sz="1500" b="0">
                <a:solidFill>
                  <a:srgbClr val="5B6570"/>
                </a:solidFill>
                <a:latin typeface="Aptos"/>
              </a:defRPr>
            </a:pPr>
            <a:r>
              <a:t>First 8 feature rows shown · separate neural-network explanation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03 / ATTRIBUTE THE SCORE</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One high-risk score, opposing contributions</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3</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07</a:t>
            </a:r>
          </a:p>
        </p:txBody>
      </p:sp>
      <p:pic>
        <p:nvPicPr>
          <p:cNvPr id="6" name="Picture 5" descr="image.png"/>
          <p:cNvPicPr>
            <a:picLocks noChangeAspect="1"/>
          </p:cNvPicPr>
          <p:nvPr/>
        </p:nvPicPr>
        <p:blipFill>
          <a:blip r:embed="rId3"/>
          <a:stretch>
            <a:fillRect/>
          </a:stretch>
        </p:blipFill>
        <p:spPr>
          <a:xfrm>
            <a:off x="1374377" y="1417320"/>
            <a:ext cx="6303805" cy="4846320"/>
          </a:xfrm>
          <a:prstGeom prst="rect">
            <a:avLst/>
          </a:prstGeom>
          <a:effectLst/>
        </p:spPr>
      </p:pic>
      <p:sp>
        <p:nvSpPr>
          <p:cNvPr id="7" name="TextBox 6"/>
          <p:cNvSpPr txBox="1"/>
          <p:nvPr/>
        </p:nvSpPr>
        <p:spPr>
          <a:xfrm>
            <a:off x="8823960" y="1783080"/>
            <a:ext cx="2697480" cy="36576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Applicant 15110</a:t>
            </a:r>
          </a:p>
        </p:txBody>
      </p:sp>
      <p:sp>
        <p:nvSpPr>
          <p:cNvPr id="8" name="TextBox 7"/>
          <p:cNvSpPr txBox="1"/>
          <p:nvPr/>
        </p:nvSpPr>
        <p:spPr>
          <a:xfrm>
            <a:off x="8823960" y="2423160"/>
            <a:ext cx="2697480" cy="548640"/>
          </a:xfrm>
          <a:prstGeom prst="rect">
            <a:avLst/>
          </a:prstGeom>
          <a:noFill/>
          <a:effectLst/>
        </p:spPr>
        <p:txBody>
          <a:bodyPr wrap="square" lIns="0" rIns="0" tIns="0" bIns="0">
            <a:spAutoFit/>
          </a:bodyPr>
          <a:lstStyle/>
          <a:p>
            <a:pPr>
              <a:spcAft>
                <a:spcPts val="0"/>
              </a:spcAft>
              <a:defRPr sz="3300" b="1">
                <a:solidFill>
                  <a:srgbClr val="24586B"/>
                </a:solidFill>
                <a:latin typeface="Georgia"/>
              </a:defRPr>
            </a:pPr>
            <a:r>
              <a:t>P = 0.685</a:t>
            </a:r>
          </a:p>
        </p:txBody>
      </p:sp>
      <p:sp>
        <p:nvSpPr>
          <p:cNvPr id="9" name="Rectangle 8"/>
          <p:cNvSpPr/>
          <p:nvPr/>
        </p:nvSpPr>
        <p:spPr>
          <a:xfrm>
            <a:off x="8823960" y="3337560"/>
            <a:ext cx="2697480" cy="10972"/>
          </a:xfrm>
          <a:prstGeom prst="rect">
            <a:avLst/>
          </a:prstGeom>
          <a:solidFill>
            <a:srgbClr val="DD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3960" y="3657600"/>
            <a:ext cx="2697480" cy="1371600"/>
          </a:xfrm>
          <a:prstGeom prst="rect">
            <a:avLst/>
          </a:prstGeom>
          <a:noFill/>
          <a:effectLst/>
        </p:spPr>
        <p:txBody>
          <a:bodyPr wrap="square" lIns="0" rIns="0" tIns="0" bIns="0">
            <a:spAutoFit/>
          </a:bodyPr>
          <a:lstStyle/>
          <a:p>
            <a:pPr>
              <a:spcAft>
                <a:spcPts val="0"/>
              </a:spcAft>
              <a:defRPr sz="2400" b="1">
                <a:solidFill>
                  <a:srgbClr val="20262D"/>
                </a:solidFill>
                <a:latin typeface="Georgia"/>
              </a:defRPr>
            </a:pPr>
            <a:r>
              <a:t>Reference</a:t>
            </a:r>
          </a:p>
          <a:p>
            <a:pPr>
              <a:spcAft>
                <a:spcPts val="0"/>
              </a:spcAft>
              <a:defRPr sz="2400" b="1">
                <a:solidFill>
                  <a:srgbClr val="20262D"/>
                </a:solidFill>
                <a:latin typeface="Georgia"/>
              </a:defRPr>
            </a:pPr>
            <a:r>
              <a:t>+ contributions</a:t>
            </a:r>
          </a:p>
          <a:p>
            <a:pPr>
              <a:spcAft>
                <a:spcPts val="0"/>
              </a:spcAft>
              <a:defRPr sz="2400" b="1">
                <a:solidFill>
                  <a:srgbClr val="20262D"/>
                </a:solidFill>
                <a:latin typeface="Georgia"/>
              </a:defRPr>
            </a:pPr>
            <a:r>
              <a:t>→ prediction</a:t>
            </a:r>
          </a:p>
        </p:txBody>
      </p:sp>
      <p:sp>
        <p:nvSpPr>
          <p:cNvPr id="11" name="TextBox 10"/>
          <p:cNvSpPr txBox="1"/>
          <p:nvPr/>
        </p:nvSpPr>
        <p:spPr>
          <a:xfrm>
            <a:off x="8823960" y="5404104"/>
            <a:ext cx="2697480" cy="1005840"/>
          </a:xfrm>
          <a:prstGeom prst="rect">
            <a:avLst/>
          </a:prstGeom>
          <a:noFill/>
          <a:effectLst/>
        </p:spPr>
        <p:txBody>
          <a:bodyPr wrap="square" lIns="0" rIns="0" tIns="0" bIns="0">
            <a:spAutoFit/>
          </a:bodyPr>
          <a:lstStyle/>
          <a:p>
            <a:pPr>
              <a:spcAft>
                <a:spcPts val="0"/>
              </a:spcAft>
              <a:defRPr sz="2000" b="0">
                <a:solidFill>
                  <a:srgbClr val="5B6570"/>
                </a:solidFill>
                <a:latin typeface="Aptos"/>
              </a:defRPr>
            </a:pPr>
            <a:r>
              <a:t>Final 0.778 is</a:t>
            </a:r>
          </a:p>
          <a:p>
            <a:pPr>
              <a:spcAft>
                <a:spcPts val="0"/>
              </a:spcAft>
              <a:defRPr sz="2000" b="0">
                <a:solidFill>
                  <a:srgbClr val="5B6570"/>
                </a:solidFill>
                <a:latin typeface="Aptos"/>
              </a:defRPr>
            </a:pPr>
            <a:r>
              <a:t>log-odds, not</a:t>
            </a:r>
          </a:p>
          <a:p>
            <a:pPr>
              <a:spcAft>
                <a:spcPts val="0"/>
              </a:spcAft>
              <a:defRPr sz="2000" b="0">
                <a:solidFill>
                  <a:srgbClr val="5B6570"/>
                </a:solidFill>
                <a:latin typeface="Aptos"/>
              </a:defRPr>
            </a:pPr>
            <a:r>
              <a:t>probability.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04 / TEST THE EXPLANATION</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Ask again: which reasons stay?</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4</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08</a:t>
            </a:r>
          </a:p>
        </p:txBody>
      </p:sp>
      <p:sp>
        <p:nvSpPr>
          <p:cNvPr id="6" name="TextBox 5"/>
          <p:cNvSpPr txBox="1"/>
          <p:nvPr/>
        </p:nvSpPr>
        <p:spPr>
          <a:xfrm>
            <a:off x="777240" y="1417320"/>
            <a:ext cx="7543800" cy="365760"/>
          </a:xfrm>
          <a:prstGeom prst="rect">
            <a:avLst/>
          </a:prstGeom>
          <a:noFill/>
          <a:effectLst/>
        </p:spPr>
        <p:txBody>
          <a:bodyPr wrap="square" lIns="0" rIns="0" tIns="0" bIns="0">
            <a:spAutoFit/>
          </a:bodyPr>
          <a:lstStyle/>
          <a:p>
            <a:pPr>
              <a:spcAft>
                <a:spcPts val="0"/>
              </a:spcAft>
              <a:defRPr sz="2100" b="1">
                <a:solidFill>
                  <a:srgbClr val="24586B"/>
                </a:solidFill>
                <a:latin typeface="Aptos"/>
              </a:defRPr>
            </a:pPr>
            <a:r>
              <a:t>Sample  →  Predict  →  Weight  →  Fit</a:t>
            </a:r>
          </a:p>
        </p:txBody>
      </p:sp>
      <p:pic>
        <p:nvPicPr>
          <p:cNvPr id="7" name="Picture 6" descr="image.png"/>
          <p:cNvPicPr>
            <a:picLocks noChangeAspect="1"/>
          </p:cNvPicPr>
          <p:nvPr/>
        </p:nvPicPr>
        <p:blipFill>
          <a:blip r:embed="rId3"/>
          <a:stretch>
            <a:fillRect/>
          </a:stretch>
        </p:blipFill>
        <p:spPr>
          <a:xfrm>
            <a:off x="594360" y="2129047"/>
            <a:ext cx="7909560" cy="3303993"/>
          </a:xfrm>
          <a:prstGeom prst="rect">
            <a:avLst/>
          </a:prstGeom>
          <a:effectLst/>
        </p:spPr>
      </p:pic>
      <p:sp>
        <p:nvSpPr>
          <p:cNvPr id="8" name="TextBox 7"/>
          <p:cNvSpPr txBox="1"/>
          <p:nvPr/>
        </p:nvSpPr>
        <p:spPr>
          <a:xfrm>
            <a:off x="8869680" y="1783080"/>
            <a:ext cx="2651760" cy="594360"/>
          </a:xfrm>
          <a:prstGeom prst="rect">
            <a:avLst/>
          </a:prstGeom>
          <a:noFill/>
          <a:effectLst/>
        </p:spPr>
        <p:txBody>
          <a:bodyPr wrap="square" lIns="0" rIns="0" tIns="0" bIns="0">
            <a:spAutoFit/>
          </a:bodyPr>
          <a:lstStyle/>
          <a:p>
            <a:pPr>
              <a:spcAft>
                <a:spcPts val="0"/>
              </a:spcAft>
              <a:defRPr sz="3200" b="1">
                <a:solidFill>
                  <a:srgbClr val="24586B"/>
                </a:solidFill>
                <a:latin typeface="Georgia"/>
              </a:defRPr>
            </a:pPr>
            <a:r>
              <a:t>2 / 4</a:t>
            </a:r>
          </a:p>
        </p:txBody>
      </p:sp>
      <p:sp>
        <p:nvSpPr>
          <p:cNvPr id="9" name="TextBox 8"/>
          <p:cNvSpPr txBox="1"/>
          <p:nvPr/>
        </p:nvSpPr>
        <p:spPr>
          <a:xfrm>
            <a:off x="8869680" y="2450591"/>
            <a:ext cx="2651760" cy="548640"/>
          </a:xfrm>
          <a:prstGeom prst="rect">
            <a:avLst/>
          </a:prstGeom>
          <a:noFill/>
          <a:effectLst/>
        </p:spPr>
        <p:txBody>
          <a:bodyPr wrap="square" lIns="0" rIns="0" tIns="0" bIns="0">
            <a:spAutoFit/>
          </a:bodyPr>
          <a:lstStyle/>
          <a:p>
            <a:pPr>
              <a:spcAft>
                <a:spcPts val="0"/>
              </a:spcAft>
              <a:defRPr sz="1800" b="0">
                <a:solidFill>
                  <a:srgbClr val="20262D"/>
                </a:solidFill>
                <a:latin typeface="Aptos"/>
              </a:defRPr>
            </a:pPr>
            <a:r>
              <a:t>SHAP–LIME agreement</a:t>
            </a:r>
          </a:p>
        </p:txBody>
      </p:sp>
      <p:sp>
        <p:nvSpPr>
          <p:cNvPr id="10" name="TextBox 9"/>
          <p:cNvSpPr txBox="1"/>
          <p:nvPr/>
        </p:nvSpPr>
        <p:spPr>
          <a:xfrm>
            <a:off x="8869680" y="3246120"/>
            <a:ext cx="2651760" cy="594360"/>
          </a:xfrm>
          <a:prstGeom prst="rect">
            <a:avLst/>
          </a:prstGeom>
          <a:noFill/>
          <a:effectLst/>
        </p:spPr>
        <p:txBody>
          <a:bodyPr wrap="square" lIns="0" rIns="0" tIns="0" bIns="0">
            <a:spAutoFit/>
          </a:bodyPr>
          <a:lstStyle/>
          <a:p>
            <a:pPr>
              <a:spcAft>
                <a:spcPts val="0"/>
              </a:spcAft>
              <a:defRPr sz="3200" b="1">
                <a:solidFill>
                  <a:srgbClr val="24586B"/>
                </a:solidFill>
                <a:latin typeface="Georgia"/>
              </a:defRPr>
            </a:pPr>
            <a:r>
              <a:t>2.61 / 4</a:t>
            </a:r>
          </a:p>
        </p:txBody>
      </p:sp>
      <p:sp>
        <p:nvSpPr>
          <p:cNvPr id="11" name="TextBox 10"/>
          <p:cNvSpPr txBox="1"/>
          <p:nvPr/>
        </p:nvSpPr>
        <p:spPr>
          <a:xfrm>
            <a:off x="8869680" y="3913631"/>
            <a:ext cx="2651760" cy="548640"/>
          </a:xfrm>
          <a:prstGeom prst="rect">
            <a:avLst/>
          </a:prstGeom>
          <a:noFill/>
          <a:effectLst/>
        </p:spPr>
        <p:txBody>
          <a:bodyPr wrap="square" lIns="0" rIns="0" tIns="0" bIns="0">
            <a:spAutoFit/>
          </a:bodyPr>
          <a:lstStyle/>
          <a:p>
            <a:pPr>
              <a:spcAft>
                <a:spcPts val="0"/>
              </a:spcAft>
              <a:defRPr sz="1800" b="0">
                <a:solidFill>
                  <a:srgbClr val="20262D"/>
                </a:solidFill>
                <a:latin typeface="Aptos"/>
              </a:defRPr>
            </a:pPr>
            <a:r>
              <a:t>LIME: all run pairs</a:t>
            </a:r>
          </a:p>
        </p:txBody>
      </p:sp>
      <p:sp>
        <p:nvSpPr>
          <p:cNvPr id="12" name="TextBox 11"/>
          <p:cNvSpPr txBox="1"/>
          <p:nvPr/>
        </p:nvSpPr>
        <p:spPr>
          <a:xfrm>
            <a:off x="8869680" y="4709160"/>
            <a:ext cx="2651760" cy="594360"/>
          </a:xfrm>
          <a:prstGeom prst="rect">
            <a:avLst/>
          </a:prstGeom>
          <a:noFill/>
          <a:effectLst/>
        </p:spPr>
        <p:txBody>
          <a:bodyPr wrap="square" lIns="0" rIns="0" tIns="0" bIns="0">
            <a:spAutoFit/>
          </a:bodyPr>
          <a:lstStyle/>
          <a:p>
            <a:pPr>
              <a:spcAft>
                <a:spcPts val="0"/>
              </a:spcAft>
              <a:defRPr sz="3200" b="1">
                <a:solidFill>
                  <a:srgbClr val="24586B"/>
                </a:solidFill>
                <a:latin typeface="Georgia"/>
              </a:defRPr>
            </a:pPr>
            <a:r>
              <a:t>4 / 4</a:t>
            </a:r>
          </a:p>
        </p:txBody>
      </p:sp>
      <p:sp>
        <p:nvSpPr>
          <p:cNvPr id="13" name="TextBox 12"/>
          <p:cNvSpPr txBox="1"/>
          <p:nvPr/>
        </p:nvSpPr>
        <p:spPr>
          <a:xfrm>
            <a:off x="8869680" y="5376672"/>
            <a:ext cx="2651760" cy="548640"/>
          </a:xfrm>
          <a:prstGeom prst="rect">
            <a:avLst/>
          </a:prstGeom>
          <a:noFill/>
          <a:effectLst/>
        </p:spPr>
        <p:txBody>
          <a:bodyPr wrap="square" lIns="0" rIns="0" tIns="0" bIns="0">
            <a:spAutoFit/>
          </a:bodyPr>
          <a:lstStyle/>
          <a:p>
            <a:pPr>
              <a:spcAft>
                <a:spcPts val="0"/>
              </a:spcAft>
              <a:defRPr sz="1800" b="0">
                <a:solidFill>
                  <a:srgbClr val="20262D"/>
                </a:solidFill>
                <a:latin typeface="Aptos"/>
              </a:defRPr>
            </a:pPr>
            <a:r>
              <a:t>SHAP: versus first run</a:t>
            </a:r>
          </a:p>
        </p:txBody>
      </p:sp>
      <p:sp>
        <p:nvSpPr>
          <p:cNvPr id="14" name="TextBox 13"/>
          <p:cNvSpPr txBox="1"/>
          <p:nvPr/>
        </p:nvSpPr>
        <p:spPr>
          <a:xfrm>
            <a:off x="777240" y="5852160"/>
            <a:ext cx="7543800" cy="502920"/>
          </a:xfrm>
          <a:prstGeom prst="rect">
            <a:avLst/>
          </a:prstGeom>
          <a:noFill/>
          <a:effectLst/>
        </p:spPr>
        <p:txBody>
          <a:bodyPr wrap="square" lIns="0" rIns="0" tIns="0" bIns="0">
            <a:spAutoFit/>
          </a:bodyPr>
          <a:lstStyle/>
          <a:p>
            <a:pPr>
              <a:spcAft>
                <a:spcPts val="0"/>
              </a:spcAft>
              <a:defRPr sz="2000" b="0">
                <a:solidFill>
                  <a:srgbClr val="5B6570"/>
                </a:solidFill>
                <a:latin typeface="Aptos"/>
              </a:defRPr>
            </a:pPr>
            <a:r>
              <a:t>One fixed model and applicant. Different stability definitions.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04 / TEST THE EXPLANATION</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A changed decision is not yet a feasible action</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4</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09</a:t>
            </a:r>
          </a:p>
        </p:txBody>
      </p:sp>
      <p:sp>
        <p:nvSpPr>
          <p:cNvPr id="6" name="TextBox 5"/>
          <p:cNvSpPr txBox="1"/>
          <p:nvPr/>
        </p:nvSpPr>
        <p:spPr>
          <a:xfrm>
            <a:off x="777240" y="1444752"/>
            <a:ext cx="10698480" cy="365760"/>
          </a:xfrm>
          <a:prstGeom prst="rect">
            <a:avLst/>
          </a:prstGeom>
          <a:noFill/>
          <a:effectLst/>
        </p:spPr>
        <p:txBody>
          <a:bodyPr wrap="square" lIns="0" rIns="0" tIns="0" bIns="0">
            <a:spAutoFit/>
          </a:bodyPr>
          <a:lstStyle/>
          <a:p>
            <a:pPr>
              <a:spcAft>
                <a:spcPts val="0"/>
              </a:spcAft>
              <a:defRPr sz="1900" b="1">
                <a:solidFill>
                  <a:srgbClr val="24586B"/>
                </a:solidFill>
                <a:latin typeface="Aptos"/>
              </a:defRPr>
            </a:pPr>
            <a:r>
              <a:t>Same network and applicant · target: P(default) below 0.50</a:t>
            </a:r>
          </a:p>
        </p:txBody>
      </p:sp>
      <p:graphicFrame>
        <p:nvGraphicFramePr>
          <p:cNvPr id="7" name="Table 6"/>
          <p:cNvGraphicFramePr>
            <a:graphicFrameLocks noGrp="1"/>
          </p:cNvGraphicFramePr>
          <p:nvPr/>
        </p:nvGraphicFramePr>
        <p:xfrm>
          <a:off x="594360" y="2103120"/>
          <a:ext cx="10972800" cy="3072384"/>
        </p:xfrm>
        <a:graphic>
          <a:graphicData uri="http://schemas.openxmlformats.org/drawingml/2006/table">
            <a:tbl>
              <a:tblPr firstRow="1" bandRow="1">
                <a:tableStyleId>{5C22544A-7EE6-4342-B048-85BDC9FD1C3A}</a:tableStyleId>
              </a:tblPr>
              <a:tblGrid>
                <a:gridCol w="1828800"/>
                <a:gridCol w="5532120"/>
                <a:gridCol w="1554480"/>
                <a:gridCol w="2057400"/>
              </a:tblGrid>
              <a:tr h="768096">
                <a:tc>
                  <a:txBody>
                    <a:bodyPr/>
                    <a:lstStyle/>
                    <a:p>
                      <a:pPr>
                        <a:defRPr sz="1900" b="1">
                          <a:solidFill>
                            <a:srgbClr val="24586B"/>
                          </a:solidFill>
                          <a:latin typeface="Aptos"/>
                        </a:defRPr>
                      </a:pPr>
                      <a:r>
                        <a:t>Search</a:t>
                      </a:r>
                    </a:p>
                  </a:txBody>
                  <a:tcPr marL="128016" marR="109728" marT="73152" marB="45720" anchor="ctr">
                    <a:solidFill>
                      <a:srgbClr val="F3F5F6"/>
                    </a:solidFill>
                  </a:tcPr>
                </a:tc>
                <a:tc>
                  <a:txBody>
                    <a:bodyPr/>
                    <a:lstStyle/>
                    <a:p>
                      <a:pPr>
                        <a:defRPr sz="1900" b="1">
                          <a:solidFill>
                            <a:srgbClr val="24586B"/>
                          </a:solidFill>
                          <a:latin typeface="Aptos"/>
                        </a:defRPr>
                      </a:pPr>
                      <a:r>
                        <a:t>Recorded change</a:t>
                      </a:r>
                    </a:p>
                  </a:txBody>
                  <a:tcPr marL="128016" marR="109728" marT="73152" marB="45720" anchor="ctr">
                    <a:solidFill>
                      <a:srgbClr val="F3F5F6"/>
                    </a:solidFill>
                  </a:tcPr>
                </a:tc>
                <a:tc>
                  <a:txBody>
                    <a:bodyPr/>
                    <a:lstStyle/>
                    <a:p>
                      <a:pPr>
                        <a:defRPr sz="1900" b="1">
                          <a:solidFill>
                            <a:srgbClr val="24586B"/>
                          </a:solidFill>
                          <a:latin typeface="Aptos"/>
                        </a:defRPr>
                      </a:pPr>
                      <a:r>
                        <a:t>P(default)</a:t>
                      </a:r>
                    </a:p>
                  </a:txBody>
                  <a:tcPr marL="128016" marR="109728" marT="73152" marB="45720" anchor="ctr">
                    <a:solidFill>
                      <a:srgbClr val="F3F5F6"/>
                    </a:solidFill>
                  </a:tcPr>
                </a:tc>
                <a:tc>
                  <a:txBody>
                    <a:bodyPr/>
                    <a:lstStyle/>
                    <a:p>
                      <a:pPr>
                        <a:defRPr sz="1900" b="1">
                          <a:solidFill>
                            <a:srgbClr val="24586B"/>
                          </a:solidFill>
                          <a:latin typeface="Aptos"/>
                        </a:defRPr>
                      </a:pPr>
                      <a:r>
                        <a:t>Unresolved</a:t>
                      </a:r>
                    </a:p>
                  </a:txBody>
                  <a:tcPr marL="128016" marR="109728" marT="73152" marB="45720" anchor="ctr">
                    <a:solidFill>
                      <a:srgbClr val="F3F5F6"/>
                    </a:solidFill>
                  </a:tcPr>
                </a:tc>
              </a:tr>
              <a:tr h="768096">
                <a:tc>
                  <a:txBody>
                    <a:bodyPr/>
                    <a:lstStyle/>
                    <a:p>
                      <a:pPr>
                        <a:defRPr sz="1900" b="0">
                          <a:solidFill>
                            <a:srgbClr val="20262D"/>
                          </a:solidFill>
                          <a:latin typeface="Aptos"/>
                        </a:defRPr>
                      </a:pPr>
                      <a:r>
                        <a:t>Unrestricted</a:t>
                      </a:r>
                    </a:p>
                  </a:txBody>
                  <a:tcPr marL="128016" marR="109728" marT="73152" marB="45720" anchor="ctr">
                    <a:solidFill>
                      <a:srgbClr val="FFFFFF"/>
                    </a:solidFill>
                  </a:tcPr>
                </a:tc>
                <a:tc>
                  <a:txBody>
                    <a:bodyPr/>
                    <a:lstStyle/>
                    <a:p>
                      <a:pPr>
                        <a:defRPr sz="1900" b="0">
                          <a:solidFill>
                            <a:srgbClr val="20262D"/>
                          </a:solidFill>
                          <a:latin typeface="Aptos"/>
                        </a:defRPr>
                      </a:pPr>
                      <a:r>
                        <a:t>BILL_AMT4: 8,826 → 795,321.9</a:t>
                      </a:r>
                    </a:p>
                  </a:txBody>
                  <a:tcPr marL="128016" marR="109728" marT="73152" marB="45720" anchor="ctr">
                    <a:solidFill>
                      <a:srgbClr val="FFFFFF"/>
                    </a:solidFill>
                  </a:tcPr>
                </a:tc>
                <a:tc>
                  <a:txBody>
                    <a:bodyPr/>
                    <a:lstStyle/>
                    <a:p>
                      <a:pPr>
                        <a:defRPr sz="1900" b="0">
                          <a:solidFill>
                            <a:srgbClr val="20262D"/>
                          </a:solidFill>
                          <a:latin typeface="Aptos"/>
                        </a:defRPr>
                      </a:pPr>
                      <a:r>
                        <a:t>0.025</a:t>
                      </a:r>
                    </a:p>
                  </a:txBody>
                  <a:tcPr marL="128016" marR="109728" marT="73152" marB="45720" anchor="ctr">
                    <a:solidFill>
                      <a:srgbClr val="FFFFFF"/>
                    </a:solidFill>
                  </a:tcPr>
                </a:tc>
                <a:tc>
                  <a:txBody>
                    <a:bodyPr/>
                    <a:lstStyle/>
                    <a:p>
                      <a:pPr>
                        <a:defRPr sz="1900" b="0">
                          <a:solidFill>
                            <a:srgbClr val="20262D"/>
                          </a:solidFill>
                          <a:latin typeface="Aptos"/>
                        </a:defRPr>
                      </a:pPr>
                      <a:r>
                        <a:t>Old bill increases</a:t>
                      </a:r>
                    </a:p>
                  </a:txBody>
                  <a:tcPr marL="128016" marR="109728" marT="73152" marB="45720" anchor="ctr">
                    <a:solidFill>
                      <a:srgbClr val="FFFFFF"/>
                    </a:solidFill>
                  </a:tcPr>
                </a:tc>
              </a:tr>
              <a:tr h="768096">
                <a:tc>
                  <a:txBody>
                    <a:bodyPr/>
                    <a:lstStyle/>
                    <a:p>
                      <a:pPr>
                        <a:defRPr sz="1900" b="0">
                          <a:solidFill>
                            <a:srgbClr val="20262D"/>
                          </a:solidFill>
                          <a:latin typeface="Aptos"/>
                        </a:defRPr>
                      </a:pPr>
                      <a:r>
                        <a:t>Constrained</a:t>
                      </a:r>
                    </a:p>
                  </a:txBody>
                  <a:tcPr marL="128016" marR="109728" marT="73152" marB="45720" anchor="ctr">
                    <a:solidFill>
                      <a:srgbClr val="FFFFFF"/>
                    </a:solidFill>
                  </a:tcPr>
                </a:tc>
                <a:tc>
                  <a:txBody>
                    <a:bodyPr/>
                    <a:lstStyle/>
                    <a:p>
                      <a:pPr>
                        <a:defRPr sz="1900" b="0">
                          <a:solidFill>
                            <a:srgbClr val="20262D"/>
                          </a:solidFill>
                          <a:latin typeface="Aptos"/>
                        </a:defRPr>
                      </a:pPr>
                      <a:r>
                        <a:t>PAY_AMT1: 2,000 → 55,225.3</a:t>
                      </a:r>
                    </a:p>
                  </a:txBody>
                  <a:tcPr marL="128016" marR="109728" marT="73152" marB="45720" anchor="ctr">
                    <a:solidFill>
                      <a:srgbClr val="FFFFFF"/>
                    </a:solidFill>
                  </a:tcPr>
                </a:tc>
                <a:tc>
                  <a:txBody>
                    <a:bodyPr/>
                    <a:lstStyle/>
                    <a:p>
                      <a:pPr>
                        <a:defRPr sz="1900" b="0">
                          <a:solidFill>
                            <a:srgbClr val="20262D"/>
                          </a:solidFill>
                          <a:latin typeface="Aptos"/>
                        </a:defRPr>
                      </a:pPr>
                      <a:r>
                        <a:t>0.246</a:t>
                      </a:r>
                    </a:p>
                  </a:txBody>
                  <a:tcPr marL="128016" marR="109728" marT="73152" marB="45720" anchor="ctr">
                    <a:solidFill>
                      <a:srgbClr val="FFFFFF"/>
                    </a:solidFill>
                  </a:tcPr>
                </a:tc>
                <a:tc>
                  <a:txBody>
                    <a:bodyPr/>
                    <a:lstStyle/>
                    <a:p>
                      <a:pPr>
                        <a:defRPr sz="1900" b="0">
                          <a:solidFill>
                            <a:srgbClr val="20262D"/>
                          </a:solidFill>
                          <a:latin typeface="Aptos"/>
                        </a:defRPr>
                      </a:pPr>
                      <a:r>
                        <a:t>Affordability</a:t>
                      </a:r>
                    </a:p>
                  </a:txBody>
                  <a:tcPr marL="128016" marR="109728" marT="73152" marB="45720" anchor="ctr">
                    <a:solidFill>
                      <a:srgbClr val="FFFFFF"/>
                    </a:solidFill>
                  </a:tcPr>
                </a:tc>
              </a:tr>
              <a:tr h="768096">
                <a:tc>
                  <a:txBody>
                    <a:bodyPr/>
                    <a:lstStyle/>
                    <a:p>
                      <a:pPr>
                        <a:defRPr sz="1900" b="0">
                          <a:solidFill>
                            <a:srgbClr val="20262D"/>
                          </a:solidFill>
                          <a:latin typeface="Aptos"/>
                        </a:defRPr>
                      </a:pPr>
                      <a:r>
                        <a:t>Constrained</a:t>
                      </a:r>
                    </a:p>
                  </a:txBody>
                  <a:tcPr marL="128016" marR="109728" marT="73152" marB="45720" anchor="ctr">
                    <a:solidFill>
                      <a:srgbClr val="FFFFFF"/>
                    </a:solidFill>
                  </a:tcPr>
                </a:tc>
                <a:tc>
                  <a:txBody>
                    <a:bodyPr/>
                    <a:lstStyle/>
                    <a:p>
                      <a:pPr>
                        <a:defRPr sz="1900" b="0">
                          <a:solidFill>
                            <a:srgbClr val="20262D"/>
                          </a:solidFill>
                          <a:latin typeface="Aptos"/>
                        </a:defRPr>
                      </a:pPr>
                      <a:r>
                        <a:t>PAY_0: 2 → −1</a:t>
                      </a:r>
                    </a:p>
                  </a:txBody>
                  <a:tcPr marL="128016" marR="109728" marT="73152" marB="45720" anchor="ctr">
                    <a:solidFill>
                      <a:srgbClr val="FFFFFF"/>
                    </a:solidFill>
                  </a:tcPr>
                </a:tc>
                <a:tc>
                  <a:txBody>
                    <a:bodyPr/>
                    <a:lstStyle/>
                    <a:p>
                      <a:pPr>
                        <a:defRPr sz="1900" b="0">
                          <a:solidFill>
                            <a:srgbClr val="20262D"/>
                          </a:solidFill>
                          <a:latin typeface="Aptos"/>
                        </a:defRPr>
                      </a:pPr>
                      <a:r>
                        <a:t>0.212</a:t>
                      </a:r>
                    </a:p>
                  </a:txBody>
                  <a:tcPr marL="128016" marR="109728" marT="73152" marB="45720" anchor="ctr">
                    <a:solidFill>
                      <a:srgbClr val="FFFFFF"/>
                    </a:solidFill>
                  </a:tcPr>
                </a:tc>
                <a:tc>
                  <a:txBody>
                    <a:bodyPr/>
                    <a:lstStyle/>
                    <a:p>
                      <a:pPr>
                        <a:defRPr sz="1900" b="0">
                          <a:solidFill>
                            <a:srgbClr val="20262D"/>
                          </a:solidFill>
                          <a:latin typeface="Aptos"/>
                        </a:defRPr>
                      </a:pPr>
                      <a:r>
                        <a:t>Rewrites history</a:t>
                      </a:r>
                    </a:p>
                  </a:txBody>
                  <a:tcPr marL="128016" marR="109728" marT="73152" marB="45720" anchor="ctr">
                    <a:solidFill>
                      <a:srgbClr val="FFFFFF"/>
                    </a:solidFill>
                  </a:tcPr>
                </a:tc>
              </a:tr>
            </a:tbl>
          </a:graphicData>
        </a:graphic>
      </p:graphicFrame>
      <p:sp>
        <p:nvSpPr>
          <p:cNvPr id="8" name="TextBox 7"/>
          <p:cNvSpPr txBox="1"/>
          <p:nvPr/>
        </p:nvSpPr>
        <p:spPr>
          <a:xfrm>
            <a:off x="777240" y="5559552"/>
            <a:ext cx="10607040" cy="777240"/>
          </a:xfrm>
          <a:prstGeom prst="rect">
            <a:avLst/>
          </a:prstGeom>
          <a:noFill/>
          <a:effectLst/>
        </p:spPr>
        <p:txBody>
          <a:bodyPr wrap="square" lIns="0" rIns="0" tIns="0" bIns="0">
            <a:spAutoFit/>
          </a:bodyPr>
          <a:lstStyle/>
          <a:p>
            <a:pPr>
              <a:spcAft>
                <a:spcPts val="0"/>
              </a:spcAft>
              <a:defRPr sz="2200" b="1">
                <a:solidFill>
                  <a:srgbClr val="24586B"/>
                </a:solidFill>
                <a:latin typeface="Aptos"/>
              </a:defRPr>
            </a:pPr>
            <a:r>
              <a:t>Five profiles from each search cross the boundary.</a:t>
            </a:r>
          </a:p>
          <a:p>
            <a:pPr>
              <a:spcAft>
                <a:spcPts val="0"/>
              </a:spcAft>
              <a:defRPr sz="2200" b="1">
                <a:solidFill>
                  <a:srgbClr val="24586B"/>
                </a:solidFill>
                <a:latin typeface="Aptos"/>
              </a:defRPr>
            </a:pPr>
            <a:r>
              <a:t>Crossing a model boundary does not establish a realistic intervention.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04 / TEST THE EXPLANATION</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What the score alone could not tell us</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 · Speaker 4</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10</a:t>
            </a:r>
          </a:p>
        </p:txBody>
      </p:sp>
      <p:sp>
        <p:nvSpPr>
          <p:cNvPr id="6" name="TextBox 5"/>
          <p:cNvSpPr txBox="1"/>
          <p:nvPr/>
        </p:nvSpPr>
        <p:spPr>
          <a:xfrm>
            <a:off x="777240" y="1691640"/>
            <a:ext cx="4572000" cy="822960"/>
          </a:xfrm>
          <a:prstGeom prst="rect">
            <a:avLst/>
          </a:prstGeom>
          <a:noFill/>
          <a:effectLst/>
        </p:spPr>
        <p:txBody>
          <a:bodyPr wrap="square" lIns="0" rIns="0" tIns="0" bIns="0">
            <a:spAutoFit/>
          </a:bodyPr>
          <a:lstStyle/>
          <a:p>
            <a:pPr>
              <a:spcAft>
                <a:spcPts val="0"/>
              </a:spcAft>
              <a:defRPr sz="2400" b="1">
                <a:solidFill>
                  <a:srgbClr val="24586B"/>
                </a:solidFill>
                <a:latin typeface="Georgia"/>
              </a:defRPr>
            </a:pPr>
            <a:r>
              <a:t>How was the score formed?</a:t>
            </a:r>
          </a:p>
        </p:txBody>
      </p:sp>
      <p:sp>
        <p:nvSpPr>
          <p:cNvPr id="7" name="TextBox 6"/>
          <p:cNvSpPr txBox="1"/>
          <p:nvPr/>
        </p:nvSpPr>
        <p:spPr>
          <a:xfrm>
            <a:off x="5559552" y="1691640"/>
            <a:ext cx="5897880" cy="685800"/>
          </a:xfrm>
          <a:prstGeom prst="rect">
            <a:avLst/>
          </a:prstGeom>
          <a:noFill/>
          <a:effectLst/>
        </p:spPr>
        <p:txBody>
          <a:bodyPr wrap="square" lIns="0" rIns="0" tIns="0" bIns="0">
            <a:spAutoFit/>
          </a:bodyPr>
          <a:lstStyle/>
          <a:p>
            <a:pPr>
              <a:spcAft>
                <a:spcPts val="0"/>
              </a:spcAft>
              <a:defRPr sz="2200" b="0">
                <a:solidFill>
                  <a:srgbClr val="20262D"/>
                </a:solidFill>
                <a:latin typeface="Aptos"/>
              </a:defRPr>
            </a:pPr>
            <a:r>
              <a:t>Logistic: follow the fitted calculation.</a:t>
            </a:r>
          </a:p>
        </p:txBody>
      </p:sp>
      <p:sp>
        <p:nvSpPr>
          <p:cNvPr id="8" name="TextBox 7"/>
          <p:cNvSpPr txBox="1"/>
          <p:nvPr/>
        </p:nvSpPr>
        <p:spPr>
          <a:xfrm>
            <a:off x="777240" y="2615184"/>
            <a:ext cx="4572000" cy="822960"/>
          </a:xfrm>
          <a:prstGeom prst="rect">
            <a:avLst/>
          </a:prstGeom>
          <a:noFill/>
          <a:effectLst/>
        </p:spPr>
        <p:txBody>
          <a:bodyPr wrap="square" lIns="0" rIns="0" tIns="0" bIns="0">
            <a:spAutoFit/>
          </a:bodyPr>
          <a:lstStyle/>
          <a:p>
            <a:pPr>
              <a:spcAft>
                <a:spcPts val="0"/>
              </a:spcAft>
              <a:defRPr sz="2400" b="1">
                <a:solidFill>
                  <a:srgbClr val="24586B"/>
                </a:solidFill>
                <a:latin typeface="Georgia"/>
              </a:defRPr>
            </a:pPr>
            <a:r>
              <a:t>Which importance definition?</a:t>
            </a:r>
          </a:p>
        </p:txBody>
      </p:sp>
      <p:sp>
        <p:nvSpPr>
          <p:cNvPr id="9" name="TextBox 8"/>
          <p:cNvSpPr txBox="1"/>
          <p:nvPr/>
        </p:nvSpPr>
        <p:spPr>
          <a:xfrm>
            <a:off x="5559552" y="2615184"/>
            <a:ext cx="5897880" cy="685800"/>
          </a:xfrm>
          <a:prstGeom prst="rect">
            <a:avLst/>
          </a:prstGeom>
          <a:noFill/>
          <a:effectLst/>
        </p:spPr>
        <p:txBody>
          <a:bodyPr wrap="square" lIns="0" rIns="0" tIns="0" bIns="0">
            <a:spAutoFit/>
          </a:bodyPr>
          <a:lstStyle/>
          <a:p>
            <a:pPr>
              <a:spcAft>
                <a:spcPts val="0"/>
              </a:spcAft>
              <a:defRPr sz="2200" b="0">
                <a:solidFill>
                  <a:srgbClr val="20262D"/>
                </a:solidFill>
                <a:latin typeface="Aptos"/>
              </a:defRPr>
            </a:pPr>
            <a:r>
              <a:t>XGBoost: name the definition.</a:t>
            </a:r>
          </a:p>
        </p:txBody>
      </p:sp>
      <p:sp>
        <p:nvSpPr>
          <p:cNvPr id="10" name="TextBox 9"/>
          <p:cNvSpPr txBox="1"/>
          <p:nvPr/>
        </p:nvSpPr>
        <p:spPr>
          <a:xfrm>
            <a:off x="777240" y="3538728"/>
            <a:ext cx="4572000" cy="822960"/>
          </a:xfrm>
          <a:prstGeom prst="rect">
            <a:avLst/>
          </a:prstGeom>
          <a:noFill/>
          <a:effectLst/>
        </p:spPr>
        <p:txBody>
          <a:bodyPr wrap="square" lIns="0" rIns="0" tIns="0" bIns="0">
            <a:spAutoFit/>
          </a:bodyPr>
          <a:lstStyle/>
          <a:p>
            <a:pPr>
              <a:spcAft>
                <a:spcPts val="0"/>
              </a:spcAft>
              <a:defRPr sz="2400" b="1">
                <a:solidFill>
                  <a:srgbClr val="24586B"/>
                </a:solidFill>
                <a:latin typeface="Georgia"/>
              </a:defRPr>
            </a:pPr>
            <a:r>
              <a:t>Which reasons stay?</a:t>
            </a:r>
          </a:p>
        </p:txBody>
      </p:sp>
      <p:sp>
        <p:nvSpPr>
          <p:cNvPr id="11" name="TextBox 10"/>
          <p:cNvSpPr txBox="1"/>
          <p:nvPr/>
        </p:nvSpPr>
        <p:spPr>
          <a:xfrm>
            <a:off x="5559552" y="3538728"/>
            <a:ext cx="5897880" cy="685800"/>
          </a:xfrm>
          <a:prstGeom prst="rect">
            <a:avLst/>
          </a:prstGeom>
          <a:noFill/>
          <a:effectLst/>
        </p:spPr>
        <p:txBody>
          <a:bodyPr wrap="square" lIns="0" rIns="0" tIns="0" bIns="0">
            <a:spAutoFit/>
          </a:bodyPr>
          <a:lstStyle/>
          <a:p>
            <a:pPr>
              <a:spcAft>
                <a:spcPts val="0"/>
              </a:spcAft>
              <a:defRPr sz="2200" b="0">
                <a:solidFill>
                  <a:srgbClr val="20262D"/>
                </a:solidFill>
                <a:latin typeface="Aptos"/>
              </a:defRPr>
            </a:pPr>
            <a:r>
              <a:t>SHAP / LIME: compare views and variability.</a:t>
            </a:r>
          </a:p>
        </p:txBody>
      </p:sp>
      <p:sp>
        <p:nvSpPr>
          <p:cNvPr id="12" name="TextBox 11"/>
          <p:cNvSpPr txBox="1"/>
          <p:nvPr/>
        </p:nvSpPr>
        <p:spPr>
          <a:xfrm>
            <a:off x="777240" y="4462272"/>
            <a:ext cx="4572000" cy="822960"/>
          </a:xfrm>
          <a:prstGeom prst="rect">
            <a:avLst/>
          </a:prstGeom>
          <a:noFill/>
          <a:effectLst/>
        </p:spPr>
        <p:txBody>
          <a:bodyPr wrap="square" lIns="0" rIns="0" tIns="0" bIns="0">
            <a:spAutoFit/>
          </a:bodyPr>
          <a:lstStyle/>
          <a:p>
            <a:pPr>
              <a:spcAft>
                <a:spcPts val="0"/>
              </a:spcAft>
              <a:defRPr sz="2400" b="1">
                <a:solidFill>
                  <a:srgbClr val="24586B"/>
                </a:solidFill>
                <a:latin typeface="Georgia"/>
              </a:defRPr>
            </a:pPr>
            <a:r>
              <a:t>What changes the decision?</a:t>
            </a:r>
          </a:p>
        </p:txBody>
      </p:sp>
      <p:sp>
        <p:nvSpPr>
          <p:cNvPr id="13" name="TextBox 12"/>
          <p:cNvSpPr txBox="1"/>
          <p:nvPr/>
        </p:nvSpPr>
        <p:spPr>
          <a:xfrm>
            <a:off x="5559552" y="4462272"/>
            <a:ext cx="5897880" cy="685800"/>
          </a:xfrm>
          <a:prstGeom prst="rect">
            <a:avLst/>
          </a:prstGeom>
          <a:noFill/>
          <a:effectLst/>
        </p:spPr>
        <p:txBody>
          <a:bodyPr wrap="square" lIns="0" rIns="0" tIns="0" bIns="0">
            <a:spAutoFit/>
          </a:bodyPr>
          <a:lstStyle/>
          <a:p>
            <a:pPr>
              <a:spcAft>
                <a:spcPts val="0"/>
              </a:spcAft>
              <a:defRPr sz="2200" b="0">
                <a:solidFill>
                  <a:srgbClr val="20262D"/>
                </a:solidFill>
                <a:latin typeface="Aptos"/>
              </a:defRPr>
            </a:pPr>
            <a:r>
              <a:t>DiCE: separate model alternatives from feasible action.</a:t>
            </a:r>
          </a:p>
        </p:txBody>
      </p:sp>
      <p:sp>
        <p:nvSpPr>
          <p:cNvPr id="14" name="Rectangle 13"/>
          <p:cNvSpPr/>
          <p:nvPr/>
        </p:nvSpPr>
        <p:spPr>
          <a:xfrm>
            <a:off x="777240" y="5440680"/>
            <a:ext cx="10652760" cy="10972"/>
          </a:xfrm>
          <a:prstGeom prst="rect">
            <a:avLst/>
          </a:prstGeom>
          <a:solidFill>
            <a:srgbClr val="DD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42432"/>
            <a:ext cx="10652760" cy="548640"/>
          </a:xfrm>
          <a:prstGeom prst="rect">
            <a:avLst/>
          </a:prstGeom>
          <a:noFill/>
          <a:effectLst/>
        </p:spPr>
        <p:txBody>
          <a:bodyPr wrap="square" lIns="0" rIns="0" tIns="0" bIns="0">
            <a:spAutoFit/>
          </a:bodyPr>
          <a:lstStyle/>
          <a:p>
            <a:pPr>
              <a:spcAft>
                <a:spcPts val="0"/>
              </a:spcAft>
              <a:defRPr sz="2500" b="1">
                <a:solidFill>
                  <a:srgbClr val="20262D"/>
                </a:solidFill>
                <a:latin typeface="Georgia"/>
              </a:defRPr>
            </a:pPr>
            <a:r>
              <a:t>Evidence about model behavior—not proof of a real-world cause.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Credit Risk — Final Group Presentation</dc:title>
  <dc:subject>Ten-minute empirical presentation: interpretation, importance and post-hoc explanation</dc:subject>
  <dc:creator>Explainable Credit Risk project group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